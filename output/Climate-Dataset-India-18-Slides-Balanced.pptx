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278a161a184dff" /><Relationship Type="http://schemas.openxmlformats.org/officeDocument/2006/relationships/extended-properties" Target="/docProps/app.xml" Id="Red00a8eba2334a1b" /><Relationship Type="http://schemas.openxmlformats.org/officeDocument/2006/relationships/officeDocument" Target="/ppt/presentation.xml" Id="R254600f48b8a4f01" /></Relationships>
</file>

<file path=ppt/presentation.xml><?xml version="1.0" encoding="utf-8"?>
<p:presentation xmlns:p="http://schemas.openxmlformats.org/presentationml/2006/main">
  <p:sldMasterIdLst>
    <p:sldMasterId xmlns:r="http://schemas.openxmlformats.org/officeDocument/2006/relationships" id="2147483648" r:id="R9e5f7d3632c04240"/>
  </p:sldMasterIdLst>
  <p:notesMasterIdLst>
    <p:notesMasterId xmlns:r="http://schemas.openxmlformats.org/officeDocument/2006/relationships" r:id="R08f4fb2b2cd54e47"/>
  </p:notesMasterIdLst>
  <p:sldIdLst>
    <p:sldId xmlns:r="http://schemas.openxmlformats.org/officeDocument/2006/relationships" id="256" r:id="Rb72ddc82f5fb42a0"/>
    <p:sldId xmlns:r="http://schemas.openxmlformats.org/officeDocument/2006/relationships" id="257" r:id="R30051cd33f584ec3"/>
    <p:sldId xmlns:r="http://schemas.openxmlformats.org/officeDocument/2006/relationships" id="258" r:id="R28d9c6f44f124c82"/>
    <p:sldId xmlns:r="http://schemas.openxmlformats.org/officeDocument/2006/relationships" id="259" r:id="R989245d4d15c4aff"/>
    <p:sldId xmlns:r="http://schemas.openxmlformats.org/officeDocument/2006/relationships" id="260" r:id="R157e1a0e9e81416c"/>
    <p:sldId xmlns:r="http://schemas.openxmlformats.org/officeDocument/2006/relationships" id="261" r:id="R83a2dbda52544aa5"/>
    <p:sldId xmlns:r="http://schemas.openxmlformats.org/officeDocument/2006/relationships" id="262" r:id="R8d67a9fafc7f4e3b"/>
    <p:sldId xmlns:r="http://schemas.openxmlformats.org/officeDocument/2006/relationships" id="263" r:id="R76d9879b01db46e9"/>
    <p:sldId xmlns:r="http://schemas.openxmlformats.org/officeDocument/2006/relationships" id="264" r:id="R9e18c4b098a24e63"/>
    <p:sldId xmlns:r="http://schemas.openxmlformats.org/officeDocument/2006/relationships" id="265" r:id="Rcc769bb7466d403e"/>
    <p:sldId xmlns:r="http://schemas.openxmlformats.org/officeDocument/2006/relationships" id="266" r:id="R362c2f04fe78484a"/>
    <p:sldId xmlns:r="http://schemas.openxmlformats.org/officeDocument/2006/relationships" id="267" r:id="Rd7e47f33f5bf411e"/>
    <p:sldId xmlns:r="http://schemas.openxmlformats.org/officeDocument/2006/relationships" id="268" r:id="R1f2fbafb9386453a"/>
    <p:sldId xmlns:r="http://schemas.openxmlformats.org/officeDocument/2006/relationships" id="269" r:id="Rc4e0b3d3a2c74f34"/>
    <p:sldId xmlns:r="http://schemas.openxmlformats.org/officeDocument/2006/relationships" id="270" r:id="R6d6bf04ca8f24808"/>
    <p:sldId xmlns:r="http://schemas.openxmlformats.org/officeDocument/2006/relationships" id="271" r:id="Rcee604a80f5d46e5"/>
    <p:sldId xmlns:r="http://schemas.openxmlformats.org/officeDocument/2006/relationships" id="272" r:id="R43699f747df6424d"/>
    <p:sldId xmlns:r="http://schemas.openxmlformats.org/officeDocument/2006/relationships" id="273" r:id="R534dd70cac4d45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074c880f9c43fa" /><Relationship Type="http://schemas.openxmlformats.org/officeDocument/2006/relationships/slideMaster" Target="/ppt/slideMasters/slideMaster1.xml" Id="R9e5f7d3632c04240" /><Relationship Type="http://schemas.openxmlformats.org/officeDocument/2006/relationships/notesMaster" Target="/ppt/notesMasters/notesMaster1.xml" Id="R08f4fb2b2cd54e47" /><Relationship Type="http://schemas.openxmlformats.org/officeDocument/2006/relationships/presProps" Target="/ppt/presProps.xml" Id="Rbb0c6b0449c64b7e" /><Relationship Type="http://schemas.openxmlformats.org/officeDocument/2006/relationships/tableStyles" Target="/ppt/tableStyles.xml" Id="Rc638ea6b897a46cc" /><Relationship Type="http://schemas.openxmlformats.org/officeDocument/2006/relationships/slide" Target="/ppt/slides/slide1.xml" Id="Rb72ddc82f5fb42a0" /><Relationship Type="http://schemas.openxmlformats.org/officeDocument/2006/relationships/slide" Target="/ppt/slides/slide2.xml" Id="R30051cd33f584ec3" /><Relationship Type="http://schemas.openxmlformats.org/officeDocument/2006/relationships/slide" Target="/ppt/slides/slide3.xml" Id="R28d9c6f44f124c82" /><Relationship Type="http://schemas.openxmlformats.org/officeDocument/2006/relationships/slide" Target="/ppt/slides/slide4.xml" Id="R989245d4d15c4aff" /><Relationship Type="http://schemas.openxmlformats.org/officeDocument/2006/relationships/slide" Target="/ppt/slides/slide5.xml" Id="R157e1a0e9e81416c" /><Relationship Type="http://schemas.openxmlformats.org/officeDocument/2006/relationships/slide" Target="/ppt/slides/slide6.xml" Id="R83a2dbda52544aa5" /><Relationship Type="http://schemas.openxmlformats.org/officeDocument/2006/relationships/slide" Target="/ppt/slides/slide7.xml" Id="R8d67a9fafc7f4e3b" /><Relationship Type="http://schemas.openxmlformats.org/officeDocument/2006/relationships/slide" Target="/ppt/slides/slide8.xml" Id="R76d9879b01db46e9" /><Relationship Type="http://schemas.openxmlformats.org/officeDocument/2006/relationships/slide" Target="/ppt/slides/slide9.xml" Id="R9e18c4b098a24e63" /><Relationship Type="http://schemas.openxmlformats.org/officeDocument/2006/relationships/slide" Target="/ppt/slides/slide10.xml" Id="Rcc769bb7466d403e" /><Relationship Type="http://schemas.openxmlformats.org/officeDocument/2006/relationships/slide" Target="/ppt/slides/slide11.xml" Id="R362c2f04fe78484a" /><Relationship Type="http://schemas.openxmlformats.org/officeDocument/2006/relationships/slide" Target="/ppt/slides/slide12.xml" Id="Rd7e47f33f5bf411e" /><Relationship Type="http://schemas.openxmlformats.org/officeDocument/2006/relationships/slide" Target="/ppt/slides/slide13.xml" Id="R1f2fbafb9386453a" /><Relationship Type="http://schemas.openxmlformats.org/officeDocument/2006/relationships/slide" Target="/ppt/slides/slide14.xml" Id="Rc4e0b3d3a2c74f34" /><Relationship Type="http://schemas.openxmlformats.org/officeDocument/2006/relationships/slide" Target="/ppt/slides/slide15.xml" Id="R6d6bf04ca8f24808" /><Relationship Type="http://schemas.openxmlformats.org/officeDocument/2006/relationships/slide" Target="/ppt/slides/slide16.xml" Id="Rcee604a80f5d46e5" /><Relationship Type="http://schemas.openxmlformats.org/officeDocument/2006/relationships/slide" Target="/ppt/slides/slide17.xml" Id="R43699f747df6424d" /><Relationship Type="http://schemas.openxmlformats.org/officeDocument/2006/relationships/slide" Target="/ppt/slides/slide18.xml" Id="R534dd70cac4d45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a83a5a32254f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a7c804a24c48b4" /><Relationship Type="http://schemas.openxmlformats.org/officeDocument/2006/relationships/notesMaster" Target="/ppt/notesMasters/notesMaster1.xml" Id="R57d9d1fec4634e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0bae177bfe4a07" /><Relationship Type="http://schemas.openxmlformats.org/officeDocument/2006/relationships/notesMaster" Target="/ppt/notesMasters/notesMaster1.xml" Id="R3b6685fd0d2d4f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f1ea53e9d74fb2" /><Relationship Type="http://schemas.openxmlformats.org/officeDocument/2006/relationships/notesMaster" Target="/ppt/notesMasters/notesMaster1.xml" Id="R6d09cfe858e242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0c7572688c4563" /><Relationship Type="http://schemas.openxmlformats.org/officeDocument/2006/relationships/notesMaster" Target="/ppt/notesMasters/notesMaster1.xml" Id="R113ca3c1180642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805de3e4db4450" /><Relationship Type="http://schemas.openxmlformats.org/officeDocument/2006/relationships/notesMaster" Target="/ppt/notesMasters/notesMaster1.xml" Id="Rdd253169f2f64f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120536502c4c29" /><Relationship Type="http://schemas.openxmlformats.org/officeDocument/2006/relationships/notesMaster" Target="/ppt/notesMasters/notesMaster1.xml" Id="Red43a9e81f674f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6b5bb968a540b7" /><Relationship Type="http://schemas.openxmlformats.org/officeDocument/2006/relationships/notesMaster" Target="/ppt/notesMasters/notesMaster1.xml" Id="R7168918c41ef40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5d0d02c0f34ded" /><Relationship Type="http://schemas.openxmlformats.org/officeDocument/2006/relationships/notesMaster" Target="/ppt/notesMasters/notesMaster1.xml" Id="R90f9fd96597642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78d8f5fc7a49ff" /><Relationship Type="http://schemas.openxmlformats.org/officeDocument/2006/relationships/notesMaster" Target="/ppt/notesMasters/notesMaster1.xml" Id="R58c27db2a5fd4e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969ba6084548f7" /><Relationship Type="http://schemas.openxmlformats.org/officeDocument/2006/relationships/notesMaster" Target="/ppt/notesMasters/notesMaster1.xml" Id="R6e853356cbf448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19d73d940347aa" /><Relationship Type="http://schemas.openxmlformats.org/officeDocument/2006/relationships/notesMaster" Target="/ppt/notesMasters/notesMaster1.xml" Id="Rce988a6c825448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2cf2af87c44285" /><Relationship Type="http://schemas.openxmlformats.org/officeDocument/2006/relationships/notesMaster" Target="/ppt/notesMasters/notesMaster1.xml" Id="Rea036568346c4b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bfdb869e6e4239" /><Relationship Type="http://schemas.openxmlformats.org/officeDocument/2006/relationships/notesMaster" Target="/ppt/notesMasters/notesMaster1.xml" Id="Ra3d127e8262a41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60734d62d444c8" /><Relationship Type="http://schemas.openxmlformats.org/officeDocument/2006/relationships/notesMaster" Target="/ppt/notesMasters/notesMaster1.xml" Id="R9b258dd4d7b54c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38d88c76da422e" /><Relationship Type="http://schemas.openxmlformats.org/officeDocument/2006/relationships/notesMaster" Target="/ppt/notesMasters/notesMaster1.xml" Id="R8e804510e9584d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51d48510cb4ddd" /><Relationship Type="http://schemas.openxmlformats.org/officeDocument/2006/relationships/notesMaster" Target="/ppt/notesMasters/notesMaster1.xml" Id="R8da5c169128247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60b2559e164d2d" /><Relationship Type="http://schemas.openxmlformats.org/officeDocument/2006/relationships/notesMaster" Target="/ppt/notesMasters/notesMaster1.xml" Id="Ra4f0995ff9ac45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8940aff13447c0" /><Relationship Type="http://schemas.openxmlformats.org/officeDocument/2006/relationships/notesMaster" Target="/ppt/notesMasters/notesMaster1.xml" Id="R92db8dae02df4d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18-slide overview separates the documented data scraping workflow from downstream data preparation. Current processing covers eight cities in the repository. Sources: local source files, original scraping presentation, and project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scraping presentation identifies 25 cities and 261 manually selected coordinate points, with NASA/POWER monthly data requested for 2000 to 2025. This is the planned scope, not a claim that all planned files are present. Source: ppt 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deck documents the NASA POWER monthly point API, Community RE, CSV output, the 2000–2025 range, and coordinates supplied from a city-point list. Source: ppt 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scraping documentation describes reading city/latitude/longitude coordinates, requesting one monthly point CSV from NASA POWER, then saving the response by city and point. It also describes a one-second pause after successful requests. The scraping implementation itself is not in the current repository. Source: ppt 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file headers contain location coordinates. Data table fields include PARAMETER, YEAR, JAN–DEC and ANN. The source data is monthly and annual summaries, not daily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local inventory: 89 point files across Ahmedabad, Bengaluru, Bhopal, Bhubaneswar, Chandigarh, Chennai, Coimbatore and Delhi; 15 parameters; monthly data from January 2000 to December 2025. Sources: reports/pipeline_summary.json and reports/city_measurement_point_summary.csv.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presentation reports that the live collection run stopped before confirming all 261 downloads. The repository contains 89 files for eight cities. The scraping script and complete coordinate list are not present in this repository. Sources: ppt 1.pptx; reports/raw_file_inventory.csv.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pointwise wide row is one measurement point and one month. A city-wise row is one city and one month after point averaging. The merged table combines all city-month rows in a single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Profiling checks file structure and coverage before cleaning. Reports include inventory, parameter summary, city point counts, city-month coverage and output missingness. Profile summaries are reported at file, city and combined output levels.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is performed on source point files during ingestion. It normalizes source column/parameter labels and known city name variants, numeric values, date construction, and the -999 sentinel. No imputation or statistical outlier deletion is done.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long monthly point table preserves one record per point, parameter and month. The wide monthly point table has one row per point-month, with parameters as columns. Annual summaries remain a separate 34,710-row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point_monthly_wide output keeps city, city_key, measurement_point_id, source_file, date, latitude, longitude, source and parameter columns.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city table is grouped by standardized city and month. Climate parameters are averaged across available points; point coverage and expected counts are added. City/state identifiers, location IDs and representative coordinates are set at this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Ahmedabad January 2000 T2M values: 21.79 °C and eight readings of 21.17 °C. Their arithmetic mean is 21.2389 °C. Point coverage is 9 of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Per-city output has 312 rows and 39 columns. Combined all-cities table has 2,496 rows and 39 columns. It consists of the same city-month rows from all eight cities; the values are not averaged across cities.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validator runs on the combined city-month dataframe and checks city and state presence, unique location-month, coordinate bounds, date type, nonnegative precipitation, and temperature ordering. All eight configured checks passed. Per-city files inherit these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files are cleaned and reshaped. City-level transformation performs aggregation and assigns location metadata. Formal city-month validation is run on the combined all-cities table; per-city files are exported from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Files: pointwise monthly wide table; one city CSV per city under by_city; combined city_monthly.csv. Annual summaries remain separate. Daily output has schema but zero observations; unavailable fields are not imputed.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3feb83bc7a4f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d8eaf94d2a47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b72becf8f44e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3b0cebf61744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010bc9cafc49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a780189da24a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ECF9E6-EF93-4BEB-9052-07132856F3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E4428A5-AA81-4DDA-AED8-3D1A49EE13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DDA230F-0E3C-4982-A5DB-AEF462A996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C3DA70-9AC1-473C-8C34-2651A4E05B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4E85C9-F151-4D68-846A-DA6F135433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BF2DF5-1ED6-4581-A4EA-08340C3BB1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EB92D9-2663-4A85-955A-77A9857F0F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7DE4FC-C6BA-47F4-B143-ED46D75836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26223E-BAF8-49E3-8469-15330DDB2E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87D7B2-5C45-4E88-8E07-D5084CB1B3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1a5773d8a64156" /><Relationship Type="http://schemas.openxmlformats.org/officeDocument/2006/relationships/slideLayout" Target="/ppt/slideLayouts/slideLayout1.xml" Id="Raca2ae1f5bd04c6e" /><Relationship Type="http://schemas.openxmlformats.org/officeDocument/2006/relationships/slideLayout" Target="/ppt/slideLayouts/slideLayout2.xml" Id="Rf0919faf779d44c4" /><Relationship Type="http://schemas.openxmlformats.org/officeDocument/2006/relationships/slideLayout" Target="/ppt/slideLayouts/slideLayout3.xml" Id="Rc80b691605c14953" /><Relationship Type="http://schemas.openxmlformats.org/officeDocument/2006/relationships/slideLayout" Target="/ppt/slideLayouts/slideLayout4.xml" Id="R1e8e0875c5ff4f70" /><Relationship Type="http://schemas.openxmlformats.org/officeDocument/2006/relationships/slideLayout" Target="/ppt/slideLayouts/slideLayout5.xml" Id="R797fd047b77c4507" /><Relationship Type="http://schemas.openxmlformats.org/officeDocument/2006/relationships/slideLayout" Target="/ppt/slideLayouts/slideLayout6.xml" Id="R910d85db8ad74e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a2ae1f5bd04c6e"/>
    <p:sldLayoutId xmlns:r="http://schemas.openxmlformats.org/officeDocument/2006/relationships" id="2147483650" r:id="Rf0919faf779d44c4"/>
    <p:sldLayoutId xmlns:r="http://schemas.openxmlformats.org/officeDocument/2006/relationships" id="2147483651" r:id="Rc80b691605c14953"/>
    <p:sldLayoutId xmlns:r="http://schemas.openxmlformats.org/officeDocument/2006/relationships" id="2147483652" r:id="R1e8e0875c5ff4f70"/>
    <p:sldLayoutId xmlns:r="http://schemas.openxmlformats.org/officeDocument/2006/relationships" id="2147483653" r:id="R797fd047b77c4507"/>
    <p:sldLayoutId xmlns:r="http://schemas.openxmlformats.org/officeDocument/2006/relationships" id="2147483654" r:id="R910d85db8ad74e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f94579211c42ca" /><Relationship Type="http://schemas.openxmlformats.org/officeDocument/2006/relationships/notesSlide" Target="/ppt/notesSlides/notesSlide1.xml" Id="R0a825f92da9a4a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ad0455b30c1478d" /><Relationship Type="http://schemas.openxmlformats.org/officeDocument/2006/relationships/notesSlide" Target="/ppt/notesSlides/notesSlide2.xml" Id="Rb8b04d430db447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878a73baf842b1" /><Relationship Type="http://schemas.openxmlformats.org/officeDocument/2006/relationships/notesSlide" Target="/ppt/notesSlides/notesSlide3.xml" Id="R1aefbee7c668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e3c880edac4122" /><Relationship Type="http://schemas.openxmlformats.org/officeDocument/2006/relationships/notesSlide" Target="/ppt/notesSlides/notesSlide4.xml" Id="Rdca172ea09514d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c265b3d7654555" /><Relationship Type="http://schemas.openxmlformats.org/officeDocument/2006/relationships/notesSlide" Target="/ppt/notesSlides/notesSlide5.xml" Id="R904ccd63006b4a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8687c06baf459b" /><Relationship Type="http://schemas.openxmlformats.org/officeDocument/2006/relationships/notesSlide" Target="/ppt/notesSlides/notesSlide6.xml" Id="Rf7b982095fd846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047ffa4c4554547" /><Relationship Type="http://schemas.openxmlformats.org/officeDocument/2006/relationships/notesSlide" Target="/ppt/notesSlides/notesSlide7.xml" Id="Rc412c5388bd246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d01b59d15a4a9e" /><Relationship Type="http://schemas.openxmlformats.org/officeDocument/2006/relationships/notesSlide" Target="/ppt/notesSlides/notesSlide8.xml" Id="R533f84ef8de14a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075fdf3a0b4582" /><Relationship Type="http://schemas.openxmlformats.org/officeDocument/2006/relationships/notesSlide" Target="/ppt/notesSlides/notesSlide9.xml" Id="R681a16be1e7643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3fbb4073734e4a" /><Relationship Type="http://schemas.openxmlformats.org/officeDocument/2006/relationships/notesSlide" Target="/ppt/notesSlides/notesSlide10.xml" Id="R3bee4430f0454d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b30ffec10140f7" /><Relationship Type="http://schemas.openxmlformats.org/officeDocument/2006/relationships/notesSlide" Target="/ppt/notesSlides/notesSlide11.xml" Id="R4d71ea9b38f542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87358e3cda409a" /><Relationship Type="http://schemas.openxmlformats.org/officeDocument/2006/relationships/notesSlide" Target="/ppt/notesSlides/notesSlide12.xml" Id="Rff48960d02ee42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b343a8aee2c4a23" /><Relationship Type="http://schemas.openxmlformats.org/officeDocument/2006/relationships/notesSlide" Target="/ppt/notesSlides/notesSlide13.xml" Id="Rfab919c26ad449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d043c5ef495489e" /><Relationship Type="http://schemas.openxmlformats.org/officeDocument/2006/relationships/notesSlide" Target="/ppt/notesSlides/notesSlide14.xml" Id="R7ab0f1d149ee4b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ded4d6fd523457f" /><Relationship Type="http://schemas.openxmlformats.org/officeDocument/2006/relationships/notesSlide" Target="/ppt/notesSlides/notesSlide15.xml" Id="Rad8931c7e85b4d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7e843170724fa0" /><Relationship Type="http://schemas.openxmlformats.org/officeDocument/2006/relationships/notesSlide" Target="/ppt/notesSlides/notesSlide16.xml" Id="R4098339cb4ea44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49dc24a03834d60" /><Relationship Type="http://schemas.openxmlformats.org/officeDocument/2006/relationships/notesSlide" Target="/ppt/notesSlides/notesSlide17.xml" Id="R75b595022f6c47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881f19504ed490c" /><Relationship Type="http://schemas.openxmlformats.org/officeDocument/2006/relationships/notesSlide" Target="/ppt/notesSlides/notesSlide18.xml" Id="Rfe1ff3a4fd564444"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cover-mark">
            <a:extLst xmlns:a="http://schemas.openxmlformats.org/drawingml/2006/main">
              <a:ext uri="{FF2B5EF4-FFF2-40B4-BE49-F238E27FC236}">
                <a16:creationId xmlns:a16="http://schemas.microsoft.com/office/drawing/2014/main" id="{2B314941-693A-4F59-9BBD-8C586FC35AAA}"/>
              </a:ext>
            </a:extLst>
          </p:cNvPr>
          <p:cNvSpPr>
            <a:spLocks xmlns:a="http://schemas.openxmlformats.org/drawingml/2006/main" noGrp="1"/>
          </p:cNvSpPr>
          <p:nvPr/>
        </p:nvSpPr>
        <p:spPr>
          <a:xfrm xmlns:a="http://schemas.openxmlformats.org/drawingml/2006/main">
            <a:off x="762000" y="895350"/>
            <a:ext cx="57150" cy="866775"/>
          </a:xfrm>
          <a:prstGeom xmlns:a="http://schemas.openxmlformats.org/drawingml/2006/main" prst="rect">
            <a:avLst/>
          </a:prstGeom>
          <a:solidFill xmlns:a="http://schemas.openxmlformats.org/drawingml/2006/main">
            <a:srgbClr val="45675B"/>
          </a:solidFill>
          <a:ln xmlns:a="http://schemas.openxmlformats.org/drawingml/2006/main" w="0">
            <a:noFill/>
            <a:prstDash val="solid"/>
          </a:ln>
        </p:spPr>
      </p:sp>
      <p:sp>
        <p:nvSpPr>
          <p:cNvPr id="2" name="cover-tag">
            <a:extLst xmlns:a="http://schemas.openxmlformats.org/drawingml/2006/main">
              <a:ext uri="{FF2B5EF4-FFF2-40B4-BE49-F238E27FC236}">
                <a16:creationId xmlns:a16="http://schemas.microsoft.com/office/drawing/2014/main" id="{FC3C2D1D-62A8-49D1-94C7-ABDD090C7E4B}"/>
              </a:ext>
            </a:extLst>
          </p:cNvPr>
          <p:cNvSpPr>
            <a:spLocks xmlns:a="http://schemas.openxmlformats.org/drawingml/2006/main" noGrp="1"/>
          </p:cNvSpPr>
          <p:nvPr/>
        </p:nvSpPr>
        <p:spPr>
          <a:xfrm xmlns:a="http://schemas.openxmlformats.org/drawingml/2006/main">
            <a:off x="1028700" y="914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CLIMATE DATASET INDIA</a:t>
            </a:r>
          </a:p>
        </p:txBody>
      </p:sp>
      <p:sp>
        <p:nvSpPr>
          <p:cNvPr id="3" name="cover-title">
            <a:extLst xmlns:a="http://schemas.openxmlformats.org/drawingml/2006/main">
              <a:ext uri="{FF2B5EF4-FFF2-40B4-BE49-F238E27FC236}">
                <a16:creationId xmlns:a16="http://schemas.microsoft.com/office/drawing/2014/main" id="{CA493301-5692-464F-B417-3714CB1E3B0E}"/>
              </a:ext>
            </a:extLst>
          </p:cNvPr>
          <p:cNvSpPr>
            <a:spLocks xmlns:a="http://schemas.openxmlformats.org/drawingml/2006/main" noGrp="1"/>
          </p:cNvSpPr>
          <p:nvPr/>
        </p:nvSpPr>
        <p:spPr>
          <a:xfrm xmlns:a="http://schemas.openxmlformats.org/drawingml/2006/main">
            <a:off x="1009650" y="1838325"/>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24362F"/>
                </a:solidFill>
                <a:latin typeface="Arial"/>
                <a:ea typeface="Arial"/>
                <a:cs typeface="Arial"/>
              </a:defRPr>
            </a:defPPr>
          </a:lstStyle>
          <a:p xmlns:a="http://schemas.openxmlformats.org/drawingml/2006/main">
            <a:pPr algn="l">
              <a:lnSpc>
                <a:spcPct val="97000"/>
              </a:lnSpc>
              <a:buNone/>
              <a:defRPr sz="4650" b="1">
                <a:solidFill>
                  <a:srgbClr val="24362F"/>
                </a:solidFill>
                <a:latin typeface="Arial"/>
                <a:ea typeface="Arial"/>
                <a:cs typeface="Arial"/>
              </a:defRPr>
            </a:pPr>
            <a:r>
              <a:rPr sz="4650" b="1">
                <a:solidFill>
                  <a:srgbClr val="24362F"/>
                </a:solidFill>
                <a:latin typeface="Arial"/>
                <a:ea typeface="Arial"/>
                <a:cs typeface="Arial"/>
              </a:rPr>
              <a:t>From climate point files</a:t>
            </a:r>
          </a:p>
          <a:p xmlns:a="http://schemas.openxmlformats.org/drawingml/2006/main">
            <a:pPr algn="l">
              <a:lnSpc>
                <a:spcPct val="97000"/>
              </a:lnSpc>
              <a:buNone/>
              <a:defRPr sz="4650" b="1">
                <a:solidFill>
                  <a:srgbClr val="24362F"/>
                </a:solidFill>
                <a:latin typeface="Arial"/>
                <a:ea typeface="Arial"/>
                <a:cs typeface="Arial"/>
              </a:defRPr>
            </a:pPr>
            <a:r>
              <a:rPr sz="4650" b="1">
                <a:solidFill>
                  <a:srgbClr val="24362F"/>
                </a:solidFill>
                <a:latin typeface="Arial"/>
                <a:ea typeface="Arial"/>
                <a:cs typeface="Arial"/>
              </a:rPr>
              <a:t>to city-level data</a:t>
            </a:r>
          </a:p>
        </p:txBody>
      </p:sp>
      <p:sp>
        <p:nvSpPr>
          <p:cNvPr id="4" name="cover-subtitle">
            <a:extLst xmlns:a="http://schemas.openxmlformats.org/drawingml/2006/main">
              <a:ext uri="{FF2B5EF4-FFF2-40B4-BE49-F238E27FC236}">
                <a16:creationId xmlns:a16="http://schemas.microsoft.com/office/drawing/2014/main" id="{32DD4270-8B3C-413F-A635-7454F7FB12E4}"/>
              </a:ext>
            </a:extLst>
          </p:cNvPr>
          <p:cNvSpPr>
            <a:spLocks xmlns:a="http://schemas.openxmlformats.org/drawingml/2006/main" noGrp="1"/>
          </p:cNvSpPr>
          <p:nvPr/>
        </p:nvSpPr>
        <p:spPr>
          <a:xfrm xmlns:a="http://schemas.openxmlformats.org/drawingml/2006/main">
            <a:off x="1047750" y="36861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65766E"/>
                </a:solidFill>
                <a:latin typeface="Arial"/>
                <a:ea typeface="Arial"/>
                <a:cs typeface="Arial"/>
              </a:defRPr>
            </a:defPPr>
          </a:lstStyle>
          <a:p xmlns:a="http://schemas.openxmlformats.org/drawingml/2006/main">
            <a:pPr algn="l">
              <a:lnSpc>
                <a:spcPct val="104000"/>
              </a:lnSpc>
              <a:buNone/>
              <a:defRPr sz="1875" b="0">
                <a:solidFill>
                  <a:srgbClr val="65766E"/>
                </a:solidFill>
                <a:latin typeface="Arial"/>
                <a:ea typeface="Arial"/>
                <a:cs typeface="Arial"/>
              </a:defRPr>
            </a:pPr>
            <a:r>
              <a:rPr sz="1875" b="0">
                <a:solidFill>
                  <a:srgbClr val="65766E"/>
                </a:solidFill>
                <a:latin typeface="Arial"/>
                <a:ea typeface="Arial"/>
                <a:cs typeface="Arial"/>
              </a:rPr>
              <a:t>Data scraping, profiling, cleaning, transformation and validation</a:t>
            </a:r>
          </a:p>
        </p:txBody>
      </p:sp>
      <p:sp>
        <p:nvSpPr>
          <p:cNvPr id="5" name="cover-rule">
            <a:extLst xmlns:a="http://schemas.openxmlformats.org/drawingml/2006/main">
              <a:ext uri="{FF2B5EF4-FFF2-40B4-BE49-F238E27FC236}">
                <a16:creationId xmlns:a16="http://schemas.microsoft.com/office/drawing/2014/main" id="{2C65F99D-0EB4-41F2-AA09-8E67A7433D07}"/>
              </a:ext>
            </a:extLst>
          </p:cNvPr>
          <p:cNvSpPr>
            <a:spLocks xmlns:a="http://schemas.openxmlformats.org/drawingml/2006/main" noGrp="1"/>
          </p:cNvSpPr>
          <p:nvPr/>
        </p:nvSpPr>
        <p:spPr>
          <a:xfrm xmlns:a="http://schemas.openxmlformats.org/drawingml/2006/main">
            <a:off x="1047750" y="4657725"/>
            <a:ext cx="10267950" cy="0"/>
          </a:xfrm>
          <a:prstGeom xmlns:a="http://schemas.openxmlformats.org/drawingml/2006/main" prst="line">
            <a:avLst/>
          </a:prstGeom>
          <a:noFill xmlns:a="http://schemas.openxmlformats.org/drawingml/2006/main"/>
          <a:ln xmlns:a="http://schemas.openxmlformats.org/drawingml/2006/main" w="13335">
            <a:solidFill>
              <a:srgbClr val="D5DFD9"/>
            </a:solidFill>
            <a:prstDash val="solid"/>
          </a:ln>
        </p:spPr>
      </p:sp>
      <p:sp>
        <p:nvSpPr>
          <p:cNvPr id="6" name="cover-context">
            <a:extLst xmlns:a="http://schemas.openxmlformats.org/drawingml/2006/main">
              <a:ext uri="{FF2B5EF4-FFF2-40B4-BE49-F238E27FC236}">
                <a16:creationId xmlns:a16="http://schemas.microsoft.com/office/drawing/2014/main" id="{3CE42FB9-F7EF-4B89-96C4-97561870F7BF}"/>
              </a:ext>
            </a:extLst>
          </p:cNvPr>
          <p:cNvSpPr>
            <a:spLocks xmlns:a="http://schemas.openxmlformats.org/drawingml/2006/main" noGrp="1"/>
          </p:cNvSpPr>
          <p:nvPr/>
        </p:nvSpPr>
        <p:spPr>
          <a:xfrm xmlns:a="http://schemas.openxmlformats.org/drawingml/2006/main">
            <a:off x="1047750" y="4943475"/>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NASA/POWER  ·  8 cities currently processed  ·  Monthly data, 2000–2025</a:t>
            </a:r>
          </a:p>
        </p:txBody>
      </p:sp>
      <p:sp>
        <p:nvSpPr>
          <p:cNvPr id="7" name="page-number">
            <a:extLst xmlns:a="http://schemas.openxmlformats.org/drawingml/2006/main">
              <a:ext uri="{FF2B5EF4-FFF2-40B4-BE49-F238E27FC236}">
                <a16:creationId xmlns:a16="http://schemas.microsoft.com/office/drawing/2014/main" id="{579364F6-67DB-4AB9-8949-E4AE8D67C7E0}"/>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01</a:t>
            </a:r>
          </a:p>
        </p:txBody>
      </p:sp>
    </p:spTree>
    <p:extLst>
      <p:ext uri="{BB962C8B-B14F-4D97-AF65-F5344CB8AC3E}">
        <p14:creationId xmlns:p14="http://schemas.microsoft.com/office/powerpoint/2010/main" val="835337384"/>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FCC91D37-434F-4FE6-AD47-1B818CF4E0CF}"/>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SCRAPING · 1 OF 6</a:t>
            </a:r>
          </a:p>
        </p:txBody>
      </p:sp>
      <p:sp>
        <p:nvSpPr>
          <p:cNvPr id="2" name="slide-title">
            <a:extLst xmlns:a="http://schemas.openxmlformats.org/drawingml/2006/main">
              <a:ext uri="{FF2B5EF4-FFF2-40B4-BE49-F238E27FC236}">
                <a16:creationId xmlns:a16="http://schemas.microsoft.com/office/drawing/2014/main" id="{C2DEB0FD-9A30-41D1-8E1D-3A8CF3594707}"/>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Collection plan and scope</a:t>
            </a:r>
          </a:p>
        </p:txBody>
      </p:sp>
      <p:sp>
        <p:nvSpPr>
          <p:cNvPr id="3" name="slide-subtitle">
            <a:extLst xmlns:a="http://schemas.openxmlformats.org/drawingml/2006/main">
              <a:ext uri="{FF2B5EF4-FFF2-40B4-BE49-F238E27FC236}">
                <a16:creationId xmlns:a16="http://schemas.microsoft.com/office/drawing/2014/main" id="{EF6CA67E-9700-40B7-82DD-1BAA09A61B99}"/>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documented scraping plan starts with city coordinates and a fixed monthly period.</a:t>
            </a:r>
          </a:p>
        </p:txBody>
      </p:sp>
      <p:sp>
        <p:nvSpPr>
          <p:cNvPr id="4" name="header-rule">
            <a:extLst xmlns:a="http://schemas.openxmlformats.org/drawingml/2006/main">
              <a:ext uri="{FF2B5EF4-FFF2-40B4-BE49-F238E27FC236}">
                <a16:creationId xmlns:a16="http://schemas.microsoft.com/office/drawing/2014/main" id="{49EA0269-464A-40EE-A205-0B22E1D20516}"/>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B91395DD-35C7-4BEE-ACAA-5C0AA74633F0}"/>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02</a:t>
            </a:r>
          </a:p>
        </p:txBody>
      </p:sp>
      <p:sp>
        <p:nvSpPr>
          <p:cNvPr id="6" name="scope-value-0">
            <a:extLst xmlns:a="http://schemas.openxmlformats.org/drawingml/2006/main">
              <a:ext uri="{FF2B5EF4-FFF2-40B4-BE49-F238E27FC236}">
                <a16:creationId xmlns:a16="http://schemas.microsoft.com/office/drawing/2014/main" id="{F703B4DD-82EC-4FDD-8332-C945B28FFB22}"/>
              </a:ext>
            </a:extLst>
          </p:cNvPr>
          <p:cNvSpPr>
            <a:spLocks xmlns:a="http://schemas.openxmlformats.org/drawingml/2006/main" noGrp="1"/>
          </p:cNvSpPr>
          <p:nvPr/>
        </p:nvSpPr>
        <p:spPr>
          <a:xfrm xmlns:a="http://schemas.openxmlformats.org/drawingml/2006/main">
            <a:off x="876300" y="23622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52"/>
          </a:bodyPr>
          <a:lstStyle xmlns:a="http://schemas.openxmlformats.org/drawingml/2006/main">
            <a:defPPr algn="l">
              <a:defRPr sz="4650" b="1">
                <a:solidFill>
                  <a:srgbClr val="45675B"/>
                </a:solidFill>
                <a:latin typeface="Arial"/>
                <a:ea typeface="Arial"/>
                <a:cs typeface="Arial"/>
              </a:defRPr>
            </a:defPPr>
          </a:lstStyle>
          <a:p xmlns:a="http://schemas.openxmlformats.org/drawingml/2006/main">
            <a:pPr algn="l">
              <a:lnSpc>
                <a:spcPct val="104000"/>
              </a:lnSpc>
              <a:buNone/>
              <a:defRPr sz="4650" b="1">
                <a:solidFill>
                  <a:srgbClr val="45675B"/>
                </a:solidFill>
                <a:latin typeface="Arial"/>
                <a:ea typeface="Arial"/>
                <a:cs typeface="Arial"/>
              </a:defRPr>
            </a:pPr>
            <a:r>
              <a:rPr sz="4650" b="1">
                <a:solidFill>
                  <a:srgbClr val="45675B"/>
                </a:solidFill>
                <a:latin typeface="Arial"/>
                <a:ea typeface="Arial"/>
                <a:cs typeface="Arial"/>
              </a:rPr>
              <a:t>25</a:t>
            </a:r>
          </a:p>
        </p:txBody>
      </p:sp>
      <p:sp>
        <p:nvSpPr>
          <p:cNvPr id="7" name="scope-label-0">
            <a:extLst xmlns:a="http://schemas.openxmlformats.org/drawingml/2006/main">
              <a:ext uri="{FF2B5EF4-FFF2-40B4-BE49-F238E27FC236}">
                <a16:creationId xmlns:a16="http://schemas.microsoft.com/office/drawing/2014/main" id="{BA6C221B-9F42-4328-B071-744B34602B71}"/>
              </a:ext>
            </a:extLst>
          </p:cNvPr>
          <p:cNvSpPr>
            <a:spLocks xmlns:a="http://schemas.openxmlformats.org/drawingml/2006/main" noGrp="1"/>
          </p:cNvSpPr>
          <p:nvPr/>
        </p:nvSpPr>
        <p:spPr>
          <a:xfrm xmlns:a="http://schemas.openxmlformats.org/drawingml/2006/main">
            <a:off x="876300" y="3143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cities in the planned coordinate input</a:t>
            </a:r>
          </a:p>
        </p:txBody>
      </p:sp>
      <p:sp>
        <p:nvSpPr>
          <p:cNvPr id="8" name="scope-divider-0">
            <a:extLst xmlns:a="http://schemas.openxmlformats.org/drawingml/2006/main">
              <a:ext uri="{FF2B5EF4-FFF2-40B4-BE49-F238E27FC236}">
                <a16:creationId xmlns:a16="http://schemas.microsoft.com/office/drawing/2014/main" id="{C189DF57-FA4A-4239-B156-ECE7C7D319FF}"/>
              </a:ext>
            </a:extLst>
          </p:cNvPr>
          <p:cNvSpPr>
            <a:spLocks xmlns:a="http://schemas.openxmlformats.org/drawingml/2006/main" noGrp="1"/>
          </p:cNvSpPr>
          <p:nvPr/>
        </p:nvSpPr>
        <p:spPr>
          <a:xfrm xmlns:a="http://schemas.openxmlformats.org/drawingml/2006/main">
            <a:off x="4019550" y="2343150"/>
            <a:ext cx="0" cy="169545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9" name="scope-value-1">
            <a:extLst xmlns:a="http://schemas.openxmlformats.org/drawingml/2006/main">
              <a:ext uri="{FF2B5EF4-FFF2-40B4-BE49-F238E27FC236}">
                <a16:creationId xmlns:a16="http://schemas.microsoft.com/office/drawing/2014/main" id="{20DF513E-9F07-48E9-8EC8-8AAF8189595B}"/>
              </a:ext>
            </a:extLst>
          </p:cNvPr>
          <p:cNvSpPr>
            <a:spLocks xmlns:a="http://schemas.openxmlformats.org/drawingml/2006/main" noGrp="1"/>
          </p:cNvSpPr>
          <p:nvPr/>
        </p:nvSpPr>
        <p:spPr>
          <a:xfrm xmlns:a="http://schemas.openxmlformats.org/drawingml/2006/main">
            <a:off x="4476750" y="23622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52"/>
          </a:bodyPr>
          <a:lstStyle xmlns:a="http://schemas.openxmlformats.org/drawingml/2006/main">
            <a:defPPr algn="l">
              <a:defRPr sz="4650" b="1">
                <a:solidFill>
                  <a:srgbClr val="557985"/>
                </a:solidFill>
                <a:latin typeface="Arial"/>
                <a:ea typeface="Arial"/>
                <a:cs typeface="Arial"/>
              </a:defRPr>
            </a:defPPr>
          </a:lstStyle>
          <a:p xmlns:a="http://schemas.openxmlformats.org/drawingml/2006/main">
            <a:pPr algn="l">
              <a:lnSpc>
                <a:spcPct val="104000"/>
              </a:lnSpc>
              <a:buNone/>
              <a:defRPr sz="4650" b="1">
                <a:solidFill>
                  <a:srgbClr val="557985"/>
                </a:solidFill>
                <a:latin typeface="Arial"/>
                <a:ea typeface="Arial"/>
                <a:cs typeface="Arial"/>
              </a:defRPr>
            </a:pPr>
            <a:r>
              <a:rPr sz="4650" b="1">
                <a:solidFill>
                  <a:srgbClr val="557985"/>
                </a:solidFill>
                <a:latin typeface="Arial"/>
                <a:ea typeface="Arial"/>
                <a:cs typeface="Arial"/>
              </a:rPr>
              <a:t>261</a:t>
            </a:r>
          </a:p>
        </p:txBody>
      </p:sp>
      <p:sp>
        <p:nvSpPr>
          <p:cNvPr id="10" name="scope-label-1">
            <a:extLst xmlns:a="http://schemas.openxmlformats.org/drawingml/2006/main">
              <a:ext uri="{FF2B5EF4-FFF2-40B4-BE49-F238E27FC236}">
                <a16:creationId xmlns:a16="http://schemas.microsoft.com/office/drawing/2014/main" id="{9858F086-5D66-47BE-A04E-C5AD189B55B1}"/>
              </a:ext>
            </a:extLst>
          </p:cNvPr>
          <p:cNvSpPr>
            <a:spLocks xmlns:a="http://schemas.openxmlformats.org/drawingml/2006/main" noGrp="1"/>
          </p:cNvSpPr>
          <p:nvPr/>
        </p:nvSpPr>
        <p:spPr>
          <a:xfrm xmlns:a="http://schemas.openxmlformats.org/drawingml/2006/main">
            <a:off x="4476750" y="3143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manually selected point coordinates</a:t>
            </a:r>
          </a:p>
        </p:txBody>
      </p:sp>
      <p:sp>
        <p:nvSpPr>
          <p:cNvPr id="11" name="scope-divider-1">
            <a:extLst xmlns:a="http://schemas.openxmlformats.org/drawingml/2006/main">
              <a:ext uri="{FF2B5EF4-FFF2-40B4-BE49-F238E27FC236}">
                <a16:creationId xmlns:a16="http://schemas.microsoft.com/office/drawing/2014/main" id="{BA579380-4D72-4D14-8590-9D6E322AF2E8}"/>
              </a:ext>
            </a:extLst>
          </p:cNvPr>
          <p:cNvSpPr>
            <a:spLocks xmlns:a="http://schemas.openxmlformats.org/drawingml/2006/main" noGrp="1"/>
          </p:cNvSpPr>
          <p:nvPr/>
        </p:nvSpPr>
        <p:spPr>
          <a:xfrm xmlns:a="http://schemas.openxmlformats.org/drawingml/2006/main">
            <a:off x="7620000" y="2343150"/>
            <a:ext cx="0" cy="169545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2" name="scope-value-2">
            <a:extLst xmlns:a="http://schemas.openxmlformats.org/drawingml/2006/main">
              <a:ext uri="{FF2B5EF4-FFF2-40B4-BE49-F238E27FC236}">
                <a16:creationId xmlns:a16="http://schemas.microsoft.com/office/drawing/2014/main" id="{579E01ED-A11B-496E-9BFD-F5E71AB59159}"/>
              </a:ext>
            </a:extLst>
          </p:cNvPr>
          <p:cNvSpPr>
            <a:spLocks xmlns:a="http://schemas.openxmlformats.org/drawingml/2006/main" noGrp="1"/>
          </p:cNvSpPr>
          <p:nvPr/>
        </p:nvSpPr>
        <p:spPr>
          <a:xfrm xmlns:a="http://schemas.openxmlformats.org/drawingml/2006/main">
            <a:off x="8143875" y="23622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45675B"/>
                </a:solidFill>
                <a:latin typeface="Arial"/>
                <a:ea typeface="Arial"/>
                <a:cs typeface="Arial"/>
              </a:defRPr>
            </a:defPPr>
          </a:lstStyle>
          <a:p xmlns:a="http://schemas.openxmlformats.org/drawingml/2006/main">
            <a:pPr algn="l">
              <a:lnSpc>
                <a:spcPct val="104000"/>
              </a:lnSpc>
              <a:buNone/>
              <a:defRPr sz="3450" b="1">
                <a:solidFill>
                  <a:srgbClr val="45675B"/>
                </a:solidFill>
                <a:latin typeface="Arial"/>
                <a:ea typeface="Arial"/>
                <a:cs typeface="Arial"/>
              </a:defRPr>
            </a:pPr>
            <a:r>
              <a:rPr sz="3450" b="1">
                <a:solidFill>
                  <a:srgbClr val="45675B"/>
                </a:solidFill>
                <a:latin typeface="Arial"/>
                <a:ea typeface="Arial"/>
                <a:cs typeface="Arial"/>
              </a:rPr>
              <a:t>2000–2025</a:t>
            </a:r>
          </a:p>
        </p:txBody>
      </p:sp>
      <p:sp>
        <p:nvSpPr>
          <p:cNvPr id="13" name="scope-label-2">
            <a:extLst xmlns:a="http://schemas.openxmlformats.org/drawingml/2006/main">
              <a:ext uri="{FF2B5EF4-FFF2-40B4-BE49-F238E27FC236}">
                <a16:creationId xmlns:a16="http://schemas.microsoft.com/office/drawing/2014/main" id="{DEFC14A3-6ACB-4C29-88D5-DF25B63C848A}"/>
              </a:ext>
            </a:extLst>
          </p:cNvPr>
          <p:cNvSpPr>
            <a:spLocks xmlns:a="http://schemas.openxmlformats.org/drawingml/2006/main" noGrp="1"/>
          </p:cNvSpPr>
          <p:nvPr/>
        </p:nvSpPr>
        <p:spPr>
          <a:xfrm xmlns:a="http://schemas.openxmlformats.org/drawingml/2006/main">
            <a:off x="8143875" y="31432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requested monthly period</a:t>
            </a:r>
          </a:p>
        </p:txBody>
      </p:sp>
      <p:sp>
        <p:nvSpPr>
          <p:cNvPr id="14" name="scope-foot-rule">
            <a:extLst xmlns:a="http://schemas.openxmlformats.org/drawingml/2006/main">
              <a:ext uri="{FF2B5EF4-FFF2-40B4-BE49-F238E27FC236}">
                <a16:creationId xmlns:a16="http://schemas.microsoft.com/office/drawing/2014/main" id="{A7596CC9-8F1D-4942-B7A8-A6EDB4EE672A}"/>
              </a:ext>
            </a:extLst>
          </p:cNvPr>
          <p:cNvSpPr>
            <a:spLocks xmlns:a="http://schemas.openxmlformats.org/drawingml/2006/main" noGrp="1"/>
          </p:cNvSpPr>
          <p:nvPr/>
        </p:nvSpPr>
        <p:spPr>
          <a:xfrm xmlns:a="http://schemas.openxmlformats.org/drawingml/2006/main">
            <a:off x="857250" y="4667250"/>
            <a:ext cx="10477500" cy="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5" name="scope-note">
            <a:extLst xmlns:a="http://schemas.openxmlformats.org/drawingml/2006/main">
              <a:ext uri="{FF2B5EF4-FFF2-40B4-BE49-F238E27FC236}">
                <a16:creationId xmlns:a16="http://schemas.microsoft.com/office/drawing/2014/main" id="{DD1F8C0E-E675-4450-B48B-68788662ED35}"/>
              </a:ext>
            </a:extLst>
          </p:cNvPr>
          <p:cNvSpPr>
            <a:spLocks xmlns:a="http://schemas.openxmlformats.org/drawingml/2006/main" noGrp="1"/>
          </p:cNvSpPr>
          <p:nvPr/>
        </p:nvSpPr>
        <p:spPr>
          <a:xfrm xmlns:a="http://schemas.openxmlformats.org/drawingml/2006/main">
            <a:off x="857250" y="5010150"/>
            <a:ext cx="10334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7"/>
          </a:bodyPr>
          <a:lstStyle xmlns:a="http://schemas.openxmlformats.org/drawingml/2006/main">
            <a:defPPr algn="l">
              <a:defRPr sz="1950" b="1">
                <a:solidFill>
                  <a:srgbClr val="24362F"/>
                </a:solidFill>
                <a:latin typeface="Arial"/>
                <a:ea typeface="Arial"/>
                <a:cs typeface="Arial"/>
              </a:defRPr>
            </a:defPPr>
          </a:lstStyle>
          <a:p xmlns:a="http://schemas.openxmlformats.org/drawingml/2006/main">
            <a:pPr algn="l">
              <a:lnSpc>
                <a:spcPct val="104000"/>
              </a:lnSpc>
              <a:buNone/>
              <a:defRPr sz="1950" b="1">
                <a:solidFill>
                  <a:srgbClr val="24362F"/>
                </a:solidFill>
                <a:latin typeface="Arial"/>
                <a:ea typeface="Arial"/>
                <a:cs typeface="Arial"/>
              </a:defRPr>
            </a:pPr>
            <a:r>
              <a:rPr sz="1950" b="1">
                <a:solidFill>
                  <a:srgbClr val="24362F"/>
                </a:solidFill>
                <a:latin typeface="Arial"/>
                <a:ea typeface="Arial"/>
                <a:cs typeface="Arial"/>
              </a:rPr>
              <a:t>The plan represents the intended collection scope; local files show which points were actually collected.</a:t>
            </a:r>
          </a:p>
        </p:txBody>
      </p:sp>
    </p:spTree>
    <p:extLst>
      <p:ext uri="{BB962C8B-B14F-4D97-AF65-F5344CB8AC3E}">
        <p14:creationId xmlns:p14="http://schemas.microsoft.com/office/powerpoint/2010/main" val="1310262504"/>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1" name="section-label">
            <a:extLst xmlns:a="http://schemas.openxmlformats.org/drawingml/2006/main">
              <a:ext uri="{FF2B5EF4-FFF2-40B4-BE49-F238E27FC236}">
                <a16:creationId xmlns:a16="http://schemas.microsoft.com/office/drawing/2014/main" id="{FE169198-3210-49DD-86D8-ED740CB41DE9}"/>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SCRAPING · 2 OF 6</a:t>
            </a:r>
          </a:p>
        </p:txBody>
      </p:sp>
      <p:sp>
        <p:nvSpPr>
          <p:cNvPr id="2" name="slide-title">
            <a:extLst xmlns:a="http://schemas.openxmlformats.org/drawingml/2006/main">
              <a:ext uri="{FF2B5EF4-FFF2-40B4-BE49-F238E27FC236}">
                <a16:creationId xmlns:a16="http://schemas.microsoft.com/office/drawing/2014/main" id="{9ABF762E-3DFF-4C1C-9A6C-5823DCBA2C68}"/>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A request is made for each coordinate</a:t>
            </a:r>
          </a:p>
        </p:txBody>
      </p:sp>
      <p:sp>
        <p:nvSpPr>
          <p:cNvPr id="3" name="slide-subtitle">
            <a:extLst xmlns:a="http://schemas.openxmlformats.org/drawingml/2006/main">
              <a:ext uri="{FF2B5EF4-FFF2-40B4-BE49-F238E27FC236}">
                <a16:creationId xmlns:a16="http://schemas.microsoft.com/office/drawing/2014/main" id="{5DA6D924-F7CA-4976-8566-796C139BB209}"/>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A point request returns a climate time series for one latitude and longitude.</a:t>
            </a:r>
          </a:p>
        </p:txBody>
      </p:sp>
      <p:sp>
        <p:nvSpPr>
          <p:cNvPr id="4" name="header-rule">
            <a:extLst xmlns:a="http://schemas.openxmlformats.org/drawingml/2006/main">
              <a:ext uri="{FF2B5EF4-FFF2-40B4-BE49-F238E27FC236}">
                <a16:creationId xmlns:a16="http://schemas.microsoft.com/office/drawing/2014/main" id="{7D2E36E0-4060-484D-BB51-B4003E5F416D}"/>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7AEF644F-BF98-46C4-A15E-A48A6AEE97D2}"/>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03</a:t>
            </a:r>
          </a:p>
        </p:txBody>
      </p:sp>
      <p:sp>
        <p:nvSpPr>
          <p:cNvPr id="6" name="request-label">
            <a:extLst xmlns:a="http://schemas.openxmlformats.org/drawingml/2006/main">
              <a:ext uri="{FF2B5EF4-FFF2-40B4-BE49-F238E27FC236}">
                <a16:creationId xmlns:a16="http://schemas.microsoft.com/office/drawing/2014/main" id="{12D84690-BA22-409C-A73E-44C8754EF70F}"/>
              </a:ext>
            </a:extLst>
          </p:cNvPr>
          <p:cNvSpPr>
            <a:spLocks xmlns:a="http://schemas.openxmlformats.org/drawingml/2006/main" noGrp="1"/>
          </p:cNvSpPr>
          <p:nvPr/>
        </p:nvSpPr>
        <p:spPr>
          <a:xfrm xmlns:a="http://schemas.openxmlformats.org/drawingml/2006/main">
            <a:off x="838200" y="2181225"/>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NASA/POWER MONTHLY POINT API</a:t>
            </a:r>
          </a:p>
        </p:txBody>
      </p:sp>
      <p:sp>
        <p:nvSpPr>
          <p:cNvPr id="7" name="request-endpoint">
            <a:extLst xmlns:a="http://schemas.openxmlformats.org/drawingml/2006/main">
              <a:ext uri="{FF2B5EF4-FFF2-40B4-BE49-F238E27FC236}">
                <a16:creationId xmlns:a16="http://schemas.microsoft.com/office/drawing/2014/main" id="{5B911323-082F-453F-84A8-4B63A2627BF3}"/>
              </a:ext>
            </a:extLst>
          </p:cNvPr>
          <p:cNvSpPr>
            <a:spLocks xmlns:a="http://schemas.openxmlformats.org/drawingml/2006/main" noGrp="1"/>
          </p:cNvSpPr>
          <p:nvPr/>
        </p:nvSpPr>
        <p:spPr>
          <a:xfrm xmlns:a="http://schemas.openxmlformats.org/drawingml/2006/main">
            <a:off x="838200" y="2581275"/>
            <a:ext cx="1019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4362F"/>
                </a:solidFill>
                <a:latin typeface="Arial"/>
                <a:ea typeface="Arial"/>
                <a:cs typeface="Arial"/>
              </a:defRPr>
            </a:defPPr>
          </a:lstStyle>
          <a:p xmlns:a="http://schemas.openxmlformats.org/drawingml/2006/main">
            <a:pPr algn="l">
              <a:lnSpc>
                <a:spcPct val="104000"/>
              </a:lnSpc>
              <a:buNone/>
              <a:defRPr sz="2100" b="1">
                <a:solidFill>
                  <a:srgbClr val="24362F"/>
                </a:solidFill>
                <a:latin typeface="Arial"/>
                <a:ea typeface="Arial"/>
                <a:cs typeface="Arial"/>
              </a:defRPr>
            </a:pPr>
            <a:r>
              <a:rPr sz="2100" b="1">
                <a:solidFill>
                  <a:srgbClr val="24362F"/>
                </a:solidFill>
                <a:latin typeface="Arial"/>
                <a:ea typeface="Arial"/>
                <a:cs typeface="Arial"/>
              </a:rPr>
              <a:t>power.larc.nasa.gov/api/temporal/monthly/point</a:t>
            </a:r>
          </a:p>
        </p:txBody>
      </p:sp>
      <p:sp>
        <p:nvSpPr>
          <p:cNvPr id="8" name="request-spec-line-0">
            <a:extLst xmlns:a="http://schemas.openxmlformats.org/drawingml/2006/main">
              <a:ext uri="{FF2B5EF4-FFF2-40B4-BE49-F238E27FC236}">
                <a16:creationId xmlns:a16="http://schemas.microsoft.com/office/drawing/2014/main" id="{A479A286-CFFD-4429-8C15-FBDFA3E7E08A}"/>
              </a:ext>
            </a:extLst>
          </p:cNvPr>
          <p:cNvSpPr>
            <a:spLocks xmlns:a="http://schemas.openxmlformats.org/drawingml/2006/main" noGrp="1"/>
          </p:cNvSpPr>
          <p:nvPr/>
        </p:nvSpPr>
        <p:spPr>
          <a:xfrm xmlns:a="http://schemas.openxmlformats.org/drawingml/2006/main">
            <a:off x="857250" y="3562350"/>
            <a:ext cx="2190750" cy="0"/>
          </a:xfrm>
          <a:prstGeom xmlns:a="http://schemas.openxmlformats.org/drawingml/2006/main" prst="line">
            <a:avLst/>
          </a:prstGeom>
          <a:noFill xmlns:a="http://schemas.openxmlformats.org/drawingml/2006/main"/>
          <a:ln xmlns:a="http://schemas.openxmlformats.org/drawingml/2006/main" w="28575">
            <a:solidFill>
              <a:srgbClr val="A8BCAF"/>
            </a:solidFill>
            <a:prstDash val="solid"/>
          </a:ln>
        </p:spPr>
      </p:sp>
      <p:sp>
        <p:nvSpPr>
          <p:cNvPr id="9" name="request-spec-0">
            <a:extLst xmlns:a="http://schemas.openxmlformats.org/drawingml/2006/main">
              <a:ext uri="{FF2B5EF4-FFF2-40B4-BE49-F238E27FC236}">
                <a16:creationId xmlns:a16="http://schemas.microsoft.com/office/drawing/2014/main" id="{15E4822D-D711-4EC7-8CBE-B3E21DD99B5C}"/>
              </a:ext>
            </a:extLst>
          </p:cNvPr>
          <p:cNvSpPr>
            <a:spLocks xmlns:a="http://schemas.openxmlformats.org/drawingml/2006/main" noGrp="1"/>
          </p:cNvSpPr>
          <p:nvPr/>
        </p:nvSpPr>
        <p:spPr>
          <a:xfrm xmlns:a="http://schemas.openxmlformats.org/drawingml/2006/main">
            <a:off x="857250" y="38004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TEMPORAL</a:t>
            </a:r>
          </a:p>
        </p:txBody>
      </p:sp>
      <p:sp>
        <p:nvSpPr>
          <p:cNvPr id="10" name="request-value-0">
            <a:extLst xmlns:a="http://schemas.openxmlformats.org/drawingml/2006/main">
              <a:ext uri="{FF2B5EF4-FFF2-40B4-BE49-F238E27FC236}">
                <a16:creationId xmlns:a16="http://schemas.microsoft.com/office/drawing/2014/main" id="{0944C57B-883D-4D48-8C00-DCA05717DD48}"/>
              </a:ext>
            </a:extLst>
          </p:cNvPr>
          <p:cNvSpPr>
            <a:spLocks xmlns:a="http://schemas.openxmlformats.org/drawingml/2006/main" noGrp="1"/>
          </p:cNvSpPr>
          <p:nvPr/>
        </p:nvSpPr>
        <p:spPr>
          <a:xfrm xmlns:a="http://schemas.openxmlformats.org/drawingml/2006/main">
            <a:off x="857250" y="4124325"/>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Monthly</a:t>
            </a:r>
          </a:p>
        </p:txBody>
      </p:sp>
      <p:sp>
        <p:nvSpPr>
          <p:cNvPr id="11" name="request-spec-line-1">
            <a:extLst xmlns:a="http://schemas.openxmlformats.org/drawingml/2006/main">
              <a:ext uri="{FF2B5EF4-FFF2-40B4-BE49-F238E27FC236}">
                <a16:creationId xmlns:a16="http://schemas.microsoft.com/office/drawing/2014/main" id="{1182F9F4-2DC3-4238-8850-16474584E53C}"/>
              </a:ext>
            </a:extLst>
          </p:cNvPr>
          <p:cNvSpPr>
            <a:spLocks xmlns:a="http://schemas.openxmlformats.org/drawingml/2006/main" noGrp="1"/>
          </p:cNvSpPr>
          <p:nvPr/>
        </p:nvSpPr>
        <p:spPr>
          <a:xfrm xmlns:a="http://schemas.openxmlformats.org/drawingml/2006/main">
            <a:off x="3543300" y="3562350"/>
            <a:ext cx="2190750" cy="0"/>
          </a:xfrm>
          <a:prstGeom xmlns:a="http://schemas.openxmlformats.org/drawingml/2006/main" prst="line">
            <a:avLst/>
          </a:prstGeom>
          <a:noFill xmlns:a="http://schemas.openxmlformats.org/drawingml/2006/main"/>
          <a:ln xmlns:a="http://schemas.openxmlformats.org/drawingml/2006/main" w="28575">
            <a:solidFill>
              <a:srgbClr val="557985"/>
            </a:solidFill>
            <a:prstDash val="solid"/>
          </a:ln>
        </p:spPr>
      </p:sp>
      <p:sp>
        <p:nvSpPr>
          <p:cNvPr id="12" name="request-spec-1">
            <a:extLst xmlns:a="http://schemas.openxmlformats.org/drawingml/2006/main">
              <a:ext uri="{FF2B5EF4-FFF2-40B4-BE49-F238E27FC236}">
                <a16:creationId xmlns:a16="http://schemas.microsoft.com/office/drawing/2014/main" id="{83AD1B91-AFF7-4760-B1F9-9E6F80AE8AA4}"/>
              </a:ext>
            </a:extLst>
          </p:cNvPr>
          <p:cNvSpPr>
            <a:spLocks xmlns:a="http://schemas.openxmlformats.org/drawingml/2006/main" noGrp="1"/>
          </p:cNvSpPr>
          <p:nvPr/>
        </p:nvSpPr>
        <p:spPr>
          <a:xfrm xmlns:a="http://schemas.openxmlformats.org/drawingml/2006/main">
            <a:off x="3543300" y="38004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COMMUNITY</a:t>
            </a:r>
          </a:p>
        </p:txBody>
      </p:sp>
      <p:sp>
        <p:nvSpPr>
          <p:cNvPr id="13" name="request-value-1">
            <a:extLst xmlns:a="http://schemas.openxmlformats.org/drawingml/2006/main">
              <a:ext uri="{FF2B5EF4-FFF2-40B4-BE49-F238E27FC236}">
                <a16:creationId xmlns:a16="http://schemas.microsoft.com/office/drawing/2014/main" id="{F126252A-A152-4C4B-9456-6CA1EBE2120E}"/>
              </a:ext>
            </a:extLst>
          </p:cNvPr>
          <p:cNvSpPr>
            <a:spLocks xmlns:a="http://schemas.openxmlformats.org/drawingml/2006/main" noGrp="1"/>
          </p:cNvSpPr>
          <p:nvPr/>
        </p:nvSpPr>
        <p:spPr>
          <a:xfrm xmlns:a="http://schemas.openxmlformats.org/drawingml/2006/main">
            <a:off x="3543300" y="4124325"/>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RE</a:t>
            </a:r>
          </a:p>
        </p:txBody>
      </p:sp>
      <p:sp>
        <p:nvSpPr>
          <p:cNvPr id="14" name="request-spec-line-2">
            <a:extLst xmlns:a="http://schemas.openxmlformats.org/drawingml/2006/main">
              <a:ext uri="{FF2B5EF4-FFF2-40B4-BE49-F238E27FC236}">
                <a16:creationId xmlns:a16="http://schemas.microsoft.com/office/drawing/2014/main" id="{B2E4FE76-5B0A-44EB-9C2F-4757146388A2}"/>
              </a:ext>
            </a:extLst>
          </p:cNvPr>
          <p:cNvSpPr>
            <a:spLocks xmlns:a="http://schemas.openxmlformats.org/drawingml/2006/main" noGrp="1"/>
          </p:cNvSpPr>
          <p:nvPr/>
        </p:nvSpPr>
        <p:spPr>
          <a:xfrm xmlns:a="http://schemas.openxmlformats.org/drawingml/2006/main">
            <a:off x="6229350" y="3562350"/>
            <a:ext cx="2190750" cy="0"/>
          </a:xfrm>
          <a:prstGeom xmlns:a="http://schemas.openxmlformats.org/drawingml/2006/main" prst="line">
            <a:avLst/>
          </a:prstGeom>
          <a:noFill xmlns:a="http://schemas.openxmlformats.org/drawingml/2006/main"/>
          <a:ln xmlns:a="http://schemas.openxmlformats.org/drawingml/2006/main" w="28575">
            <a:solidFill>
              <a:srgbClr val="A8BCAF"/>
            </a:solidFill>
            <a:prstDash val="solid"/>
          </a:ln>
        </p:spPr>
      </p:sp>
      <p:sp>
        <p:nvSpPr>
          <p:cNvPr id="15" name="request-spec-2">
            <a:extLst xmlns:a="http://schemas.openxmlformats.org/drawingml/2006/main">
              <a:ext uri="{FF2B5EF4-FFF2-40B4-BE49-F238E27FC236}">
                <a16:creationId xmlns:a16="http://schemas.microsoft.com/office/drawing/2014/main" id="{22462BC6-C653-44E3-9E2D-2ECAEB9B92D3}"/>
              </a:ext>
            </a:extLst>
          </p:cNvPr>
          <p:cNvSpPr>
            <a:spLocks xmlns:a="http://schemas.openxmlformats.org/drawingml/2006/main" noGrp="1"/>
          </p:cNvSpPr>
          <p:nvPr/>
        </p:nvSpPr>
        <p:spPr>
          <a:xfrm xmlns:a="http://schemas.openxmlformats.org/drawingml/2006/main">
            <a:off x="6229350" y="38004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FORMAT</a:t>
            </a:r>
          </a:p>
        </p:txBody>
      </p:sp>
      <p:sp>
        <p:nvSpPr>
          <p:cNvPr id="16" name="request-value-2">
            <a:extLst xmlns:a="http://schemas.openxmlformats.org/drawingml/2006/main">
              <a:ext uri="{FF2B5EF4-FFF2-40B4-BE49-F238E27FC236}">
                <a16:creationId xmlns:a16="http://schemas.microsoft.com/office/drawing/2014/main" id="{5F7BA126-8C2C-401A-B642-CA99EE8A1840}"/>
              </a:ext>
            </a:extLst>
          </p:cNvPr>
          <p:cNvSpPr>
            <a:spLocks xmlns:a="http://schemas.openxmlformats.org/drawingml/2006/main" noGrp="1"/>
          </p:cNvSpPr>
          <p:nvPr/>
        </p:nvSpPr>
        <p:spPr>
          <a:xfrm xmlns:a="http://schemas.openxmlformats.org/drawingml/2006/main">
            <a:off x="6229350" y="4124325"/>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CSV</a:t>
            </a:r>
          </a:p>
        </p:txBody>
      </p:sp>
      <p:sp>
        <p:nvSpPr>
          <p:cNvPr id="17" name="request-spec-line-3">
            <a:extLst xmlns:a="http://schemas.openxmlformats.org/drawingml/2006/main">
              <a:ext uri="{FF2B5EF4-FFF2-40B4-BE49-F238E27FC236}">
                <a16:creationId xmlns:a16="http://schemas.microsoft.com/office/drawing/2014/main" id="{EC7909A0-DDB0-4403-9B2A-424CFF742AE2}"/>
              </a:ext>
            </a:extLst>
          </p:cNvPr>
          <p:cNvSpPr>
            <a:spLocks xmlns:a="http://schemas.openxmlformats.org/drawingml/2006/main" noGrp="1"/>
          </p:cNvSpPr>
          <p:nvPr/>
        </p:nvSpPr>
        <p:spPr>
          <a:xfrm xmlns:a="http://schemas.openxmlformats.org/drawingml/2006/main">
            <a:off x="8915400" y="3562350"/>
            <a:ext cx="2190750" cy="0"/>
          </a:xfrm>
          <a:prstGeom xmlns:a="http://schemas.openxmlformats.org/drawingml/2006/main" prst="line">
            <a:avLst/>
          </a:prstGeom>
          <a:noFill xmlns:a="http://schemas.openxmlformats.org/drawingml/2006/main"/>
          <a:ln xmlns:a="http://schemas.openxmlformats.org/drawingml/2006/main" w="28575">
            <a:solidFill>
              <a:srgbClr val="557985"/>
            </a:solidFill>
            <a:prstDash val="solid"/>
          </a:ln>
        </p:spPr>
      </p:sp>
      <p:sp>
        <p:nvSpPr>
          <p:cNvPr id="18" name="request-spec-3">
            <a:extLst xmlns:a="http://schemas.openxmlformats.org/drawingml/2006/main">
              <a:ext uri="{FF2B5EF4-FFF2-40B4-BE49-F238E27FC236}">
                <a16:creationId xmlns:a16="http://schemas.microsoft.com/office/drawing/2014/main" id="{0230504C-4544-4B9D-8929-83AE6A0B39E6}"/>
              </a:ext>
            </a:extLst>
          </p:cNvPr>
          <p:cNvSpPr>
            <a:spLocks xmlns:a="http://schemas.openxmlformats.org/drawingml/2006/main" noGrp="1"/>
          </p:cNvSpPr>
          <p:nvPr/>
        </p:nvSpPr>
        <p:spPr>
          <a:xfrm xmlns:a="http://schemas.openxmlformats.org/drawingml/2006/main">
            <a:off x="8915400" y="38004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PERIOD</a:t>
            </a:r>
          </a:p>
        </p:txBody>
      </p:sp>
      <p:sp>
        <p:nvSpPr>
          <p:cNvPr id="19" name="request-value-3">
            <a:extLst xmlns:a="http://schemas.openxmlformats.org/drawingml/2006/main">
              <a:ext uri="{FF2B5EF4-FFF2-40B4-BE49-F238E27FC236}">
                <a16:creationId xmlns:a16="http://schemas.microsoft.com/office/drawing/2014/main" id="{A1AB1F86-DBFA-4F66-8AFE-63D2B354F505}"/>
              </a:ext>
            </a:extLst>
          </p:cNvPr>
          <p:cNvSpPr>
            <a:spLocks xmlns:a="http://schemas.openxmlformats.org/drawingml/2006/main" noGrp="1"/>
          </p:cNvSpPr>
          <p:nvPr/>
        </p:nvSpPr>
        <p:spPr>
          <a:xfrm xmlns:a="http://schemas.openxmlformats.org/drawingml/2006/main">
            <a:off x="8915400" y="4124325"/>
            <a:ext cx="219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2000–2025</a:t>
            </a:r>
          </a:p>
        </p:txBody>
      </p:sp>
      <p:sp>
        <p:nvSpPr>
          <p:cNvPr id="20" name="request-note">
            <a:extLst xmlns:a="http://schemas.openxmlformats.org/drawingml/2006/main">
              <a:ext uri="{FF2B5EF4-FFF2-40B4-BE49-F238E27FC236}">
                <a16:creationId xmlns:a16="http://schemas.microsoft.com/office/drawing/2014/main" id="{BD944D4B-2364-47AE-B567-AB9A41E515C4}"/>
              </a:ext>
            </a:extLst>
          </p:cNvPr>
          <p:cNvSpPr>
            <a:spLocks xmlns:a="http://schemas.openxmlformats.org/drawingml/2006/main" noGrp="1"/>
          </p:cNvSpPr>
          <p:nvPr/>
        </p:nvSpPr>
        <p:spPr>
          <a:xfrm xmlns:a="http://schemas.openxmlformats.org/drawingml/2006/main">
            <a:off x="857250" y="5153025"/>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coordinate supplies the location; the request settings define the data returned.</a:t>
            </a:r>
          </a:p>
        </p:txBody>
      </p:sp>
    </p:spTree>
    <p:extLst>
      <p:ext uri="{BB962C8B-B14F-4D97-AF65-F5344CB8AC3E}">
        <p14:creationId xmlns:p14="http://schemas.microsoft.com/office/powerpoint/2010/main" val="216593126"/>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3" name="section-label">
            <a:extLst xmlns:a="http://schemas.openxmlformats.org/drawingml/2006/main">
              <a:ext uri="{FF2B5EF4-FFF2-40B4-BE49-F238E27FC236}">
                <a16:creationId xmlns:a16="http://schemas.microsoft.com/office/drawing/2014/main" id="{3A0ED092-616D-4C9B-9180-8DDE5721FBC8}"/>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SCRAPING · 3 OF 6</a:t>
            </a:r>
          </a:p>
        </p:txBody>
      </p:sp>
      <p:sp>
        <p:nvSpPr>
          <p:cNvPr id="2" name="slide-title">
            <a:extLst xmlns:a="http://schemas.openxmlformats.org/drawingml/2006/main">
              <a:ext uri="{FF2B5EF4-FFF2-40B4-BE49-F238E27FC236}">
                <a16:creationId xmlns:a16="http://schemas.microsoft.com/office/drawing/2014/main" id="{EF0DB0EB-7CF3-43D0-908D-340E3D0479EA}"/>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Documented scraping sequence</a:t>
            </a:r>
          </a:p>
        </p:txBody>
      </p:sp>
      <p:sp>
        <p:nvSpPr>
          <p:cNvPr id="3" name="slide-subtitle">
            <a:extLst xmlns:a="http://schemas.openxmlformats.org/drawingml/2006/main">
              <a:ext uri="{FF2B5EF4-FFF2-40B4-BE49-F238E27FC236}">
                <a16:creationId xmlns:a16="http://schemas.microsoft.com/office/drawing/2014/main" id="{2D42D9F5-04D2-4B0A-B11A-7370C32321FE}"/>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request-and-save cycle repeats for each selected point.</a:t>
            </a:r>
          </a:p>
        </p:txBody>
      </p:sp>
      <p:sp>
        <p:nvSpPr>
          <p:cNvPr id="4" name="header-rule">
            <a:extLst xmlns:a="http://schemas.openxmlformats.org/drawingml/2006/main">
              <a:ext uri="{FF2B5EF4-FFF2-40B4-BE49-F238E27FC236}">
                <a16:creationId xmlns:a16="http://schemas.microsoft.com/office/drawing/2014/main" id="{3F4D49FB-331A-4C1C-A02A-460A625FF2A5}"/>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14C9E671-54AD-4177-A44A-94BF00201A26}"/>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04</a:t>
            </a:r>
          </a:p>
        </p:txBody>
      </p:sp>
      <p:sp>
        <p:nvSpPr>
          <p:cNvPr id="6" name="scrape-step-0">
            <a:extLst xmlns:a="http://schemas.openxmlformats.org/drawingml/2006/main">
              <a:ext uri="{FF2B5EF4-FFF2-40B4-BE49-F238E27FC236}">
                <a16:creationId xmlns:a16="http://schemas.microsoft.com/office/drawing/2014/main" id="{B1C96369-802F-448D-92C4-9B7ECCEB4A8F}"/>
              </a:ext>
            </a:extLst>
          </p:cNvPr>
          <p:cNvSpPr>
            <a:spLocks xmlns:a="http://schemas.openxmlformats.org/drawingml/2006/main" noGrp="1"/>
          </p:cNvSpPr>
          <p:nvPr/>
        </p:nvSpPr>
        <p:spPr>
          <a:xfrm xmlns:a="http://schemas.openxmlformats.org/drawingml/2006/main">
            <a:off x="781050" y="24765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B37B54"/>
                </a:solidFill>
                <a:latin typeface="Arial"/>
                <a:ea typeface="Arial"/>
                <a:cs typeface="Arial"/>
              </a:defRPr>
            </a:defPPr>
          </a:lstStyle>
          <a:p xmlns:a="http://schemas.openxmlformats.org/drawingml/2006/main">
            <a:pPr algn="l">
              <a:lnSpc>
                <a:spcPct val="104000"/>
              </a:lnSpc>
              <a:buNone/>
              <a:defRPr sz="1800" b="1">
                <a:solidFill>
                  <a:srgbClr val="B37B54"/>
                </a:solidFill>
                <a:latin typeface="Arial"/>
                <a:ea typeface="Arial"/>
                <a:cs typeface="Arial"/>
              </a:defRPr>
            </a:pPr>
            <a:r>
              <a:rPr sz="1800" b="1">
                <a:solidFill>
                  <a:srgbClr val="B37B54"/>
                </a:solidFill>
                <a:latin typeface="Arial"/>
                <a:ea typeface="Arial"/>
                <a:cs typeface="Arial"/>
              </a:rPr>
              <a:t>1</a:t>
            </a:r>
          </a:p>
        </p:txBody>
      </p:sp>
      <p:sp>
        <p:nvSpPr>
          <p:cNvPr id="7" name="scrape-title-0">
            <a:extLst xmlns:a="http://schemas.openxmlformats.org/drawingml/2006/main">
              <a:ext uri="{FF2B5EF4-FFF2-40B4-BE49-F238E27FC236}">
                <a16:creationId xmlns:a16="http://schemas.microsoft.com/office/drawing/2014/main" id="{0C7968AA-1EE0-4DD0-A4C2-11E98F0555A2}"/>
              </a:ext>
            </a:extLst>
          </p:cNvPr>
          <p:cNvSpPr>
            <a:spLocks xmlns:a="http://schemas.openxmlformats.org/drawingml/2006/main" noGrp="1"/>
          </p:cNvSpPr>
          <p:nvPr/>
        </p:nvSpPr>
        <p:spPr>
          <a:xfrm xmlns:a="http://schemas.openxmlformats.org/drawingml/2006/main">
            <a:off x="781050" y="298132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4362F"/>
                </a:solidFill>
                <a:latin typeface="Arial"/>
                <a:ea typeface="Arial"/>
                <a:cs typeface="Arial"/>
              </a:defRPr>
            </a:defPPr>
          </a:lstStyle>
          <a:p xmlns:a="http://schemas.openxmlformats.org/drawingml/2006/main">
            <a:pPr algn="l">
              <a:lnSpc>
                <a:spcPct val="104000"/>
              </a:lnSpc>
              <a:buNone/>
              <a:defRPr sz="1875" b="1">
                <a:solidFill>
                  <a:srgbClr val="24362F"/>
                </a:solidFill>
                <a:latin typeface="Arial"/>
                <a:ea typeface="Arial"/>
                <a:cs typeface="Arial"/>
              </a:defRPr>
            </a:pPr>
            <a:r>
              <a:rPr sz="1875" b="1">
                <a:solidFill>
                  <a:srgbClr val="24362F"/>
                </a:solidFill>
                <a:latin typeface="Arial"/>
                <a:ea typeface="Arial"/>
                <a:cs typeface="Arial"/>
              </a:rPr>
              <a:t>Read coordinates</a:t>
            </a:r>
          </a:p>
        </p:txBody>
      </p:sp>
      <p:sp>
        <p:nvSpPr>
          <p:cNvPr id="8" name="scrape-body-0">
            <a:extLst xmlns:a="http://schemas.openxmlformats.org/drawingml/2006/main">
              <a:ext uri="{FF2B5EF4-FFF2-40B4-BE49-F238E27FC236}">
                <a16:creationId xmlns:a16="http://schemas.microsoft.com/office/drawing/2014/main" id="{08699593-D710-46D2-A539-766F90078718}"/>
              </a:ext>
            </a:extLst>
          </p:cNvPr>
          <p:cNvSpPr>
            <a:spLocks xmlns:a="http://schemas.openxmlformats.org/drawingml/2006/main" noGrp="1"/>
          </p:cNvSpPr>
          <p:nvPr/>
        </p:nvSpPr>
        <p:spPr>
          <a:xfrm xmlns:a="http://schemas.openxmlformats.org/drawingml/2006/main">
            <a:off x="781050" y="35433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City, latitude, longitude</a:t>
            </a:r>
          </a:p>
        </p:txBody>
      </p:sp>
      <p:sp>
        <p:nvSpPr>
          <p:cNvPr id="9" name="scrape-arrow-0">
            <a:extLst xmlns:a="http://schemas.openxmlformats.org/drawingml/2006/main">
              <a:ext uri="{FF2B5EF4-FFF2-40B4-BE49-F238E27FC236}">
                <a16:creationId xmlns:a16="http://schemas.microsoft.com/office/drawing/2014/main" id="{8F340D1F-595B-4AA3-807C-1D2D6000E115}"/>
              </a:ext>
            </a:extLst>
          </p:cNvPr>
          <p:cNvSpPr>
            <a:spLocks xmlns:a="http://schemas.openxmlformats.org/drawingml/2006/main" noGrp="1"/>
          </p:cNvSpPr>
          <p:nvPr/>
        </p:nvSpPr>
        <p:spPr>
          <a:xfrm xmlns:a="http://schemas.openxmlformats.org/drawingml/2006/main">
            <a:off x="3295650" y="3124200"/>
            <a:ext cx="219075" cy="0"/>
          </a:xfrm>
          <a:prstGeom xmlns:a="http://schemas.openxmlformats.org/drawingml/2006/main" prst="line">
            <a:avLst/>
          </a:prstGeom>
          <a:noFill xmlns:a="http://schemas.openxmlformats.org/drawingml/2006/main"/>
          <a:ln xmlns:a="http://schemas.openxmlformats.org/drawingml/2006/main" w="19050">
            <a:solidFill>
              <a:srgbClr val="A8BCAF"/>
            </a:solidFill>
            <a:prstDash val="solid"/>
          </a:ln>
        </p:spPr>
      </p:sp>
      <p:sp>
        <p:nvSpPr>
          <p:cNvPr id="10" name="scrape-step-1">
            <a:extLst xmlns:a="http://schemas.openxmlformats.org/drawingml/2006/main">
              <a:ext uri="{FF2B5EF4-FFF2-40B4-BE49-F238E27FC236}">
                <a16:creationId xmlns:a16="http://schemas.microsoft.com/office/drawing/2014/main" id="{301741F9-BC72-4FB1-8446-E2CC573FA6DE}"/>
              </a:ext>
            </a:extLst>
          </p:cNvPr>
          <p:cNvSpPr>
            <a:spLocks xmlns:a="http://schemas.openxmlformats.org/drawingml/2006/main" noGrp="1"/>
          </p:cNvSpPr>
          <p:nvPr/>
        </p:nvSpPr>
        <p:spPr>
          <a:xfrm xmlns:a="http://schemas.openxmlformats.org/drawingml/2006/main">
            <a:off x="3562350" y="24765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B37B54"/>
                </a:solidFill>
                <a:latin typeface="Arial"/>
                <a:ea typeface="Arial"/>
                <a:cs typeface="Arial"/>
              </a:defRPr>
            </a:defPPr>
          </a:lstStyle>
          <a:p xmlns:a="http://schemas.openxmlformats.org/drawingml/2006/main">
            <a:pPr algn="l">
              <a:lnSpc>
                <a:spcPct val="104000"/>
              </a:lnSpc>
              <a:buNone/>
              <a:defRPr sz="1800" b="1">
                <a:solidFill>
                  <a:srgbClr val="B37B54"/>
                </a:solidFill>
                <a:latin typeface="Arial"/>
                <a:ea typeface="Arial"/>
                <a:cs typeface="Arial"/>
              </a:defRPr>
            </a:pPr>
            <a:r>
              <a:rPr sz="1800" b="1">
                <a:solidFill>
                  <a:srgbClr val="B37B54"/>
                </a:solidFill>
                <a:latin typeface="Arial"/>
                <a:ea typeface="Arial"/>
                <a:cs typeface="Arial"/>
              </a:rPr>
              <a:t>2</a:t>
            </a:r>
          </a:p>
        </p:txBody>
      </p:sp>
      <p:sp>
        <p:nvSpPr>
          <p:cNvPr id="11" name="scrape-title-1">
            <a:extLst xmlns:a="http://schemas.openxmlformats.org/drawingml/2006/main">
              <a:ext uri="{FF2B5EF4-FFF2-40B4-BE49-F238E27FC236}">
                <a16:creationId xmlns:a16="http://schemas.microsoft.com/office/drawing/2014/main" id="{3A7C2CE9-5F2F-432A-BDC0-C8DE1E95851F}"/>
              </a:ext>
            </a:extLst>
          </p:cNvPr>
          <p:cNvSpPr>
            <a:spLocks xmlns:a="http://schemas.openxmlformats.org/drawingml/2006/main" noGrp="1"/>
          </p:cNvSpPr>
          <p:nvPr/>
        </p:nvSpPr>
        <p:spPr>
          <a:xfrm xmlns:a="http://schemas.openxmlformats.org/drawingml/2006/main">
            <a:off x="3562350" y="298132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4362F"/>
                </a:solidFill>
                <a:latin typeface="Arial"/>
                <a:ea typeface="Arial"/>
                <a:cs typeface="Arial"/>
              </a:defRPr>
            </a:defPPr>
          </a:lstStyle>
          <a:p xmlns:a="http://schemas.openxmlformats.org/drawingml/2006/main">
            <a:pPr algn="l">
              <a:lnSpc>
                <a:spcPct val="104000"/>
              </a:lnSpc>
              <a:buNone/>
              <a:defRPr sz="1875" b="1">
                <a:solidFill>
                  <a:srgbClr val="24362F"/>
                </a:solidFill>
                <a:latin typeface="Arial"/>
                <a:ea typeface="Arial"/>
                <a:cs typeface="Arial"/>
              </a:defRPr>
            </a:pPr>
            <a:r>
              <a:rPr sz="1875" b="1">
                <a:solidFill>
                  <a:srgbClr val="24362F"/>
                </a:solidFill>
                <a:latin typeface="Arial"/>
                <a:ea typeface="Arial"/>
                <a:cs typeface="Arial"/>
              </a:rPr>
              <a:t>Build request</a:t>
            </a:r>
          </a:p>
        </p:txBody>
      </p:sp>
      <p:sp>
        <p:nvSpPr>
          <p:cNvPr id="12" name="scrape-body-1">
            <a:extLst xmlns:a="http://schemas.openxmlformats.org/drawingml/2006/main">
              <a:ext uri="{FF2B5EF4-FFF2-40B4-BE49-F238E27FC236}">
                <a16:creationId xmlns:a16="http://schemas.microsoft.com/office/drawing/2014/main" id="{89A3E535-73FA-4E5E-A380-A384F2CB039D}"/>
              </a:ext>
            </a:extLst>
          </p:cNvPr>
          <p:cNvSpPr>
            <a:spLocks xmlns:a="http://schemas.openxmlformats.org/drawingml/2006/main" noGrp="1"/>
          </p:cNvSpPr>
          <p:nvPr/>
        </p:nvSpPr>
        <p:spPr>
          <a:xfrm xmlns:a="http://schemas.openxmlformats.org/drawingml/2006/main">
            <a:off x="3562350" y="35433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Monthly API settings</a:t>
            </a:r>
          </a:p>
        </p:txBody>
      </p:sp>
      <p:sp>
        <p:nvSpPr>
          <p:cNvPr id="13" name="scrape-arrow-1">
            <a:extLst xmlns:a="http://schemas.openxmlformats.org/drawingml/2006/main">
              <a:ext uri="{FF2B5EF4-FFF2-40B4-BE49-F238E27FC236}">
                <a16:creationId xmlns:a16="http://schemas.microsoft.com/office/drawing/2014/main" id="{EF3C3484-B58A-412C-A716-5E7E162DC639}"/>
              </a:ext>
            </a:extLst>
          </p:cNvPr>
          <p:cNvSpPr>
            <a:spLocks xmlns:a="http://schemas.openxmlformats.org/drawingml/2006/main" noGrp="1"/>
          </p:cNvSpPr>
          <p:nvPr/>
        </p:nvSpPr>
        <p:spPr>
          <a:xfrm xmlns:a="http://schemas.openxmlformats.org/drawingml/2006/main">
            <a:off x="6076950" y="3124200"/>
            <a:ext cx="219075" cy="0"/>
          </a:xfrm>
          <a:prstGeom xmlns:a="http://schemas.openxmlformats.org/drawingml/2006/main" prst="line">
            <a:avLst/>
          </a:prstGeom>
          <a:noFill xmlns:a="http://schemas.openxmlformats.org/drawingml/2006/main"/>
          <a:ln xmlns:a="http://schemas.openxmlformats.org/drawingml/2006/main" w="19050">
            <a:solidFill>
              <a:srgbClr val="A8BCAF"/>
            </a:solidFill>
            <a:prstDash val="solid"/>
          </a:ln>
        </p:spPr>
      </p:sp>
      <p:sp>
        <p:nvSpPr>
          <p:cNvPr id="14" name="scrape-step-2">
            <a:extLst xmlns:a="http://schemas.openxmlformats.org/drawingml/2006/main">
              <a:ext uri="{FF2B5EF4-FFF2-40B4-BE49-F238E27FC236}">
                <a16:creationId xmlns:a16="http://schemas.microsoft.com/office/drawing/2014/main" id="{04A46834-8FC8-4E4E-9806-8D2E2A878002}"/>
              </a:ext>
            </a:extLst>
          </p:cNvPr>
          <p:cNvSpPr>
            <a:spLocks xmlns:a="http://schemas.openxmlformats.org/drawingml/2006/main" noGrp="1"/>
          </p:cNvSpPr>
          <p:nvPr/>
        </p:nvSpPr>
        <p:spPr>
          <a:xfrm xmlns:a="http://schemas.openxmlformats.org/drawingml/2006/main">
            <a:off x="6343650" y="24765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B37B54"/>
                </a:solidFill>
                <a:latin typeface="Arial"/>
                <a:ea typeface="Arial"/>
                <a:cs typeface="Arial"/>
              </a:defRPr>
            </a:defPPr>
          </a:lstStyle>
          <a:p xmlns:a="http://schemas.openxmlformats.org/drawingml/2006/main">
            <a:pPr algn="l">
              <a:lnSpc>
                <a:spcPct val="104000"/>
              </a:lnSpc>
              <a:buNone/>
              <a:defRPr sz="1800" b="1">
                <a:solidFill>
                  <a:srgbClr val="B37B54"/>
                </a:solidFill>
                <a:latin typeface="Arial"/>
                <a:ea typeface="Arial"/>
                <a:cs typeface="Arial"/>
              </a:defRPr>
            </a:pPr>
            <a:r>
              <a:rPr sz="1800" b="1">
                <a:solidFill>
                  <a:srgbClr val="B37B54"/>
                </a:solidFill>
                <a:latin typeface="Arial"/>
                <a:ea typeface="Arial"/>
                <a:cs typeface="Arial"/>
              </a:rPr>
              <a:t>3</a:t>
            </a:r>
          </a:p>
        </p:txBody>
      </p:sp>
      <p:sp>
        <p:nvSpPr>
          <p:cNvPr id="15" name="scrape-title-2">
            <a:extLst xmlns:a="http://schemas.openxmlformats.org/drawingml/2006/main">
              <a:ext uri="{FF2B5EF4-FFF2-40B4-BE49-F238E27FC236}">
                <a16:creationId xmlns:a16="http://schemas.microsoft.com/office/drawing/2014/main" id="{26B50177-166D-4334-B18A-67F5946ADCF0}"/>
              </a:ext>
            </a:extLst>
          </p:cNvPr>
          <p:cNvSpPr>
            <a:spLocks xmlns:a="http://schemas.openxmlformats.org/drawingml/2006/main" noGrp="1"/>
          </p:cNvSpPr>
          <p:nvPr/>
        </p:nvSpPr>
        <p:spPr>
          <a:xfrm xmlns:a="http://schemas.openxmlformats.org/drawingml/2006/main">
            <a:off x="6343650" y="298132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4362F"/>
                </a:solidFill>
                <a:latin typeface="Arial"/>
                <a:ea typeface="Arial"/>
                <a:cs typeface="Arial"/>
              </a:defRPr>
            </a:defPPr>
          </a:lstStyle>
          <a:p xmlns:a="http://schemas.openxmlformats.org/drawingml/2006/main">
            <a:pPr algn="l">
              <a:lnSpc>
                <a:spcPct val="104000"/>
              </a:lnSpc>
              <a:buNone/>
              <a:defRPr sz="1875" b="1">
                <a:solidFill>
                  <a:srgbClr val="24362F"/>
                </a:solidFill>
                <a:latin typeface="Arial"/>
                <a:ea typeface="Arial"/>
                <a:cs typeface="Arial"/>
              </a:defRPr>
            </a:pPr>
            <a:r>
              <a:rPr sz="1875" b="1">
                <a:solidFill>
                  <a:srgbClr val="24362F"/>
                </a:solidFill>
                <a:latin typeface="Arial"/>
                <a:ea typeface="Arial"/>
                <a:cs typeface="Arial"/>
              </a:rPr>
              <a:t>Retrieve response</a:t>
            </a:r>
          </a:p>
        </p:txBody>
      </p:sp>
      <p:sp>
        <p:nvSpPr>
          <p:cNvPr id="16" name="scrape-body-2">
            <a:extLst xmlns:a="http://schemas.openxmlformats.org/drawingml/2006/main">
              <a:ext uri="{FF2B5EF4-FFF2-40B4-BE49-F238E27FC236}">
                <a16:creationId xmlns:a16="http://schemas.microsoft.com/office/drawing/2014/main" id="{7F2533DD-E98A-4A1A-93DF-E1148463C473}"/>
              </a:ext>
            </a:extLst>
          </p:cNvPr>
          <p:cNvSpPr>
            <a:spLocks xmlns:a="http://schemas.openxmlformats.org/drawingml/2006/main" noGrp="1"/>
          </p:cNvSpPr>
          <p:nvPr/>
        </p:nvSpPr>
        <p:spPr>
          <a:xfrm xmlns:a="http://schemas.openxmlformats.org/drawingml/2006/main">
            <a:off x="6343650" y="35433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CSV for one point</a:t>
            </a:r>
          </a:p>
        </p:txBody>
      </p:sp>
      <p:sp>
        <p:nvSpPr>
          <p:cNvPr id="17" name="scrape-arrow-2">
            <a:extLst xmlns:a="http://schemas.openxmlformats.org/drawingml/2006/main">
              <a:ext uri="{FF2B5EF4-FFF2-40B4-BE49-F238E27FC236}">
                <a16:creationId xmlns:a16="http://schemas.microsoft.com/office/drawing/2014/main" id="{0B49D9B8-65A1-4E61-916B-1FF2ADDEBB12}"/>
              </a:ext>
            </a:extLst>
          </p:cNvPr>
          <p:cNvSpPr>
            <a:spLocks xmlns:a="http://schemas.openxmlformats.org/drawingml/2006/main" noGrp="1"/>
          </p:cNvSpPr>
          <p:nvPr/>
        </p:nvSpPr>
        <p:spPr>
          <a:xfrm xmlns:a="http://schemas.openxmlformats.org/drawingml/2006/main">
            <a:off x="8858250" y="3124200"/>
            <a:ext cx="219075" cy="0"/>
          </a:xfrm>
          <a:prstGeom xmlns:a="http://schemas.openxmlformats.org/drawingml/2006/main" prst="line">
            <a:avLst/>
          </a:prstGeom>
          <a:noFill xmlns:a="http://schemas.openxmlformats.org/drawingml/2006/main"/>
          <a:ln xmlns:a="http://schemas.openxmlformats.org/drawingml/2006/main" w="19050">
            <a:solidFill>
              <a:srgbClr val="A8BCAF"/>
            </a:solidFill>
            <a:prstDash val="solid"/>
          </a:ln>
        </p:spPr>
      </p:sp>
      <p:sp>
        <p:nvSpPr>
          <p:cNvPr id="18" name="scrape-step-3">
            <a:extLst xmlns:a="http://schemas.openxmlformats.org/drawingml/2006/main">
              <a:ext uri="{FF2B5EF4-FFF2-40B4-BE49-F238E27FC236}">
                <a16:creationId xmlns:a16="http://schemas.microsoft.com/office/drawing/2014/main" id="{77A68256-F2E7-4FBC-A57A-6FB4BAA5F1FA}"/>
              </a:ext>
            </a:extLst>
          </p:cNvPr>
          <p:cNvSpPr>
            <a:spLocks xmlns:a="http://schemas.openxmlformats.org/drawingml/2006/main" noGrp="1"/>
          </p:cNvSpPr>
          <p:nvPr/>
        </p:nvSpPr>
        <p:spPr>
          <a:xfrm xmlns:a="http://schemas.openxmlformats.org/drawingml/2006/main">
            <a:off x="9124950" y="2476500"/>
            <a:ext cx="42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557985"/>
                </a:solidFill>
                <a:latin typeface="Arial"/>
                <a:ea typeface="Arial"/>
                <a:cs typeface="Arial"/>
              </a:defRPr>
            </a:defPPr>
          </a:lstStyle>
          <a:p xmlns:a="http://schemas.openxmlformats.org/drawingml/2006/main">
            <a:pPr algn="l">
              <a:lnSpc>
                <a:spcPct val="104000"/>
              </a:lnSpc>
              <a:buNone/>
              <a:defRPr sz="1800" b="1">
                <a:solidFill>
                  <a:srgbClr val="557985"/>
                </a:solidFill>
                <a:latin typeface="Arial"/>
                <a:ea typeface="Arial"/>
                <a:cs typeface="Arial"/>
              </a:defRPr>
            </a:pPr>
            <a:r>
              <a:rPr sz="1800" b="1">
                <a:solidFill>
                  <a:srgbClr val="557985"/>
                </a:solidFill>
                <a:latin typeface="Arial"/>
                <a:ea typeface="Arial"/>
                <a:cs typeface="Arial"/>
              </a:rPr>
              <a:t>4</a:t>
            </a:r>
          </a:p>
        </p:txBody>
      </p:sp>
      <p:sp>
        <p:nvSpPr>
          <p:cNvPr id="19" name="scrape-title-3">
            <a:extLst xmlns:a="http://schemas.openxmlformats.org/drawingml/2006/main">
              <a:ext uri="{FF2B5EF4-FFF2-40B4-BE49-F238E27FC236}">
                <a16:creationId xmlns:a16="http://schemas.microsoft.com/office/drawing/2014/main" id="{AAA80C97-9A80-4459-9AA8-543E4A853617}"/>
              </a:ext>
            </a:extLst>
          </p:cNvPr>
          <p:cNvSpPr>
            <a:spLocks xmlns:a="http://schemas.openxmlformats.org/drawingml/2006/main" noGrp="1"/>
          </p:cNvSpPr>
          <p:nvPr/>
        </p:nvSpPr>
        <p:spPr>
          <a:xfrm xmlns:a="http://schemas.openxmlformats.org/drawingml/2006/main">
            <a:off x="9124950" y="298132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4362F"/>
                </a:solidFill>
                <a:latin typeface="Arial"/>
                <a:ea typeface="Arial"/>
                <a:cs typeface="Arial"/>
              </a:defRPr>
            </a:defPPr>
          </a:lstStyle>
          <a:p xmlns:a="http://schemas.openxmlformats.org/drawingml/2006/main">
            <a:pPr algn="l">
              <a:lnSpc>
                <a:spcPct val="104000"/>
              </a:lnSpc>
              <a:buNone/>
              <a:defRPr sz="1875" b="1">
                <a:solidFill>
                  <a:srgbClr val="24362F"/>
                </a:solidFill>
                <a:latin typeface="Arial"/>
                <a:ea typeface="Arial"/>
                <a:cs typeface="Arial"/>
              </a:defRPr>
            </a:pPr>
            <a:r>
              <a:rPr sz="1875" b="1">
                <a:solidFill>
                  <a:srgbClr val="24362F"/>
                </a:solidFill>
                <a:latin typeface="Arial"/>
                <a:ea typeface="Arial"/>
                <a:cs typeface="Arial"/>
              </a:rPr>
              <a:t>Save result</a:t>
            </a:r>
          </a:p>
        </p:txBody>
      </p:sp>
      <p:sp>
        <p:nvSpPr>
          <p:cNvPr id="20" name="scrape-body-3">
            <a:extLst xmlns:a="http://schemas.openxmlformats.org/drawingml/2006/main">
              <a:ext uri="{FF2B5EF4-FFF2-40B4-BE49-F238E27FC236}">
                <a16:creationId xmlns:a16="http://schemas.microsoft.com/office/drawing/2014/main" id="{4EBC287D-1EF5-4F59-A04A-CE9A93265427}"/>
              </a:ext>
            </a:extLst>
          </p:cNvPr>
          <p:cNvSpPr>
            <a:spLocks xmlns:a="http://schemas.openxmlformats.org/drawingml/2006/main" noGrp="1"/>
          </p:cNvSpPr>
          <p:nvPr/>
        </p:nvSpPr>
        <p:spPr>
          <a:xfrm xmlns:a="http://schemas.openxmlformats.org/drawingml/2006/main">
            <a:off x="9124950" y="35433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Organized by city and point</a:t>
            </a:r>
          </a:p>
        </p:txBody>
      </p:sp>
      <p:sp>
        <p:nvSpPr>
          <p:cNvPr id="21" name="scrape-bottom-rule">
            <a:extLst xmlns:a="http://schemas.openxmlformats.org/drawingml/2006/main">
              <a:ext uri="{FF2B5EF4-FFF2-40B4-BE49-F238E27FC236}">
                <a16:creationId xmlns:a16="http://schemas.microsoft.com/office/drawing/2014/main" id="{F9E7703C-1953-433D-9CF2-28DA758C8CC4}"/>
              </a:ext>
            </a:extLst>
          </p:cNvPr>
          <p:cNvSpPr>
            <a:spLocks xmlns:a="http://schemas.openxmlformats.org/drawingml/2006/main" noGrp="1"/>
          </p:cNvSpPr>
          <p:nvPr/>
        </p:nvSpPr>
        <p:spPr>
          <a:xfrm xmlns:a="http://schemas.openxmlformats.org/drawingml/2006/main">
            <a:off x="800100" y="4695825"/>
            <a:ext cx="10534650" cy="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22" name="scrape-detail">
            <a:extLst xmlns:a="http://schemas.openxmlformats.org/drawingml/2006/main">
              <a:ext uri="{FF2B5EF4-FFF2-40B4-BE49-F238E27FC236}">
                <a16:creationId xmlns:a16="http://schemas.microsoft.com/office/drawing/2014/main" id="{CA06FC17-0664-4C1F-9B50-5D0256099D7A}"/>
              </a:ext>
            </a:extLst>
          </p:cNvPr>
          <p:cNvSpPr>
            <a:spLocks xmlns:a="http://schemas.openxmlformats.org/drawingml/2006/main" noGrp="1"/>
          </p:cNvSpPr>
          <p:nvPr/>
        </p:nvSpPr>
        <p:spPr>
          <a:xfrm xmlns:a="http://schemas.openxmlformats.org/drawingml/2006/main">
            <a:off x="800100" y="50577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45675B"/>
                </a:solidFill>
                <a:latin typeface="Arial"/>
                <a:ea typeface="Arial"/>
                <a:cs typeface="Arial"/>
              </a:defRPr>
            </a:defPPr>
          </a:lstStyle>
          <a:p xmlns:a="http://schemas.openxmlformats.org/drawingml/2006/main">
            <a:pPr algn="l">
              <a:lnSpc>
                <a:spcPct val="104000"/>
              </a:lnSpc>
              <a:buNone/>
              <a:defRPr sz="1650" b="0">
                <a:solidFill>
                  <a:srgbClr val="45675B"/>
                </a:solidFill>
                <a:latin typeface="Arial"/>
                <a:ea typeface="Arial"/>
                <a:cs typeface="Arial"/>
              </a:defRPr>
            </a:pPr>
            <a:r>
              <a:rPr sz="1650" b="0">
                <a:solidFill>
                  <a:srgbClr val="45675B"/>
                </a:solidFill>
                <a:latin typeface="Arial"/>
                <a:ea typeface="Arial"/>
                <a:cs typeface="Arial"/>
              </a:rPr>
              <a:t>The source presentation describes a one-second pause after successful requests.</a:t>
            </a:r>
          </a:p>
        </p:txBody>
      </p:sp>
    </p:spTree>
    <p:extLst>
      <p:ext uri="{BB962C8B-B14F-4D97-AF65-F5344CB8AC3E}">
        <p14:creationId xmlns:p14="http://schemas.microsoft.com/office/powerpoint/2010/main" val="1128757762"/>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2E383B95-88D4-45DA-8D1C-A94E3CF62D85}"/>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SCRAPING · 4 OF 6</a:t>
            </a:r>
          </a:p>
        </p:txBody>
      </p:sp>
      <p:sp>
        <p:nvSpPr>
          <p:cNvPr id="2" name="slide-title">
            <a:extLst xmlns:a="http://schemas.openxmlformats.org/drawingml/2006/main">
              <a:ext uri="{FF2B5EF4-FFF2-40B4-BE49-F238E27FC236}">
                <a16:creationId xmlns:a16="http://schemas.microsoft.com/office/drawing/2014/main" id="{86BAA5F0-2A6C-4444-8664-434FD6559BD7}"/>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What comes back in a point CSV</a:t>
            </a:r>
          </a:p>
        </p:txBody>
      </p:sp>
      <p:sp>
        <p:nvSpPr>
          <p:cNvPr id="3" name="slide-subtitle">
            <a:extLst xmlns:a="http://schemas.openxmlformats.org/drawingml/2006/main">
              <a:ext uri="{FF2B5EF4-FFF2-40B4-BE49-F238E27FC236}">
                <a16:creationId xmlns:a16="http://schemas.microsoft.com/office/drawing/2014/main" id="{142A474B-4F54-4D79-A869-C5F534E2FA13}"/>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response includes a location header and a parameter-by-year table.</a:t>
            </a:r>
          </a:p>
        </p:txBody>
      </p:sp>
      <p:sp>
        <p:nvSpPr>
          <p:cNvPr id="4" name="header-rule">
            <a:extLst xmlns:a="http://schemas.openxmlformats.org/drawingml/2006/main">
              <a:ext uri="{FF2B5EF4-FFF2-40B4-BE49-F238E27FC236}">
                <a16:creationId xmlns:a16="http://schemas.microsoft.com/office/drawing/2014/main" id="{04B333A1-0D99-4251-92F5-11A1483FEB07}"/>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3F1F4E9A-7D69-4379-9F63-4CD10B14D615}"/>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05</a:t>
            </a:r>
          </a:p>
        </p:txBody>
      </p:sp>
      <p:sp>
        <p:nvSpPr>
          <p:cNvPr id="6" name="raw-example-band">
            <a:extLst xmlns:a="http://schemas.openxmlformats.org/drawingml/2006/main">
              <a:ext uri="{FF2B5EF4-FFF2-40B4-BE49-F238E27FC236}">
                <a16:creationId xmlns:a16="http://schemas.microsoft.com/office/drawing/2014/main" id="{7F014CAA-AA21-4875-882A-741D6B2D0377}"/>
              </a:ext>
            </a:extLst>
          </p:cNvPr>
          <p:cNvSpPr>
            <a:spLocks xmlns:a="http://schemas.openxmlformats.org/drawingml/2006/main" noGrp="1"/>
          </p:cNvSpPr>
          <p:nvPr/>
        </p:nvSpPr>
        <p:spPr>
          <a:xfrm xmlns:a="http://schemas.openxmlformats.org/drawingml/2006/main">
            <a:off x="800100" y="2114550"/>
            <a:ext cx="10572750" cy="666750"/>
          </a:xfrm>
          <a:prstGeom xmlns:a="http://schemas.openxmlformats.org/drawingml/2006/main" prst="rect">
            <a:avLst/>
          </a:prstGeom>
          <a:solidFill xmlns:a="http://schemas.openxmlformats.org/drawingml/2006/main">
            <a:srgbClr val="E7EFF0"/>
          </a:solidFill>
          <a:ln xmlns:a="http://schemas.openxmlformats.org/drawingml/2006/main" w="0">
            <a:noFill/>
            <a:prstDash val="solid"/>
          </a:ln>
        </p:spPr>
      </p:sp>
      <p:sp>
        <p:nvSpPr>
          <p:cNvPr id="7" name="raw-header-example">
            <a:extLst xmlns:a="http://schemas.openxmlformats.org/drawingml/2006/main">
              <a:ext uri="{FF2B5EF4-FFF2-40B4-BE49-F238E27FC236}">
                <a16:creationId xmlns:a16="http://schemas.microsoft.com/office/drawing/2014/main" id="{5070E093-0D42-4628-91D0-F293EBEBCEAE}"/>
              </a:ext>
            </a:extLst>
          </p:cNvPr>
          <p:cNvSpPr>
            <a:spLocks xmlns:a="http://schemas.openxmlformats.org/drawingml/2006/main" noGrp="1"/>
          </p:cNvSpPr>
          <p:nvPr/>
        </p:nvSpPr>
        <p:spPr>
          <a:xfrm xmlns:a="http://schemas.openxmlformats.org/drawingml/2006/main">
            <a:off x="1028700" y="230505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557985"/>
                </a:solidFill>
                <a:latin typeface="Arial"/>
                <a:ea typeface="Arial"/>
                <a:cs typeface="Arial"/>
              </a:defRPr>
            </a:defPPr>
          </a:lstStyle>
          <a:p xmlns:a="http://schemas.openxmlformats.org/drawingml/2006/main">
            <a:pPr algn="l">
              <a:lnSpc>
                <a:spcPct val="104000"/>
              </a:lnSpc>
              <a:buNone/>
              <a:defRPr sz="1800" b="1">
                <a:solidFill>
                  <a:srgbClr val="557985"/>
                </a:solidFill>
                <a:latin typeface="Arial"/>
                <a:ea typeface="Arial"/>
                <a:cs typeface="Arial"/>
              </a:defRPr>
            </a:pPr>
            <a:r>
              <a:rPr sz="1800" b="1">
                <a:solidFill>
                  <a:srgbClr val="557985"/>
                </a:solidFill>
                <a:latin typeface="Arial"/>
                <a:ea typeface="Arial"/>
                <a:cs typeface="Arial"/>
              </a:rPr>
              <a:t>Location: Latitude 22.95  Longitude 72.65</a:t>
            </a:r>
          </a:p>
        </p:txBody>
      </p:sp>
      <p:graphicFrame>
        <p:nvGraphicFramePr>
          <p:cNvPr id="8" name="">
            <a:extLst xmlns:a="http://schemas.openxmlformats.org/drawingml/2006/main">
              <a:ext uri="{FF2B5EF4-FFF2-40B4-BE49-F238E27FC236}">
                <a16:creationId xmlns:a16="http://schemas.microsoft.com/office/drawing/2014/main" id="{337F076A-E7D5-4346-9C9E-D86F3B4F9786}"/>
              </a:ext>
            </a:extLst>
          </p:cNvPr>
          <p:cNvGraphicFramePr/>
          <p:nvPr/>
        </p:nvGraphicFramePr>
        <p:xfrm>
          <a:off xmlns:a="http://schemas.openxmlformats.org/drawingml/2006/main" x="800100" y="3171825"/>
          <a:ext xmlns:a="http://schemas.openxmlformats.org/drawingml/2006/main" cx="10572750" cy="1162050"/>
        </p:xfrm>
        <a:graphic xmlns:a="http://schemas.openxmlformats.org/drawingml/2006/main">
          <a:graphicData uri="http://schemas.openxmlformats.org/drawingml/2006/table">
            <a:tbl>
              <a:tblPr/>
              <a:tblGrid>
                <a:gridCol w="2381250"/>
                <a:gridCol w="1428750"/>
                <a:gridCol w="1333500"/>
                <a:gridCol w="1333500"/>
                <a:gridCol w="952500"/>
                <a:gridCol w="1333500"/>
                <a:gridCol w="1809750"/>
              </a:tblGrid>
              <a:tr h="581025">
                <a:tc>
                  <a:txBody>
                    <a:bodyPr wrap="square" lIns="76200" tIns="76200" rIns="76200" bIns="76200">
                      <a:normAutofit/>
                    </a:bodyPr>
                    <a:lstStyle/>
                    <a:p>
                      <a:pPr algn="l"/>
                      <a:r>
                        <a:rPr sz="1275" b="1">
                          <a:solidFill>
                            <a:srgbClr val="45675B"/>
                          </a:solidFill>
                          <a:latin typeface="Arial"/>
                          <a:ea typeface="Arial"/>
                          <a:cs typeface="Arial"/>
                        </a:rPr>
                        <a:t>PARAMETER</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YEAR</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JAN</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FEB</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DEC</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ANN</a:t>
                      </a:r>
                    </a:p>
                  </a:txBody>
                  <a:tcPr marL="91440" marR="91440" marT="45720" marB="45720" anchor="ctr">
                    <a:solidFill>
                      <a:srgbClr val="E7EEE8"/>
                    </a:solidFill>
                  </a:tcPr>
                </a:tc>
              </a:tr>
              <a:tr h="581025">
                <a:tc>
                  <a:txBody>
                    <a:bodyPr wrap="square" lIns="76200" tIns="76200" rIns="76200" bIns="76200">
                      <a:normAutofit/>
                    </a:bodyPr>
                    <a:lstStyle/>
                    <a:p>
                      <a:pPr algn="l"/>
                      <a:r>
                        <a:rPr sz="1575">
                          <a:solidFill>
                            <a:srgbClr val="24362F"/>
                          </a:solidFill>
                          <a:latin typeface="Arial"/>
                          <a:ea typeface="Arial"/>
                          <a:cs typeface="Arial"/>
                        </a:rPr>
                        <a:t>T2M</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2000</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21.79</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Annual</a:t>
                      </a:r>
                    </a:p>
                  </a:txBody>
                  <a:tcPr marL="91440" marR="91440" marT="45720" marB="45720" anchor="ctr">
                    <a:solidFill>
                      <a:srgbClr val="FFFFFF"/>
                    </a:solidFill>
                  </a:tcPr>
                </a:tc>
              </a:tr>
            </a:tbl>
          </a:graphicData>
        </a:graphic>
      </p:graphicFrame>
      <p:sp>
        <p:nvSpPr>
          <p:cNvPr id="9" name="raw-interpretation">
            <a:extLst xmlns:a="http://schemas.openxmlformats.org/drawingml/2006/main">
              <a:ext uri="{FF2B5EF4-FFF2-40B4-BE49-F238E27FC236}">
                <a16:creationId xmlns:a16="http://schemas.microsoft.com/office/drawing/2014/main" id="{1AEE6F52-72E0-41A5-88F6-F28104FB65F0}"/>
              </a:ext>
            </a:extLst>
          </p:cNvPr>
          <p:cNvSpPr>
            <a:spLocks xmlns:a="http://schemas.openxmlformats.org/drawingml/2006/main" noGrp="1"/>
          </p:cNvSpPr>
          <p:nvPr/>
        </p:nvSpPr>
        <p:spPr>
          <a:xfrm xmlns:a="http://schemas.openxmlformats.org/drawingml/2006/main">
            <a:off x="819150" y="48482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24362F"/>
                </a:solidFill>
                <a:latin typeface="Arial"/>
                <a:ea typeface="Arial"/>
                <a:cs typeface="Arial"/>
              </a:defRPr>
            </a:defPPr>
          </a:lstStyle>
          <a:p xmlns:a="http://schemas.openxmlformats.org/drawingml/2006/main">
            <a:pPr algn="l">
              <a:lnSpc>
                <a:spcPct val="104000"/>
              </a:lnSpc>
              <a:buNone/>
              <a:defRPr sz="1800" b="0">
                <a:solidFill>
                  <a:srgbClr val="24362F"/>
                </a:solidFill>
                <a:latin typeface="Arial"/>
                <a:ea typeface="Arial"/>
                <a:cs typeface="Arial"/>
              </a:defRPr>
            </a:pPr>
            <a:r>
              <a:rPr sz="1800" b="0">
                <a:solidFill>
                  <a:srgbClr val="24362F"/>
                </a:solidFill>
                <a:latin typeface="Arial"/>
                <a:ea typeface="Arial"/>
                <a:cs typeface="Arial"/>
              </a:rPr>
              <a:t>JAN–DEC are monthly summaries. ANN is a separate annual summary.</a:t>
            </a:r>
          </a:p>
        </p:txBody>
      </p:sp>
      <p:sp>
        <p:nvSpPr>
          <p:cNvPr id="10" name="raw-point-meaning">
            <a:extLst xmlns:a="http://schemas.openxmlformats.org/drawingml/2006/main">
              <a:ext uri="{FF2B5EF4-FFF2-40B4-BE49-F238E27FC236}">
                <a16:creationId xmlns:a16="http://schemas.microsoft.com/office/drawing/2014/main" id="{47BB64E9-2D6B-4CFA-A9B9-8519F646865D}"/>
              </a:ext>
            </a:extLst>
          </p:cNvPr>
          <p:cNvSpPr>
            <a:spLocks xmlns:a="http://schemas.openxmlformats.org/drawingml/2006/main" noGrp="1"/>
          </p:cNvSpPr>
          <p:nvPr/>
        </p:nvSpPr>
        <p:spPr>
          <a:xfrm xmlns:a="http://schemas.openxmlformats.org/drawingml/2006/main">
            <a:off x="819150" y="54102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One CSV corresponds to one measurement point.</a:t>
            </a:r>
          </a:p>
        </p:txBody>
      </p:sp>
    </p:spTree>
    <p:extLst>
      <p:ext uri="{BB962C8B-B14F-4D97-AF65-F5344CB8AC3E}">
        <p14:creationId xmlns:p14="http://schemas.microsoft.com/office/powerpoint/2010/main" val="687681742"/>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E5097757-9800-48C2-B0F2-C94BCD5C76F9}"/>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SCRAPING · 5 OF 6</a:t>
            </a:r>
          </a:p>
        </p:txBody>
      </p:sp>
      <p:sp>
        <p:nvSpPr>
          <p:cNvPr id="2" name="slide-title">
            <a:extLst xmlns:a="http://schemas.openxmlformats.org/drawingml/2006/main">
              <a:ext uri="{FF2B5EF4-FFF2-40B4-BE49-F238E27FC236}">
                <a16:creationId xmlns:a16="http://schemas.microsoft.com/office/drawing/2014/main" id="{0DCDC304-1158-4A1D-A69E-7E9ED9538FB2}"/>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Local files show the current collection</a:t>
            </a:r>
          </a:p>
        </p:txBody>
      </p:sp>
      <p:sp>
        <p:nvSpPr>
          <p:cNvPr id="3" name="slide-subtitle">
            <a:extLst xmlns:a="http://schemas.openxmlformats.org/drawingml/2006/main">
              <a:ext uri="{FF2B5EF4-FFF2-40B4-BE49-F238E27FC236}">
                <a16:creationId xmlns:a16="http://schemas.microsoft.com/office/drawing/2014/main" id="{17D8D333-0C64-4E68-9DCC-68F85A7AC308}"/>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repository contains a processed subset of the documented plan.</a:t>
            </a:r>
          </a:p>
        </p:txBody>
      </p:sp>
      <p:sp>
        <p:nvSpPr>
          <p:cNvPr id="4" name="header-rule">
            <a:extLst xmlns:a="http://schemas.openxmlformats.org/drawingml/2006/main">
              <a:ext uri="{FF2B5EF4-FFF2-40B4-BE49-F238E27FC236}">
                <a16:creationId xmlns:a16="http://schemas.microsoft.com/office/drawing/2014/main" id="{6CACA9FF-925A-41BF-93C5-88DF2A23C419}"/>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EAF18BA7-6438-4CAD-8A59-802E74CA3045}"/>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06</a:t>
            </a:r>
          </a:p>
        </p:txBody>
      </p:sp>
      <p:sp>
        <p:nvSpPr>
          <p:cNvPr id="6" name="local-metric-0">
            <a:extLst xmlns:a="http://schemas.openxmlformats.org/drawingml/2006/main">
              <a:ext uri="{FF2B5EF4-FFF2-40B4-BE49-F238E27FC236}">
                <a16:creationId xmlns:a16="http://schemas.microsoft.com/office/drawing/2014/main" id="{CB8089B5-68C9-40E9-8826-9A33EA4EE23E}"/>
              </a:ext>
            </a:extLst>
          </p:cNvPr>
          <p:cNvSpPr>
            <a:spLocks xmlns:a="http://schemas.openxmlformats.org/drawingml/2006/main" noGrp="1"/>
          </p:cNvSpPr>
          <p:nvPr/>
        </p:nvSpPr>
        <p:spPr>
          <a:xfrm xmlns:a="http://schemas.openxmlformats.org/drawingml/2006/main">
            <a:off x="809625" y="24765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180"/>
          </a:bodyPr>
          <a:lstStyle xmlns:a="http://schemas.openxmlformats.org/drawingml/2006/main">
            <a:defPPr algn="l">
              <a:defRPr sz="4350" b="1">
                <a:solidFill>
                  <a:srgbClr val="45675B"/>
                </a:solidFill>
                <a:latin typeface="Arial"/>
                <a:ea typeface="Arial"/>
                <a:cs typeface="Arial"/>
              </a:defRPr>
            </a:defPPr>
          </a:lstStyle>
          <a:p xmlns:a="http://schemas.openxmlformats.org/drawingml/2006/main">
            <a:pPr algn="l">
              <a:lnSpc>
                <a:spcPct val="104000"/>
              </a:lnSpc>
              <a:buNone/>
              <a:defRPr sz="4350" b="1">
                <a:solidFill>
                  <a:srgbClr val="45675B"/>
                </a:solidFill>
                <a:latin typeface="Arial"/>
                <a:ea typeface="Arial"/>
                <a:cs typeface="Arial"/>
              </a:defRPr>
            </a:pPr>
            <a:r>
              <a:rPr sz="4350" b="1">
                <a:solidFill>
                  <a:srgbClr val="45675B"/>
                </a:solidFill>
                <a:latin typeface="Arial"/>
                <a:ea typeface="Arial"/>
                <a:cs typeface="Arial"/>
              </a:rPr>
              <a:t>89</a:t>
            </a:r>
          </a:p>
        </p:txBody>
      </p:sp>
      <p:sp>
        <p:nvSpPr>
          <p:cNvPr id="7" name="local-caption-0">
            <a:extLst xmlns:a="http://schemas.openxmlformats.org/drawingml/2006/main">
              <a:ext uri="{FF2B5EF4-FFF2-40B4-BE49-F238E27FC236}">
                <a16:creationId xmlns:a16="http://schemas.microsoft.com/office/drawing/2014/main" id="{455747CB-D9FB-424A-802A-9B16D167FD10}"/>
              </a:ext>
            </a:extLst>
          </p:cNvPr>
          <p:cNvSpPr>
            <a:spLocks xmlns:a="http://schemas.openxmlformats.org/drawingml/2006/main" noGrp="1"/>
          </p:cNvSpPr>
          <p:nvPr/>
        </p:nvSpPr>
        <p:spPr>
          <a:xfrm xmlns:a="http://schemas.openxmlformats.org/drawingml/2006/main">
            <a:off x="809625" y="3181350"/>
            <a:ext cx="2333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point files</a:t>
            </a:r>
          </a:p>
        </p:txBody>
      </p:sp>
      <p:sp>
        <p:nvSpPr>
          <p:cNvPr id="8" name="local-divider-0">
            <a:extLst xmlns:a="http://schemas.openxmlformats.org/drawingml/2006/main">
              <a:ext uri="{FF2B5EF4-FFF2-40B4-BE49-F238E27FC236}">
                <a16:creationId xmlns:a16="http://schemas.microsoft.com/office/drawing/2014/main" id="{B40C024C-192F-46D0-82A1-54E959626612}"/>
              </a:ext>
            </a:extLst>
          </p:cNvPr>
          <p:cNvSpPr>
            <a:spLocks xmlns:a="http://schemas.openxmlformats.org/drawingml/2006/main" noGrp="1"/>
          </p:cNvSpPr>
          <p:nvPr/>
        </p:nvSpPr>
        <p:spPr>
          <a:xfrm xmlns:a="http://schemas.openxmlformats.org/drawingml/2006/main">
            <a:off x="3238500" y="2400300"/>
            <a:ext cx="0" cy="1457325"/>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9" name="local-metric-1">
            <a:extLst xmlns:a="http://schemas.openxmlformats.org/drawingml/2006/main">
              <a:ext uri="{FF2B5EF4-FFF2-40B4-BE49-F238E27FC236}">
                <a16:creationId xmlns:a16="http://schemas.microsoft.com/office/drawing/2014/main" id="{6B07FCD9-7852-4109-B6C0-37CC70A618E9}"/>
              </a:ext>
            </a:extLst>
          </p:cNvPr>
          <p:cNvSpPr>
            <a:spLocks xmlns:a="http://schemas.openxmlformats.org/drawingml/2006/main" noGrp="1"/>
          </p:cNvSpPr>
          <p:nvPr/>
        </p:nvSpPr>
        <p:spPr>
          <a:xfrm xmlns:a="http://schemas.openxmlformats.org/drawingml/2006/main">
            <a:off x="3476625" y="24765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180"/>
          </a:bodyPr>
          <a:lstStyle xmlns:a="http://schemas.openxmlformats.org/drawingml/2006/main">
            <a:defPPr algn="l">
              <a:defRPr sz="4350" b="1">
                <a:solidFill>
                  <a:srgbClr val="557985"/>
                </a:solidFill>
                <a:latin typeface="Arial"/>
                <a:ea typeface="Arial"/>
                <a:cs typeface="Arial"/>
              </a:defRPr>
            </a:defPPr>
          </a:lstStyle>
          <a:p xmlns:a="http://schemas.openxmlformats.org/drawingml/2006/main">
            <a:pPr algn="l">
              <a:lnSpc>
                <a:spcPct val="104000"/>
              </a:lnSpc>
              <a:buNone/>
              <a:defRPr sz="4350" b="1">
                <a:solidFill>
                  <a:srgbClr val="557985"/>
                </a:solidFill>
                <a:latin typeface="Arial"/>
                <a:ea typeface="Arial"/>
                <a:cs typeface="Arial"/>
              </a:defRPr>
            </a:pPr>
            <a:r>
              <a:rPr sz="4350" b="1">
                <a:solidFill>
                  <a:srgbClr val="557985"/>
                </a:solidFill>
                <a:latin typeface="Arial"/>
                <a:ea typeface="Arial"/>
                <a:cs typeface="Arial"/>
              </a:rPr>
              <a:t>8</a:t>
            </a:r>
          </a:p>
        </p:txBody>
      </p:sp>
      <p:sp>
        <p:nvSpPr>
          <p:cNvPr id="10" name="local-caption-1">
            <a:extLst xmlns:a="http://schemas.openxmlformats.org/drawingml/2006/main">
              <a:ext uri="{FF2B5EF4-FFF2-40B4-BE49-F238E27FC236}">
                <a16:creationId xmlns:a16="http://schemas.microsoft.com/office/drawing/2014/main" id="{2A8BD66B-A8E8-4866-96CD-AC1696E80D72}"/>
              </a:ext>
            </a:extLst>
          </p:cNvPr>
          <p:cNvSpPr>
            <a:spLocks xmlns:a="http://schemas.openxmlformats.org/drawingml/2006/main" noGrp="1"/>
          </p:cNvSpPr>
          <p:nvPr/>
        </p:nvSpPr>
        <p:spPr>
          <a:xfrm xmlns:a="http://schemas.openxmlformats.org/drawingml/2006/main">
            <a:off x="3476625" y="3181350"/>
            <a:ext cx="2333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cities</a:t>
            </a:r>
          </a:p>
        </p:txBody>
      </p:sp>
      <p:sp>
        <p:nvSpPr>
          <p:cNvPr id="11" name="local-divider-1">
            <a:extLst xmlns:a="http://schemas.openxmlformats.org/drawingml/2006/main">
              <a:ext uri="{FF2B5EF4-FFF2-40B4-BE49-F238E27FC236}">
                <a16:creationId xmlns:a16="http://schemas.microsoft.com/office/drawing/2014/main" id="{7118CFDE-B16A-480A-9777-4198FC84A6EE}"/>
              </a:ext>
            </a:extLst>
          </p:cNvPr>
          <p:cNvSpPr>
            <a:spLocks xmlns:a="http://schemas.openxmlformats.org/drawingml/2006/main" noGrp="1"/>
          </p:cNvSpPr>
          <p:nvPr/>
        </p:nvSpPr>
        <p:spPr>
          <a:xfrm xmlns:a="http://schemas.openxmlformats.org/drawingml/2006/main">
            <a:off x="5905500" y="2400300"/>
            <a:ext cx="0" cy="1457325"/>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2" name="local-metric-2">
            <a:extLst xmlns:a="http://schemas.openxmlformats.org/drawingml/2006/main">
              <a:ext uri="{FF2B5EF4-FFF2-40B4-BE49-F238E27FC236}">
                <a16:creationId xmlns:a16="http://schemas.microsoft.com/office/drawing/2014/main" id="{4093461A-EBE9-4018-B326-1E8D6CC3BDC6}"/>
              </a:ext>
            </a:extLst>
          </p:cNvPr>
          <p:cNvSpPr>
            <a:spLocks xmlns:a="http://schemas.openxmlformats.org/drawingml/2006/main" noGrp="1"/>
          </p:cNvSpPr>
          <p:nvPr/>
        </p:nvSpPr>
        <p:spPr>
          <a:xfrm xmlns:a="http://schemas.openxmlformats.org/drawingml/2006/main">
            <a:off x="6143625" y="24765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180"/>
          </a:bodyPr>
          <a:lstStyle xmlns:a="http://schemas.openxmlformats.org/drawingml/2006/main">
            <a:defPPr algn="l">
              <a:defRPr sz="4350" b="1">
                <a:solidFill>
                  <a:srgbClr val="45675B"/>
                </a:solidFill>
                <a:latin typeface="Arial"/>
                <a:ea typeface="Arial"/>
                <a:cs typeface="Arial"/>
              </a:defRPr>
            </a:defPPr>
          </a:lstStyle>
          <a:p xmlns:a="http://schemas.openxmlformats.org/drawingml/2006/main">
            <a:pPr algn="l">
              <a:lnSpc>
                <a:spcPct val="104000"/>
              </a:lnSpc>
              <a:buNone/>
              <a:defRPr sz="4350" b="1">
                <a:solidFill>
                  <a:srgbClr val="45675B"/>
                </a:solidFill>
                <a:latin typeface="Arial"/>
                <a:ea typeface="Arial"/>
                <a:cs typeface="Arial"/>
              </a:defRPr>
            </a:pPr>
            <a:r>
              <a:rPr sz="4350" b="1">
                <a:solidFill>
                  <a:srgbClr val="45675B"/>
                </a:solidFill>
                <a:latin typeface="Arial"/>
                <a:ea typeface="Arial"/>
                <a:cs typeface="Arial"/>
              </a:rPr>
              <a:t>15</a:t>
            </a:r>
          </a:p>
        </p:txBody>
      </p:sp>
      <p:sp>
        <p:nvSpPr>
          <p:cNvPr id="13" name="local-caption-2">
            <a:extLst xmlns:a="http://schemas.openxmlformats.org/drawingml/2006/main">
              <a:ext uri="{FF2B5EF4-FFF2-40B4-BE49-F238E27FC236}">
                <a16:creationId xmlns:a16="http://schemas.microsoft.com/office/drawing/2014/main" id="{9D642E7F-6FE9-477A-8585-7669FE363FAD}"/>
              </a:ext>
            </a:extLst>
          </p:cNvPr>
          <p:cNvSpPr>
            <a:spLocks xmlns:a="http://schemas.openxmlformats.org/drawingml/2006/main" noGrp="1"/>
          </p:cNvSpPr>
          <p:nvPr/>
        </p:nvSpPr>
        <p:spPr>
          <a:xfrm xmlns:a="http://schemas.openxmlformats.org/drawingml/2006/main">
            <a:off x="6143625" y="3181350"/>
            <a:ext cx="2333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parameters</a:t>
            </a:r>
          </a:p>
        </p:txBody>
      </p:sp>
      <p:sp>
        <p:nvSpPr>
          <p:cNvPr id="14" name="local-divider-2">
            <a:extLst xmlns:a="http://schemas.openxmlformats.org/drawingml/2006/main">
              <a:ext uri="{FF2B5EF4-FFF2-40B4-BE49-F238E27FC236}">
                <a16:creationId xmlns:a16="http://schemas.microsoft.com/office/drawing/2014/main" id="{4A465F47-2E2C-4F9D-952D-888780EC8394}"/>
              </a:ext>
            </a:extLst>
          </p:cNvPr>
          <p:cNvSpPr>
            <a:spLocks xmlns:a="http://schemas.openxmlformats.org/drawingml/2006/main" noGrp="1"/>
          </p:cNvSpPr>
          <p:nvPr/>
        </p:nvSpPr>
        <p:spPr>
          <a:xfrm xmlns:a="http://schemas.openxmlformats.org/drawingml/2006/main">
            <a:off x="8572500" y="2400300"/>
            <a:ext cx="0" cy="1457325"/>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5" name="local-metric-3">
            <a:extLst xmlns:a="http://schemas.openxmlformats.org/drawingml/2006/main">
              <a:ext uri="{FF2B5EF4-FFF2-40B4-BE49-F238E27FC236}">
                <a16:creationId xmlns:a16="http://schemas.microsoft.com/office/drawing/2014/main" id="{FD7D6806-142D-4211-8540-2151DF1365CC}"/>
              </a:ext>
            </a:extLst>
          </p:cNvPr>
          <p:cNvSpPr>
            <a:spLocks xmlns:a="http://schemas.openxmlformats.org/drawingml/2006/main" noGrp="1"/>
          </p:cNvSpPr>
          <p:nvPr/>
        </p:nvSpPr>
        <p:spPr>
          <a:xfrm xmlns:a="http://schemas.openxmlformats.org/drawingml/2006/main">
            <a:off x="8810625" y="24765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45675B"/>
                </a:solidFill>
                <a:latin typeface="Arial"/>
                <a:ea typeface="Arial"/>
                <a:cs typeface="Arial"/>
              </a:defRPr>
            </a:defPPr>
          </a:lstStyle>
          <a:p xmlns:a="http://schemas.openxmlformats.org/drawingml/2006/main">
            <a:pPr algn="l">
              <a:lnSpc>
                <a:spcPct val="104000"/>
              </a:lnSpc>
              <a:buNone/>
              <a:defRPr sz="3225" b="1">
                <a:solidFill>
                  <a:srgbClr val="45675B"/>
                </a:solidFill>
                <a:latin typeface="Arial"/>
                <a:ea typeface="Arial"/>
                <a:cs typeface="Arial"/>
              </a:defRPr>
            </a:pPr>
            <a:r>
              <a:rPr sz="3225" b="1">
                <a:solidFill>
                  <a:srgbClr val="45675B"/>
                </a:solidFill>
                <a:latin typeface="Arial"/>
                <a:ea typeface="Arial"/>
                <a:cs typeface="Arial"/>
              </a:rPr>
              <a:t>26 years</a:t>
            </a:r>
          </a:p>
        </p:txBody>
      </p:sp>
      <p:sp>
        <p:nvSpPr>
          <p:cNvPr id="16" name="local-caption-3">
            <a:extLst xmlns:a="http://schemas.openxmlformats.org/drawingml/2006/main">
              <a:ext uri="{FF2B5EF4-FFF2-40B4-BE49-F238E27FC236}">
                <a16:creationId xmlns:a16="http://schemas.microsoft.com/office/drawing/2014/main" id="{93C7822F-BA83-44F4-85B5-516A2A1516AE}"/>
              </a:ext>
            </a:extLst>
          </p:cNvPr>
          <p:cNvSpPr>
            <a:spLocks xmlns:a="http://schemas.openxmlformats.org/drawingml/2006/main" noGrp="1"/>
          </p:cNvSpPr>
          <p:nvPr/>
        </p:nvSpPr>
        <p:spPr>
          <a:xfrm xmlns:a="http://schemas.openxmlformats.org/drawingml/2006/main">
            <a:off x="8810625" y="3181350"/>
            <a:ext cx="2333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monthly coverage</a:t>
            </a:r>
          </a:p>
        </p:txBody>
      </p:sp>
      <p:sp>
        <p:nvSpPr>
          <p:cNvPr id="17" name="local-cities">
            <a:extLst xmlns:a="http://schemas.openxmlformats.org/drawingml/2006/main">
              <a:ext uri="{FF2B5EF4-FFF2-40B4-BE49-F238E27FC236}">
                <a16:creationId xmlns:a16="http://schemas.microsoft.com/office/drawing/2014/main" id="{C0F29851-59B1-48E8-BE6E-5442BA20F0F8}"/>
              </a:ext>
            </a:extLst>
          </p:cNvPr>
          <p:cNvSpPr>
            <a:spLocks xmlns:a="http://schemas.openxmlformats.org/drawingml/2006/main" noGrp="1"/>
          </p:cNvSpPr>
          <p:nvPr/>
        </p:nvSpPr>
        <p:spPr>
          <a:xfrm xmlns:a="http://schemas.openxmlformats.org/drawingml/2006/main">
            <a:off x="819150" y="4429125"/>
            <a:ext cx="1028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362F"/>
                </a:solidFill>
                <a:latin typeface="Arial"/>
                <a:ea typeface="Arial"/>
                <a:cs typeface="Arial"/>
              </a:defRPr>
            </a:defPPr>
          </a:lstStyle>
          <a:p xmlns:a="http://schemas.openxmlformats.org/drawingml/2006/main">
            <a:pPr algn="l">
              <a:lnSpc>
                <a:spcPct val="104000"/>
              </a:lnSpc>
              <a:buNone/>
              <a:defRPr sz="1800" b="0">
                <a:solidFill>
                  <a:srgbClr val="24362F"/>
                </a:solidFill>
                <a:latin typeface="Arial"/>
                <a:ea typeface="Arial"/>
                <a:cs typeface="Arial"/>
              </a:defRPr>
            </a:pPr>
            <a:r>
              <a:rPr sz="1800" b="0">
                <a:solidFill>
                  <a:srgbClr val="24362F"/>
                </a:solidFill>
                <a:latin typeface="Arial"/>
                <a:ea typeface="Arial"/>
                <a:cs typeface="Arial"/>
              </a:rPr>
              <a:t>Ahmedabad · Bengaluru · Bhopal · Bhubaneswar · Chandigarh · Chennai · Coimbatore · Delhi</a:t>
            </a:r>
          </a:p>
        </p:txBody>
      </p:sp>
      <p:sp>
        <p:nvSpPr>
          <p:cNvPr id="18" name="local-note">
            <a:extLst xmlns:a="http://schemas.openxmlformats.org/drawingml/2006/main">
              <a:ext uri="{FF2B5EF4-FFF2-40B4-BE49-F238E27FC236}">
                <a16:creationId xmlns:a16="http://schemas.microsoft.com/office/drawing/2014/main" id="{1B521A58-F72B-426F-A64F-E7C24B44E42E}"/>
              </a:ext>
            </a:extLst>
          </p:cNvPr>
          <p:cNvSpPr>
            <a:spLocks xmlns:a="http://schemas.openxmlformats.org/drawingml/2006/main" noGrp="1"/>
          </p:cNvSpPr>
          <p:nvPr/>
        </p:nvSpPr>
        <p:spPr>
          <a:xfrm xmlns:a="http://schemas.openxmlformats.org/drawingml/2006/main">
            <a:off x="819150" y="547687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The current files cover Jan 2000 through Dec 2025.</a:t>
            </a:r>
          </a:p>
        </p:txBody>
      </p:sp>
    </p:spTree>
    <p:extLst>
      <p:ext uri="{BB962C8B-B14F-4D97-AF65-F5344CB8AC3E}">
        <p14:creationId xmlns:p14="http://schemas.microsoft.com/office/powerpoint/2010/main" val="2119617834"/>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F769A1C0-D9BD-4133-B01A-83B6746AF23F}"/>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SCRAPING · 6 OF 6</a:t>
            </a:r>
          </a:p>
        </p:txBody>
      </p:sp>
      <p:sp>
        <p:nvSpPr>
          <p:cNvPr id="2" name="slide-title">
            <a:extLst xmlns:a="http://schemas.openxmlformats.org/drawingml/2006/main">
              <a:ext uri="{FF2B5EF4-FFF2-40B4-BE49-F238E27FC236}">
                <a16:creationId xmlns:a16="http://schemas.microsoft.com/office/drawing/2014/main" id="{B09DDF31-160C-4916-9D2D-0B8FFA1794CA}"/>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Scraping hands off raw files to preparation</a:t>
            </a:r>
          </a:p>
        </p:txBody>
      </p:sp>
      <p:sp>
        <p:nvSpPr>
          <p:cNvPr id="3" name="slide-subtitle">
            <a:extLst xmlns:a="http://schemas.openxmlformats.org/drawingml/2006/main">
              <a:ext uri="{FF2B5EF4-FFF2-40B4-BE49-F238E27FC236}">
                <a16:creationId xmlns:a16="http://schemas.microsoft.com/office/drawing/2014/main" id="{6620E2DE-448F-478B-BC5E-203E3D426F9A}"/>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Separate the intended request scope from the files available for processing.</a:t>
            </a:r>
          </a:p>
        </p:txBody>
      </p:sp>
      <p:sp>
        <p:nvSpPr>
          <p:cNvPr id="4" name="header-rule">
            <a:extLst xmlns:a="http://schemas.openxmlformats.org/drawingml/2006/main">
              <a:ext uri="{FF2B5EF4-FFF2-40B4-BE49-F238E27FC236}">
                <a16:creationId xmlns:a16="http://schemas.microsoft.com/office/drawing/2014/main" id="{BB2129CA-3D79-491E-BD49-3D145C00D454}"/>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87D093F7-A2EC-4C68-A941-01CE7EC5D80F}"/>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07</a:t>
            </a:r>
          </a:p>
        </p:txBody>
      </p:sp>
      <p:sp>
        <p:nvSpPr>
          <p:cNvPr id="6" name="handoff-plan">
            <a:extLst xmlns:a="http://schemas.openxmlformats.org/drawingml/2006/main">
              <a:ext uri="{FF2B5EF4-FFF2-40B4-BE49-F238E27FC236}">
                <a16:creationId xmlns:a16="http://schemas.microsoft.com/office/drawing/2014/main" id="{0F0EB2C2-7684-4DC8-9591-F070B14F0FCA}"/>
              </a:ext>
            </a:extLst>
          </p:cNvPr>
          <p:cNvSpPr>
            <a:spLocks xmlns:a="http://schemas.openxmlformats.org/drawingml/2006/main" noGrp="1"/>
          </p:cNvSpPr>
          <p:nvPr/>
        </p:nvSpPr>
        <p:spPr>
          <a:xfrm xmlns:a="http://schemas.openxmlformats.org/drawingml/2006/main">
            <a:off x="838200" y="23622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65766E"/>
                </a:solidFill>
                <a:latin typeface="Arial"/>
                <a:ea typeface="Arial"/>
                <a:cs typeface="Arial"/>
              </a:defRPr>
            </a:defPPr>
          </a:lstStyle>
          <a:p xmlns:a="http://schemas.openxmlformats.org/drawingml/2006/main">
            <a:pPr algn="l">
              <a:lnSpc>
                <a:spcPct val="104000"/>
              </a:lnSpc>
              <a:buNone/>
              <a:defRPr sz="1875" b="1">
                <a:solidFill>
                  <a:srgbClr val="65766E"/>
                </a:solidFill>
                <a:latin typeface="Arial"/>
                <a:ea typeface="Arial"/>
                <a:cs typeface="Arial"/>
              </a:defRPr>
            </a:pPr>
            <a:r>
              <a:rPr sz="1875" b="1">
                <a:solidFill>
                  <a:srgbClr val="65766E"/>
                </a:solidFill>
                <a:latin typeface="Arial"/>
                <a:ea typeface="Arial"/>
                <a:cs typeface="Arial"/>
              </a:rPr>
              <a:t>Planned</a:t>
            </a:r>
          </a:p>
        </p:txBody>
      </p:sp>
      <p:sp>
        <p:nvSpPr>
          <p:cNvPr id="7" name="handoff-plan-value">
            <a:extLst xmlns:a="http://schemas.openxmlformats.org/drawingml/2006/main">
              <a:ext uri="{FF2B5EF4-FFF2-40B4-BE49-F238E27FC236}">
                <a16:creationId xmlns:a16="http://schemas.microsoft.com/office/drawing/2014/main" id="{AD913640-15EF-433A-9425-977A74C2DCE4}"/>
              </a:ext>
            </a:extLst>
          </p:cNvPr>
          <p:cNvSpPr>
            <a:spLocks xmlns:a="http://schemas.openxmlformats.org/drawingml/2006/main" noGrp="1"/>
          </p:cNvSpPr>
          <p:nvPr/>
        </p:nvSpPr>
        <p:spPr>
          <a:xfrm xmlns:a="http://schemas.openxmlformats.org/drawingml/2006/main">
            <a:off x="838200" y="287655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24362F"/>
                </a:solidFill>
                <a:latin typeface="Arial"/>
                <a:ea typeface="Arial"/>
                <a:cs typeface="Arial"/>
              </a:defRPr>
            </a:defPPr>
          </a:lstStyle>
          <a:p xmlns:a="http://schemas.openxmlformats.org/drawingml/2006/main">
            <a:pPr algn="l">
              <a:lnSpc>
                <a:spcPct val="104000"/>
              </a:lnSpc>
              <a:buNone/>
              <a:defRPr sz="2400" b="1">
                <a:solidFill>
                  <a:srgbClr val="24362F"/>
                </a:solidFill>
                <a:latin typeface="Arial"/>
                <a:ea typeface="Arial"/>
                <a:cs typeface="Arial"/>
              </a:defRPr>
            </a:pPr>
            <a:r>
              <a:rPr sz="2400" b="1">
                <a:solidFill>
                  <a:srgbClr val="24362F"/>
                </a:solidFill>
                <a:latin typeface="Arial"/>
                <a:ea typeface="Arial"/>
                <a:cs typeface="Arial"/>
              </a:rPr>
              <a:t>25 cities · 261 points</a:t>
            </a:r>
          </a:p>
        </p:txBody>
      </p:sp>
      <p:sp>
        <p:nvSpPr>
          <p:cNvPr id="8" name="handoff-compare">
            <a:extLst xmlns:a="http://schemas.openxmlformats.org/drawingml/2006/main">
              <a:ext uri="{FF2B5EF4-FFF2-40B4-BE49-F238E27FC236}">
                <a16:creationId xmlns:a16="http://schemas.microsoft.com/office/drawing/2014/main" id="{E5A4E9FD-0E42-4312-8C74-EF4655C347B1}"/>
              </a:ext>
            </a:extLst>
          </p:cNvPr>
          <p:cNvSpPr>
            <a:spLocks xmlns:a="http://schemas.openxmlformats.org/drawingml/2006/main" noGrp="1"/>
          </p:cNvSpPr>
          <p:nvPr/>
        </p:nvSpPr>
        <p:spPr>
          <a:xfrm xmlns:a="http://schemas.openxmlformats.org/drawingml/2006/main">
            <a:off x="5734050" y="2457450"/>
            <a:ext cx="0" cy="1257300"/>
          </a:xfrm>
          <a:prstGeom xmlns:a="http://schemas.openxmlformats.org/drawingml/2006/main" prst="line">
            <a:avLst/>
          </a:prstGeom>
          <a:noFill xmlns:a="http://schemas.openxmlformats.org/drawingml/2006/main"/>
          <a:ln xmlns:a="http://schemas.openxmlformats.org/drawingml/2006/main" w="28575">
            <a:solidFill>
              <a:srgbClr val="A8BCAF"/>
            </a:solidFill>
            <a:prstDash val="solid"/>
          </a:ln>
        </p:spPr>
      </p:sp>
      <p:sp>
        <p:nvSpPr>
          <p:cNvPr id="9" name="handoff-local">
            <a:extLst xmlns:a="http://schemas.openxmlformats.org/drawingml/2006/main">
              <a:ext uri="{FF2B5EF4-FFF2-40B4-BE49-F238E27FC236}">
                <a16:creationId xmlns:a16="http://schemas.microsoft.com/office/drawing/2014/main" id="{CB7413BB-B2F4-4E27-B819-BB2A7F68E001}"/>
              </a:ext>
            </a:extLst>
          </p:cNvPr>
          <p:cNvSpPr>
            <a:spLocks xmlns:a="http://schemas.openxmlformats.org/drawingml/2006/main" noGrp="1"/>
          </p:cNvSpPr>
          <p:nvPr/>
        </p:nvSpPr>
        <p:spPr>
          <a:xfrm xmlns:a="http://schemas.openxmlformats.org/drawingml/2006/main">
            <a:off x="6286500" y="23622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5675B"/>
                </a:solidFill>
                <a:latin typeface="Arial"/>
                <a:ea typeface="Arial"/>
                <a:cs typeface="Arial"/>
              </a:defRPr>
            </a:defPPr>
          </a:lstStyle>
          <a:p xmlns:a="http://schemas.openxmlformats.org/drawingml/2006/main">
            <a:pPr algn="l">
              <a:lnSpc>
                <a:spcPct val="104000"/>
              </a:lnSpc>
              <a:buNone/>
              <a:defRPr sz="1875" b="1">
                <a:solidFill>
                  <a:srgbClr val="45675B"/>
                </a:solidFill>
                <a:latin typeface="Arial"/>
                <a:ea typeface="Arial"/>
                <a:cs typeface="Arial"/>
              </a:defRPr>
            </a:pPr>
            <a:r>
              <a:rPr sz="1875" b="1">
                <a:solidFill>
                  <a:srgbClr val="45675B"/>
                </a:solidFill>
                <a:latin typeface="Arial"/>
                <a:ea typeface="Arial"/>
                <a:cs typeface="Arial"/>
              </a:rPr>
              <a:t>Available locally</a:t>
            </a:r>
          </a:p>
        </p:txBody>
      </p:sp>
      <p:sp>
        <p:nvSpPr>
          <p:cNvPr id="10" name="handoff-local-value">
            <a:extLst xmlns:a="http://schemas.openxmlformats.org/drawingml/2006/main">
              <a:ext uri="{FF2B5EF4-FFF2-40B4-BE49-F238E27FC236}">
                <a16:creationId xmlns:a16="http://schemas.microsoft.com/office/drawing/2014/main" id="{2EE6A557-A806-4E66-A7CF-80CF2189A286}"/>
              </a:ext>
            </a:extLst>
          </p:cNvPr>
          <p:cNvSpPr>
            <a:spLocks xmlns:a="http://schemas.openxmlformats.org/drawingml/2006/main" noGrp="1"/>
          </p:cNvSpPr>
          <p:nvPr/>
        </p:nvSpPr>
        <p:spPr>
          <a:xfrm xmlns:a="http://schemas.openxmlformats.org/drawingml/2006/main">
            <a:off x="6286500" y="2876550"/>
            <a:ext cx="5000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45675B"/>
                </a:solidFill>
                <a:latin typeface="Arial"/>
                <a:ea typeface="Arial"/>
                <a:cs typeface="Arial"/>
              </a:defRPr>
            </a:defPPr>
          </a:lstStyle>
          <a:p xmlns:a="http://schemas.openxmlformats.org/drawingml/2006/main">
            <a:pPr algn="l">
              <a:lnSpc>
                <a:spcPct val="104000"/>
              </a:lnSpc>
              <a:buNone/>
              <a:defRPr sz="2400" b="1">
                <a:solidFill>
                  <a:srgbClr val="45675B"/>
                </a:solidFill>
                <a:latin typeface="Arial"/>
                <a:ea typeface="Arial"/>
                <a:cs typeface="Arial"/>
              </a:defRPr>
            </a:pPr>
            <a:r>
              <a:rPr sz="2400" b="1">
                <a:solidFill>
                  <a:srgbClr val="45675B"/>
                </a:solidFill>
                <a:latin typeface="Arial"/>
                <a:ea typeface="Arial"/>
                <a:cs typeface="Arial"/>
              </a:rPr>
              <a:t>8 cities · 89 point files</a:t>
            </a:r>
          </a:p>
        </p:txBody>
      </p:sp>
      <p:sp>
        <p:nvSpPr>
          <p:cNvPr id="11" name="handoff-rule">
            <a:extLst xmlns:a="http://schemas.openxmlformats.org/drawingml/2006/main">
              <a:ext uri="{FF2B5EF4-FFF2-40B4-BE49-F238E27FC236}">
                <a16:creationId xmlns:a16="http://schemas.microsoft.com/office/drawing/2014/main" id="{70723F1E-03FF-4D57-B4DA-ADCF4178B623}"/>
              </a:ext>
            </a:extLst>
          </p:cNvPr>
          <p:cNvSpPr>
            <a:spLocks xmlns:a="http://schemas.openxmlformats.org/drawingml/2006/main" noGrp="1"/>
          </p:cNvSpPr>
          <p:nvPr/>
        </p:nvSpPr>
        <p:spPr>
          <a:xfrm xmlns:a="http://schemas.openxmlformats.org/drawingml/2006/main">
            <a:off x="838200" y="4038600"/>
            <a:ext cx="10496550" cy="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2" name="handoff-explanation">
            <a:extLst xmlns:a="http://schemas.openxmlformats.org/drawingml/2006/main">
              <a:ext uri="{FF2B5EF4-FFF2-40B4-BE49-F238E27FC236}">
                <a16:creationId xmlns:a16="http://schemas.microsoft.com/office/drawing/2014/main" id="{6AA1681E-88ED-400C-B93B-2B248D340930}"/>
              </a:ext>
            </a:extLst>
          </p:cNvPr>
          <p:cNvSpPr>
            <a:spLocks xmlns:a="http://schemas.openxmlformats.org/drawingml/2006/main" noGrp="1"/>
          </p:cNvSpPr>
          <p:nvPr/>
        </p:nvSpPr>
        <p:spPr>
          <a:xfrm xmlns:a="http://schemas.openxmlformats.org/drawingml/2006/main">
            <a:off x="838200" y="4400550"/>
            <a:ext cx="10144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362F"/>
                </a:solidFill>
                <a:latin typeface="Arial"/>
                <a:ea typeface="Arial"/>
                <a:cs typeface="Arial"/>
              </a:defRPr>
            </a:defPPr>
          </a:lstStyle>
          <a:p xmlns:a="http://schemas.openxmlformats.org/drawingml/2006/main">
            <a:pPr algn="l">
              <a:lnSpc>
                <a:spcPct val="104000"/>
              </a:lnSpc>
              <a:buNone/>
              <a:defRPr sz="1800" b="0">
                <a:solidFill>
                  <a:srgbClr val="24362F"/>
                </a:solidFill>
                <a:latin typeface="Arial"/>
                <a:ea typeface="Arial"/>
                <a:cs typeface="Arial"/>
              </a:defRPr>
            </a:pPr>
            <a:r>
              <a:rPr sz="1800" b="0">
                <a:solidFill>
                  <a:srgbClr val="24362F"/>
                </a:solidFill>
                <a:latin typeface="Arial"/>
                <a:ea typeface="Arial"/>
                <a:cs typeface="Arial"/>
              </a:rPr>
              <a:t>The scraping documentation reports that the live run stopped early; all planned downloads were not confirmed.</a:t>
            </a:r>
          </a:p>
        </p:txBody>
      </p:sp>
      <p:sp>
        <p:nvSpPr>
          <p:cNvPr id="13" name="handoff-next">
            <a:extLst xmlns:a="http://schemas.openxmlformats.org/drawingml/2006/main">
              <a:ext uri="{FF2B5EF4-FFF2-40B4-BE49-F238E27FC236}">
                <a16:creationId xmlns:a16="http://schemas.microsoft.com/office/drawing/2014/main" id="{C95D3449-6489-4E36-8233-73C6B5BC69E6}"/>
              </a:ext>
            </a:extLst>
          </p:cNvPr>
          <p:cNvSpPr>
            <a:spLocks xmlns:a="http://schemas.openxmlformats.org/drawingml/2006/main" noGrp="1"/>
          </p:cNvSpPr>
          <p:nvPr/>
        </p:nvSpPr>
        <p:spPr>
          <a:xfrm xmlns:a="http://schemas.openxmlformats.org/drawingml/2006/main">
            <a:off x="838200" y="54483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57985"/>
                </a:solidFill>
                <a:latin typeface="Arial"/>
                <a:ea typeface="Arial"/>
                <a:cs typeface="Arial"/>
              </a:defRPr>
            </a:defPPr>
          </a:lstStyle>
          <a:p xmlns:a="http://schemas.openxmlformats.org/drawingml/2006/main">
            <a:pPr algn="l">
              <a:lnSpc>
                <a:spcPct val="104000"/>
              </a:lnSpc>
              <a:buNone/>
              <a:defRPr sz="1725" b="1">
                <a:solidFill>
                  <a:srgbClr val="557985"/>
                </a:solidFill>
                <a:latin typeface="Arial"/>
                <a:ea typeface="Arial"/>
                <a:cs typeface="Arial"/>
              </a:defRPr>
            </a:pPr>
            <a:r>
              <a:rPr sz="1725" b="1">
                <a:solidFill>
                  <a:srgbClr val="557985"/>
                </a:solidFill>
                <a:latin typeface="Arial"/>
                <a:ea typeface="Arial"/>
                <a:cs typeface="Arial"/>
              </a:rPr>
              <a:t>These local point files become the input to data profiling.</a:t>
            </a:r>
          </a:p>
        </p:txBody>
      </p:sp>
    </p:spTree>
    <p:extLst>
      <p:ext uri="{BB962C8B-B14F-4D97-AF65-F5344CB8AC3E}">
        <p14:creationId xmlns:p14="http://schemas.microsoft.com/office/powerpoint/2010/main" val="1561651478"/>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E303A7EA-5453-44E8-9A2C-A3F00CCC4153}"/>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PREPARATION</a:t>
            </a:r>
          </a:p>
        </p:txBody>
      </p:sp>
      <p:sp>
        <p:nvSpPr>
          <p:cNvPr id="2" name="slide-title">
            <a:extLst xmlns:a="http://schemas.openxmlformats.org/drawingml/2006/main">
              <a:ext uri="{FF2B5EF4-FFF2-40B4-BE49-F238E27FC236}">
                <a16:creationId xmlns:a16="http://schemas.microsoft.com/office/drawing/2014/main" id="{19F634F1-531A-4B6D-8FC0-87D45771F331}"/>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Three datasets, three row meanings</a:t>
            </a:r>
          </a:p>
        </p:txBody>
      </p:sp>
      <p:sp>
        <p:nvSpPr>
          <p:cNvPr id="3" name="slide-subtitle">
            <a:extLst xmlns:a="http://schemas.openxmlformats.org/drawingml/2006/main">
              <a:ext uri="{FF2B5EF4-FFF2-40B4-BE49-F238E27FC236}">
                <a16:creationId xmlns:a16="http://schemas.microsoft.com/office/drawing/2014/main" id="{9CABAB4C-C14E-48FF-9ADA-D008B2369D0E}"/>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same source values are represented at progressively broader levels.</a:t>
            </a:r>
          </a:p>
        </p:txBody>
      </p:sp>
      <p:sp>
        <p:nvSpPr>
          <p:cNvPr id="4" name="header-rule">
            <a:extLst xmlns:a="http://schemas.openxmlformats.org/drawingml/2006/main">
              <a:ext uri="{FF2B5EF4-FFF2-40B4-BE49-F238E27FC236}">
                <a16:creationId xmlns:a16="http://schemas.microsoft.com/office/drawing/2014/main" id="{5264BA2C-3467-4298-8F43-BFD232349A1D}"/>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019206EB-EF99-4555-8BDE-2EDEA7853C9A}"/>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08</a:t>
            </a:r>
          </a:p>
        </p:txBody>
      </p:sp>
      <p:graphicFrame>
        <p:nvGraphicFramePr>
          <p:cNvPr id="6" name="">
            <a:extLst xmlns:a="http://schemas.openxmlformats.org/drawingml/2006/main">
              <a:ext uri="{FF2B5EF4-FFF2-40B4-BE49-F238E27FC236}">
                <a16:creationId xmlns:a16="http://schemas.microsoft.com/office/drawing/2014/main" id="{ADAC025B-63AB-45A8-B0AE-B19C65998912}"/>
              </a:ext>
            </a:extLst>
          </p:cNvPr>
          <p:cNvGraphicFramePr/>
          <p:nvPr/>
        </p:nvGraphicFramePr>
        <p:xfrm>
          <a:off xmlns:a="http://schemas.openxmlformats.org/drawingml/2006/main" x="762000" y="2171700"/>
          <a:ext xmlns:a="http://schemas.openxmlformats.org/drawingml/2006/main" cx="10668000" cy="2876550"/>
        </p:xfrm>
        <a:graphic xmlns:a="http://schemas.openxmlformats.org/drawingml/2006/main">
          <a:graphicData uri="http://schemas.openxmlformats.org/drawingml/2006/table">
            <a:tbl>
              <a:tblPr/>
              <a:tblGrid>
                <a:gridCol w="1905000"/>
                <a:gridCol w="3238500"/>
                <a:gridCol w="2381250"/>
                <a:gridCol w="3143250"/>
              </a:tblGrid>
              <a:tr h="719138">
                <a:tc>
                  <a:txBody>
                    <a:bodyPr wrap="square" lIns="76200" tIns="76200" rIns="76200" bIns="76200">
                      <a:normAutofit/>
                    </a:bodyPr>
                    <a:lstStyle/>
                    <a:p>
                      <a:pPr algn="l"/>
                      <a:r>
                        <a:rPr sz="1275" b="1">
                          <a:solidFill>
                            <a:srgbClr val="45675B"/>
                          </a:solidFill>
                          <a:latin typeface="Arial"/>
                          <a:ea typeface="Arial"/>
                          <a:cs typeface="Arial"/>
                        </a:rPr>
                        <a:t>DATASET</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A ROW REPRESENTS</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CURRENT SIZE</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OUTPUT</a:t>
                      </a:r>
                    </a:p>
                  </a:txBody>
                  <a:tcPr marL="91440" marR="91440" marT="45720" marB="45720" anchor="ctr">
                    <a:solidFill>
                      <a:srgbClr val="E7EEE8"/>
                    </a:solidFill>
                  </a:tcPr>
                </a:tc>
              </a:tr>
              <a:tr h="719138">
                <a:tc>
                  <a:txBody>
                    <a:bodyPr wrap="square" lIns="76200" tIns="76200" rIns="76200" bIns="76200">
                      <a:normAutofit/>
                    </a:bodyPr>
                    <a:lstStyle/>
                    <a:p>
                      <a:pPr algn="l"/>
                      <a:r>
                        <a:rPr sz="1500" b="1">
                          <a:solidFill>
                            <a:srgbClr val="24362F"/>
                          </a:solidFill>
                          <a:latin typeface="Arial"/>
                          <a:ea typeface="Arial"/>
                          <a:cs typeface="Arial"/>
                        </a:rPr>
                        <a:t>Pointwise</a:t>
                      </a:r>
                    </a:p>
                  </a:txBody>
                  <a:tcPr marL="91440" marR="91440" marT="45720" marB="45720" anchor="ctr">
                    <a:solidFill>
                      <a:srgbClr val="FFFFFF"/>
                    </a:solidFill>
                  </a:tcPr>
                </a:tc>
                <a:tc>
                  <a:txBody>
                    <a:bodyPr wrap="square" lIns="76200" tIns="76200" rIns="76200" bIns="76200">
                      <a:normAutofit/>
                    </a:bodyPr>
                    <a:lstStyle/>
                    <a:p>
                      <a:pPr algn="l"/>
                      <a:r>
                        <a:rPr sz="1500" b="0">
                          <a:solidFill>
                            <a:srgbClr val="24362F"/>
                          </a:solidFill>
                          <a:latin typeface="Arial"/>
                          <a:ea typeface="Arial"/>
                          <a:cs typeface="Arial"/>
                        </a:rPr>
                        <a:t>One point in one month</a:t>
                      </a:r>
                    </a:p>
                  </a:txBody>
                  <a:tcPr marL="91440" marR="91440" marT="45720" marB="45720" anchor="ctr">
                    <a:solidFill>
                      <a:srgbClr val="FFFFFF"/>
                    </a:solidFill>
                  </a:tcPr>
                </a:tc>
                <a:tc>
                  <a:txBody>
                    <a:bodyPr wrap="square" lIns="76200" tIns="76200" rIns="76200" bIns="76200">
                      <a:normAutofit/>
                    </a:bodyPr>
                    <a:lstStyle/>
                    <a:p>
                      <a:pPr algn="l"/>
                      <a:r>
                        <a:rPr sz="1500" b="0">
                          <a:solidFill>
                            <a:srgbClr val="24362F"/>
                          </a:solidFill>
                          <a:latin typeface="Arial"/>
                          <a:ea typeface="Arial"/>
                          <a:cs typeface="Arial"/>
                        </a:rPr>
                        <a:t>27,768 rows</a:t>
                      </a:r>
                    </a:p>
                  </a:txBody>
                  <a:tcPr marL="91440" marR="91440" marT="45720" marB="45720" anchor="ctr">
                    <a:solidFill>
                      <a:srgbClr val="FFFFFF"/>
                    </a:solidFill>
                  </a:tcPr>
                </a:tc>
                <a:tc>
                  <a:txBody>
                    <a:bodyPr wrap="square" lIns="76200" tIns="76200" rIns="76200" bIns="76200">
                      <a:normAutofit/>
                    </a:bodyPr>
                    <a:lstStyle/>
                    <a:p>
                      <a:pPr algn="l"/>
                      <a:r>
                        <a:rPr sz="1500" b="0">
                          <a:solidFill>
                            <a:srgbClr val="24362F"/>
                          </a:solidFill>
                          <a:latin typeface="Arial"/>
                          <a:ea typeface="Arial"/>
                          <a:cs typeface="Arial"/>
                        </a:rPr>
                        <a:t>point_monthly_wide.csv</a:t>
                      </a:r>
                    </a:p>
                  </a:txBody>
                  <a:tcPr marL="91440" marR="91440" marT="45720" marB="45720" anchor="ctr">
                    <a:solidFill>
                      <a:srgbClr val="FFFFFF"/>
                    </a:solidFill>
                  </a:tcPr>
                </a:tc>
              </a:tr>
              <a:tr h="719138">
                <a:tc>
                  <a:txBody>
                    <a:bodyPr wrap="square" lIns="76200" tIns="76200" rIns="76200" bIns="76200">
                      <a:normAutofit/>
                    </a:bodyPr>
                    <a:lstStyle/>
                    <a:p>
                      <a:pPr algn="l"/>
                      <a:r>
                        <a:rPr sz="1500" b="1">
                          <a:solidFill>
                            <a:srgbClr val="24362F"/>
                          </a:solidFill>
                          <a:latin typeface="Arial"/>
                          <a:ea typeface="Arial"/>
                          <a:cs typeface="Arial"/>
                        </a:rPr>
                        <a:t>City-wise</a:t>
                      </a:r>
                    </a:p>
                  </a:txBody>
                  <a:tcPr marL="91440" marR="91440" marT="45720" marB="45720" anchor="ctr">
                    <a:solidFill>
                      <a:srgbClr val="F7F8F5"/>
                    </a:solidFill>
                  </a:tcPr>
                </a:tc>
                <a:tc>
                  <a:txBody>
                    <a:bodyPr wrap="square" lIns="76200" tIns="76200" rIns="76200" bIns="76200">
                      <a:normAutofit/>
                    </a:bodyPr>
                    <a:lstStyle/>
                    <a:p>
                      <a:pPr algn="l"/>
                      <a:r>
                        <a:rPr sz="1500" b="0">
                          <a:solidFill>
                            <a:srgbClr val="24362F"/>
                          </a:solidFill>
                          <a:latin typeface="Arial"/>
                          <a:ea typeface="Arial"/>
                          <a:cs typeface="Arial"/>
                        </a:rPr>
                        <a:t>One city in one month</a:t>
                      </a:r>
                    </a:p>
                  </a:txBody>
                  <a:tcPr marL="91440" marR="91440" marT="45720" marB="45720" anchor="ctr">
                    <a:solidFill>
                      <a:srgbClr val="F7F8F5"/>
                    </a:solidFill>
                  </a:tcPr>
                </a:tc>
                <a:tc>
                  <a:txBody>
                    <a:bodyPr wrap="square" lIns="76200" tIns="76200" rIns="76200" bIns="76200">
                      <a:normAutofit/>
                    </a:bodyPr>
                    <a:lstStyle/>
                    <a:p>
                      <a:pPr algn="l"/>
                      <a:r>
                        <a:rPr sz="1500" b="0">
                          <a:solidFill>
                            <a:srgbClr val="24362F"/>
                          </a:solidFill>
                          <a:latin typeface="Arial"/>
                          <a:ea typeface="Arial"/>
                          <a:cs typeface="Arial"/>
                        </a:rPr>
                        <a:t>312 rows per city</a:t>
                      </a:r>
                    </a:p>
                  </a:txBody>
                  <a:tcPr marL="91440" marR="91440" marT="45720" marB="45720" anchor="ctr">
                    <a:solidFill>
                      <a:srgbClr val="F7F8F5"/>
                    </a:solidFill>
                  </a:tcPr>
                </a:tc>
                <a:tc>
                  <a:txBody>
                    <a:bodyPr wrap="square" lIns="76200" tIns="76200" rIns="76200" bIns="76200">
                      <a:normAutofit/>
                    </a:bodyPr>
                    <a:lstStyle/>
                    <a:p>
                      <a:pPr algn="l"/>
                      <a:r>
                        <a:rPr sz="1500" b="0">
                          <a:solidFill>
                            <a:srgbClr val="24362F"/>
                          </a:solidFill>
                          <a:latin typeface="Arial"/>
                          <a:ea typeface="Arial"/>
                          <a:cs typeface="Arial"/>
                        </a:rPr>
                        <a:t>by_city/&lt;city&gt;_monthly.csv</a:t>
                      </a:r>
                    </a:p>
                  </a:txBody>
                  <a:tcPr marL="91440" marR="91440" marT="45720" marB="45720" anchor="ctr">
                    <a:solidFill>
                      <a:srgbClr val="F7F8F5"/>
                    </a:solidFill>
                  </a:tcPr>
                </a:tc>
              </a:tr>
              <a:tr h="719138">
                <a:tc>
                  <a:txBody>
                    <a:bodyPr wrap="square" lIns="76200" tIns="76200" rIns="76200" bIns="76200">
                      <a:normAutofit/>
                    </a:bodyPr>
                    <a:lstStyle/>
                    <a:p>
                      <a:pPr algn="l"/>
                      <a:r>
                        <a:rPr sz="1500" b="1">
                          <a:solidFill>
                            <a:srgbClr val="24362F"/>
                          </a:solidFill>
                          <a:latin typeface="Arial"/>
                          <a:ea typeface="Arial"/>
                          <a:cs typeface="Arial"/>
                        </a:rPr>
                        <a:t>All-cities merged</a:t>
                      </a:r>
                    </a:p>
                  </a:txBody>
                  <a:tcPr marL="91440" marR="91440" marT="45720" marB="45720" anchor="ctr">
                    <a:solidFill>
                      <a:srgbClr val="FFFFFF"/>
                    </a:solidFill>
                  </a:tcPr>
                </a:tc>
                <a:tc>
                  <a:txBody>
                    <a:bodyPr wrap="square" lIns="76200" tIns="76200" rIns="76200" bIns="76200">
                      <a:normAutofit/>
                    </a:bodyPr>
                    <a:lstStyle/>
                    <a:p>
                      <a:pPr algn="l"/>
                      <a:r>
                        <a:rPr sz="1500" b="0">
                          <a:solidFill>
                            <a:srgbClr val="24362F"/>
                          </a:solidFill>
                          <a:latin typeface="Arial"/>
                          <a:ea typeface="Arial"/>
                          <a:cs typeface="Arial"/>
                        </a:rPr>
                        <a:t>One city in one month, across 8 cities</a:t>
                      </a:r>
                    </a:p>
                  </a:txBody>
                  <a:tcPr marL="91440" marR="91440" marT="45720" marB="45720" anchor="ctr">
                    <a:solidFill>
                      <a:srgbClr val="FFFFFF"/>
                    </a:solidFill>
                  </a:tcPr>
                </a:tc>
                <a:tc>
                  <a:txBody>
                    <a:bodyPr wrap="square" lIns="76200" tIns="76200" rIns="76200" bIns="76200">
                      <a:normAutofit/>
                    </a:bodyPr>
                    <a:lstStyle/>
                    <a:p>
                      <a:pPr algn="l"/>
                      <a:r>
                        <a:rPr sz="1500" b="0">
                          <a:solidFill>
                            <a:srgbClr val="24362F"/>
                          </a:solidFill>
                          <a:latin typeface="Arial"/>
                          <a:ea typeface="Arial"/>
                          <a:cs typeface="Arial"/>
                        </a:rPr>
                        <a:t>2,496 rows</a:t>
                      </a:r>
                    </a:p>
                  </a:txBody>
                  <a:tcPr marL="91440" marR="91440" marT="45720" marB="45720" anchor="ctr">
                    <a:solidFill>
                      <a:srgbClr val="FFFFFF"/>
                    </a:solidFill>
                  </a:tcPr>
                </a:tc>
                <a:tc>
                  <a:txBody>
                    <a:bodyPr wrap="square" lIns="76200" tIns="76200" rIns="76200" bIns="76200">
                      <a:normAutofit/>
                    </a:bodyPr>
                    <a:lstStyle/>
                    <a:p>
                      <a:pPr algn="l"/>
                      <a:r>
                        <a:rPr sz="1500" b="0">
                          <a:solidFill>
                            <a:srgbClr val="24362F"/>
                          </a:solidFill>
                          <a:latin typeface="Arial"/>
                          <a:ea typeface="Arial"/>
                          <a:cs typeface="Arial"/>
                        </a:rPr>
                        <a:t>city_monthly.csv</a:t>
                      </a:r>
                    </a:p>
                  </a:txBody>
                  <a:tcPr marL="91440" marR="91440" marT="45720" marB="45720" anchor="ctr">
                    <a:solidFill>
                      <a:srgbClr val="FFFFFF"/>
                    </a:solidFill>
                  </a:tcPr>
                </a:tc>
              </a:tr>
            </a:tbl>
          </a:graphicData>
        </a:graphic>
      </p:graphicFrame>
      <p:sp>
        <p:nvSpPr>
          <p:cNvPr id="7" name="levels-note">
            <a:extLst xmlns:a="http://schemas.openxmlformats.org/drawingml/2006/main">
              <a:ext uri="{FF2B5EF4-FFF2-40B4-BE49-F238E27FC236}">
                <a16:creationId xmlns:a16="http://schemas.microsoft.com/office/drawing/2014/main" id="{69AB9F38-27BB-4E02-A9DC-408542078FEB}"/>
              </a:ext>
            </a:extLst>
          </p:cNvPr>
          <p:cNvSpPr>
            <a:spLocks xmlns:a="http://schemas.openxmlformats.org/drawingml/2006/main" noGrp="1"/>
          </p:cNvSpPr>
          <p:nvPr/>
        </p:nvSpPr>
        <p:spPr>
          <a:xfrm xmlns:a="http://schemas.openxmlformats.org/drawingml/2006/main">
            <a:off x="781050" y="54292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Annual point summaries are separate; they are not mixed into the monthly tables.</a:t>
            </a:r>
          </a:p>
        </p:txBody>
      </p:sp>
    </p:spTree>
    <p:extLst>
      <p:ext uri="{BB962C8B-B14F-4D97-AF65-F5344CB8AC3E}">
        <p14:creationId xmlns:p14="http://schemas.microsoft.com/office/powerpoint/2010/main" val="1826858910"/>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327BBEA7-9324-4247-B319-9E41021BD2E4}"/>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PROFILING</a:t>
            </a:r>
          </a:p>
        </p:txBody>
      </p:sp>
      <p:sp>
        <p:nvSpPr>
          <p:cNvPr id="2" name="slide-title">
            <a:extLst xmlns:a="http://schemas.openxmlformats.org/drawingml/2006/main">
              <a:ext uri="{FF2B5EF4-FFF2-40B4-BE49-F238E27FC236}">
                <a16:creationId xmlns:a16="http://schemas.microsoft.com/office/drawing/2014/main" id="{25502EFE-EE15-43BB-9805-8653F415CC53}"/>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Profiling describes each data level</a:t>
            </a:r>
          </a:p>
        </p:txBody>
      </p:sp>
      <p:sp>
        <p:nvSpPr>
          <p:cNvPr id="3" name="slide-subtitle">
            <a:extLst xmlns:a="http://schemas.openxmlformats.org/drawingml/2006/main">
              <a:ext uri="{FF2B5EF4-FFF2-40B4-BE49-F238E27FC236}">
                <a16:creationId xmlns:a16="http://schemas.microsoft.com/office/drawing/2014/main" id="{CCE8965B-89B0-42FA-9699-065F2B5BF342}"/>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Profile before changing source values or producing city averages.</a:t>
            </a:r>
          </a:p>
        </p:txBody>
      </p:sp>
      <p:sp>
        <p:nvSpPr>
          <p:cNvPr id="4" name="header-rule">
            <a:extLst xmlns:a="http://schemas.openxmlformats.org/drawingml/2006/main">
              <a:ext uri="{FF2B5EF4-FFF2-40B4-BE49-F238E27FC236}">
                <a16:creationId xmlns:a16="http://schemas.microsoft.com/office/drawing/2014/main" id="{9AEE59C3-4B7D-46D5-9D4E-04456E8D1C51}"/>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73F591FB-1FE6-4526-914F-0CFED7D975DD}"/>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09</a:t>
            </a:r>
          </a:p>
        </p:txBody>
      </p:sp>
      <p:sp>
        <p:nvSpPr>
          <p:cNvPr id="6" name="profile-level-0">
            <a:extLst xmlns:a="http://schemas.openxmlformats.org/drawingml/2006/main">
              <a:ext uri="{FF2B5EF4-FFF2-40B4-BE49-F238E27FC236}">
                <a16:creationId xmlns:a16="http://schemas.microsoft.com/office/drawing/2014/main" id="{7B2F5936-B3E3-4A90-BD71-B66F41F6455D}"/>
              </a:ext>
            </a:extLst>
          </p:cNvPr>
          <p:cNvSpPr>
            <a:spLocks xmlns:a="http://schemas.openxmlformats.org/drawingml/2006/main" noGrp="1"/>
          </p:cNvSpPr>
          <p:nvPr/>
        </p:nvSpPr>
        <p:spPr>
          <a:xfrm xmlns:a="http://schemas.openxmlformats.org/drawingml/2006/main">
            <a:off x="819150" y="22574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5675B"/>
                </a:solidFill>
                <a:latin typeface="Arial"/>
                <a:ea typeface="Arial"/>
                <a:cs typeface="Arial"/>
              </a:defRPr>
            </a:defPPr>
          </a:lstStyle>
          <a:p xmlns:a="http://schemas.openxmlformats.org/drawingml/2006/main">
            <a:pPr algn="l">
              <a:lnSpc>
                <a:spcPct val="104000"/>
              </a:lnSpc>
              <a:buNone/>
              <a:defRPr sz="1875" b="1">
                <a:solidFill>
                  <a:srgbClr val="45675B"/>
                </a:solidFill>
                <a:latin typeface="Arial"/>
                <a:ea typeface="Arial"/>
                <a:cs typeface="Arial"/>
              </a:defRPr>
            </a:pPr>
            <a:r>
              <a:rPr sz="1875" b="1">
                <a:solidFill>
                  <a:srgbClr val="45675B"/>
                </a:solidFill>
                <a:latin typeface="Arial"/>
                <a:ea typeface="Arial"/>
                <a:cs typeface="Arial"/>
              </a:rPr>
              <a:t>Pointwise</a:t>
            </a:r>
          </a:p>
        </p:txBody>
      </p:sp>
      <p:sp>
        <p:nvSpPr>
          <p:cNvPr id="7" name="profile-detail-0">
            <a:extLst xmlns:a="http://schemas.openxmlformats.org/drawingml/2006/main">
              <a:ext uri="{FF2B5EF4-FFF2-40B4-BE49-F238E27FC236}">
                <a16:creationId xmlns:a16="http://schemas.microsoft.com/office/drawing/2014/main" id="{B026C850-2F1C-4233-93E5-04C3D076E48B}"/>
              </a:ext>
            </a:extLst>
          </p:cNvPr>
          <p:cNvSpPr>
            <a:spLocks xmlns:a="http://schemas.openxmlformats.org/drawingml/2006/main" noGrp="1"/>
          </p:cNvSpPr>
          <p:nvPr/>
        </p:nvSpPr>
        <p:spPr>
          <a:xfrm xmlns:a="http://schemas.openxmlformats.org/drawingml/2006/main">
            <a:off x="3714750" y="2257425"/>
            <a:ext cx="742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File columns, schema, point IDs, dates, missingness and duplicate keys</a:t>
            </a:r>
          </a:p>
        </p:txBody>
      </p:sp>
      <p:sp>
        <p:nvSpPr>
          <p:cNvPr id="8" name="profile-separator-0">
            <a:extLst xmlns:a="http://schemas.openxmlformats.org/drawingml/2006/main">
              <a:ext uri="{FF2B5EF4-FFF2-40B4-BE49-F238E27FC236}">
                <a16:creationId xmlns:a16="http://schemas.microsoft.com/office/drawing/2014/main" id="{38330456-D59B-43AD-8ED4-398DB2DB44DB}"/>
              </a:ext>
            </a:extLst>
          </p:cNvPr>
          <p:cNvSpPr>
            <a:spLocks xmlns:a="http://schemas.openxmlformats.org/drawingml/2006/main" noGrp="1"/>
          </p:cNvSpPr>
          <p:nvPr/>
        </p:nvSpPr>
        <p:spPr>
          <a:xfrm xmlns:a="http://schemas.openxmlformats.org/drawingml/2006/main">
            <a:off x="819150" y="3000375"/>
            <a:ext cx="10515600"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9" name="profile-level-1">
            <a:extLst xmlns:a="http://schemas.openxmlformats.org/drawingml/2006/main">
              <a:ext uri="{FF2B5EF4-FFF2-40B4-BE49-F238E27FC236}">
                <a16:creationId xmlns:a16="http://schemas.microsoft.com/office/drawing/2014/main" id="{475FF166-7683-402E-97F9-6D14C9D40D9D}"/>
              </a:ext>
            </a:extLst>
          </p:cNvPr>
          <p:cNvSpPr>
            <a:spLocks xmlns:a="http://schemas.openxmlformats.org/drawingml/2006/main" noGrp="1"/>
          </p:cNvSpPr>
          <p:nvPr/>
        </p:nvSpPr>
        <p:spPr>
          <a:xfrm xmlns:a="http://schemas.openxmlformats.org/drawingml/2006/main">
            <a:off x="819150" y="33051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5675B"/>
                </a:solidFill>
                <a:latin typeface="Arial"/>
                <a:ea typeface="Arial"/>
                <a:cs typeface="Arial"/>
              </a:defRPr>
            </a:defPPr>
          </a:lstStyle>
          <a:p xmlns:a="http://schemas.openxmlformats.org/drawingml/2006/main">
            <a:pPr algn="l">
              <a:lnSpc>
                <a:spcPct val="104000"/>
              </a:lnSpc>
              <a:buNone/>
              <a:defRPr sz="1875" b="1">
                <a:solidFill>
                  <a:srgbClr val="45675B"/>
                </a:solidFill>
                <a:latin typeface="Arial"/>
                <a:ea typeface="Arial"/>
                <a:cs typeface="Arial"/>
              </a:defRPr>
            </a:pPr>
            <a:r>
              <a:rPr sz="1875" b="1">
                <a:solidFill>
                  <a:srgbClr val="45675B"/>
                </a:solidFill>
                <a:latin typeface="Arial"/>
                <a:ea typeface="Arial"/>
                <a:cs typeface="Arial"/>
              </a:rPr>
              <a:t>City-wise</a:t>
            </a:r>
          </a:p>
        </p:txBody>
      </p:sp>
      <p:sp>
        <p:nvSpPr>
          <p:cNvPr id="10" name="profile-detail-1">
            <a:extLst xmlns:a="http://schemas.openxmlformats.org/drawingml/2006/main">
              <a:ext uri="{FF2B5EF4-FFF2-40B4-BE49-F238E27FC236}">
                <a16:creationId xmlns:a16="http://schemas.microsoft.com/office/drawing/2014/main" id="{8A5889AA-17CB-4F2C-A8BD-E16AFD0E1313}"/>
              </a:ext>
            </a:extLst>
          </p:cNvPr>
          <p:cNvSpPr>
            <a:spLocks xmlns:a="http://schemas.openxmlformats.org/drawingml/2006/main" noGrp="1"/>
          </p:cNvSpPr>
          <p:nvPr/>
        </p:nvSpPr>
        <p:spPr>
          <a:xfrm xmlns:a="http://schemas.openxmlformats.org/drawingml/2006/main">
            <a:off x="3714750" y="3305175"/>
            <a:ext cx="742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Number of points per city, monthly coverage and gaps</a:t>
            </a:r>
          </a:p>
        </p:txBody>
      </p:sp>
      <p:sp>
        <p:nvSpPr>
          <p:cNvPr id="11" name="profile-separator-1">
            <a:extLst xmlns:a="http://schemas.openxmlformats.org/drawingml/2006/main">
              <a:ext uri="{FF2B5EF4-FFF2-40B4-BE49-F238E27FC236}">
                <a16:creationId xmlns:a16="http://schemas.microsoft.com/office/drawing/2014/main" id="{8214FBAB-DB5C-4C43-AAD3-C7BA927A0961}"/>
              </a:ext>
            </a:extLst>
          </p:cNvPr>
          <p:cNvSpPr>
            <a:spLocks xmlns:a="http://schemas.openxmlformats.org/drawingml/2006/main" noGrp="1"/>
          </p:cNvSpPr>
          <p:nvPr/>
        </p:nvSpPr>
        <p:spPr>
          <a:xfrm xmlns:a="http://schemas.openxmlformats.org/drawingml/2006/main">
            <a:off x="819150" y="4048125"/>
            <a:ext cx="10515600"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2" name="profile-level-2">
            <a:extLst xmlns:a="http://schemas.openxmlformats.org/drawingml/2006/main">
              <a:ext uri="{FF2B5EF4-FFF2-40B4-BE49-F238E27FC236}">
                <a16:creationId xmlns:a16="http://schemas.microsoft.com/office/drawing/2014/main" id="{AA53BD71-442E-48B5-98C6-D9EB97A21212}"/>
              </a:ext>
            </a:extLst>
          </p:cNvPr>
          <p:cNvSpPr>
            <a:spLocks xmlns:a="http://schemas.openxmlformats.org/drawingml/2006/main" noGrp="1"/>
          </p:cNvSpPr>
          <p:nvPr/>
        </p:nvSpPr>
        <p:spPr>
          <a:xfrm xmlns:a="http://schemas.openxmlformats.org/drawingml/2006/main">
            <a:off x="819150" y="43529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557985"/>
                </a:solidFill>
                <a:latin typeface="Arial"/>
                <a:ea typeface="Arial"/>
                <a:cs typeface="Arial"/>
              </a:defRPr>
            </a:defPPr>
          </a:lstStyle>
          <a:p xmlns:a="http://schemas.openxmlformats.org/drawingml/2006/main">
            <a:pPr algn="l">
              <a:lnSpc>
                <a:spcPct val="104000"/>
              </a:lnSpc>
              <a:buNone/>
              <a:defRPr sz="1875" b="1">
                <a:solidFill>
                  <a:srgbClr val="557985"/>
                </a:solidFill>
                <a:latin typeface="Arial"/>
                <a:ea typeface="Arial"/>
                <a:cs typeface="Arial"/>
              </a:defRPr>
            </a:pPr>
            <a:r>
              <a:rPr sz="1875" b="1">
                <a:solidFill>
                  <a:srgbClr val="557985"/>
                </a:solidFill>
                <a:latin typeface="Arial"/>
                <a:ea typeface="Arial"/>
                <a:cs typeface="Arial"/>
              </a:rPr>
              <a:t>All cities</a:t>
            </a:r>
          </a:p>
        </p:txBody>
      </p:sp>
      <p:sp>
        <p:nvSpPr>
          <p:cNvPr id="13" name="profile-detail-2">
            <a:extLst xmlns:a="http://schemas.openxmlformats.org/drawingml/2006/main">
              <a:ext uri="{FF2B5EF4-FFF2-40B4-BE49-F238E27FC236}">
                <a16:creationId xmlns:a16="http://schemas.microsoft.com/office/drawing/2014/main" id="{F7680F47-86D5-491B-99B3-3AE2AE18BBD2}"/>
              </a:ext>
            </a:extLst>
          </p:cNvPr>
          <p:cNvSpPr>
            <a:spLocks xmlns:a="http://schemas.openxmlformats.org/drawingml/2006/main" noGrp="1"/>
          </p:cNvSpPr>
          <p:nvPr/>
        </p:nvSpPr>
        <p:spPr>
          <a:xfrm xmlns:a="http://schemas.openxmlformats.org/drawingml/2006/main">
            <a:off x="3714750" y="4352925"/>
            <a:ext cx="742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Combined row counts, columns and missingness summaries</a:t>
            </a:r>
          </a:p>
        </p:txBody>
      </p:sp>
      <p:sp>
        <p:nvSpPr>
          <p:cNvPr id="14" name="profile-purpose">
            <a:extLst xmlns:a="http://schemas.openxmlformats.org/drawingml/2006/main">
              <a:ext uri="{FF2B5EF4-FFF2-40B4-BE49-F238E27FC236}">
                <a16:creationId xmlns:a16="http://schemas.microsoft.com/office/drawing/2014/main" id="{35137A99-D5F7-420C-A184-8183AB334079}"/>
              </a:ext>
            </a:extLst>
          </p:cNvPr>
          <p:cNvSpPr>
            <a:spLocks xmlns:a="http://schemas.openxmlformats.org/drawingml/2006/main" noGrp="1"/>
          </p:cNvSpPr>
          <p:nvPr/>
        </p:nvSpPr>
        <p:spPr>
          <a:xfrm xmlns:a="http://schemas.openxmlformats.org/drawingml/2006/main">
            <a:off x="819150" y="563880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65766E"/>
                </a:solidFill>
                <a:latin typeface="Arial"/>
                <a:ea typeface="Arial"/>
                <a:cs typeface="Arial"/>
              </a:defRPr>
            </a:defPPr>
          </a:lstStyle>
          <a:p xmlns:a="http://schemas.openxmlformats.org/drawingml/2006/main">
            <a:pPr algn="l">
              <a:lnSpc>
                <a:spcPct val="104000"/>
              </a:lnSpc>
              <a:buNone/>
              <a:defRPr sz="1650" b="1">
                <a:solidFill>
                  <a:srgbClr val="65766E"/>
                </a:solidFill>
                <a:latin typeface="Arial"/>
                <a:ea typeface="Arial"/>
                <a:cs typeface="Arial"/>
              </a:defRPr>
            </a:pPr>
            <a:r>
              <a:rPr sz="1650" b="1">
                <a:solidFill>
                  <a:srgbClr val="65766E"/>
                </a:solidFill>
                <a:latin typeface="Arial"/>
                <a:ea typeface="Arial"/>
                <a:cs typeface="Arial"/>
              </a:rPr>
              <a:t>Profiling reports what is present; it does not change the data.</a:t>
            </a:r>
          </a:p>
        </p:txBody>
      </p:sp>
    </p:spTree>
    <p:extLst>
      <p:ext uri="{BB962C8B-B14F-4D97-AF65-F5344CB8AC3E}">
        <p14:creationId xmlns:p14="http://schemas.microsoft.com/office/powerpoint/2010/main" val="1063744796"/>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ACFA969C-ABD7-4F4E-AECC-C4D8F2D6A0F8}"/>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CLEANING</a:t>
            </a:r>
          </a:p>
        </p:txBody>
      </p:sp>
      <p:sp>
        <p:nvSpPr>
          <p:cNvPr id="2" name="slide-title">
            <a:extLst xmlns:a="http://schemas.openxmlformats.org/drawingml/2006/main">
              <a:ext uri="{FF2B5EF4-FFF2-40B4-BE49-F238E27FC236}">
                <a16:creationId xmlns:a16="http://schemas.microsoft.com/office/drawing/2014/main" id="{114248FC-3047-4B4E-9D9A-31DC6D43124B}"/>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Cleaning is applied to point-level source records</a:t>
            </a:r>
          </a:p>
        </p:txBody>
      </p:sp>
      <p:sp>
        <p:nvSpPr>
          <p:cNvPr id="3" name="slide-subtitle">
            <a:extLst xmlns:a="http://schemas.openxmlformats.org/drawingml/2006/main">
              <a:ext uri="{FF2B5EF4-FFF2-40B4-BE49-F238E27FC236}">
                <a16:creationId xmlns:a16="http://schemas.microsoft.com/office/drawing/2014/main" id="{2EF557F4-A8C1-4D4B-A8AC-7F53585DC36F}"/>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These rules prepare consistent point values before aggregation.</a:t>
            </a:r>
          </a:p>
        </p:txBody>
      </p:sp>
      <p:sp>
        <p:nvSpPr>
          <p:cNvPr id="4" name="header-rule">
            <a:extLst xmlns:a="http://schemas.openxmlformats.org/drawingml/2006/main">
              <a:ext uri="{FF2B5EF4-FFF2-40B4-BE49-F238E27FC236}">
                <a16:creationId xmlns:a16="http://schemas.microsoft.com/office/drawing/2014/main" id="{46CF08C8-4EAE-436A-B473-7E93801EBC47}"/>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6506AE58-1F5D-48E4-B35A-42A9224D30D0}"/>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10</a:t>
            </a:r>
          </a:p>
        </p:txBody>
      </p:sp>
      <p:sp>
        <p:nvSpPr>
          <p:cNvPr id="6" name="clean-num-0">
            <a:extLst xmlns:a="http://schemas.openxmlformats.org/drawingml/2006/main">
              <a:ext uri="{FF2B5EF4-FFF2-40B4-BE49-F238E27FC236}">
                <a16:creationId xmlns:a16="http://schemas.microsoft.com/office/drawing/2014/main" id="{A22F538D-CC59-47BF-9DF8-5498F5E170F2}"/>
              </a:ext>
            </a:extLst>
          </p:cNvPr>
          <p:cNvSpPr>
            <a:spLocks xmlns:a="http://schemas.openxmlformats.org/drawingml/2006/main" noGrp="1"/>
          </p:cNvSpPr>
          <p:nvPr/>
        </p:nvSpPr>
        <p:spPr>
          <a:xfrm xmlns:a="http://schemas.openxmlformats.org/drawingml/2006/main">
            <a:off x="819150" y="22764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37B54"/>
                </a:solidFill>
                <a:latin typeface="Arial"/>
                <a:ea typeface="Arial"/>
                <a:cs typeface="Arial"/>
              </a:defRPr>
            </a:defPPr>
          </a:lstStyle>
          <a:p xmlns:a="http://schemas.openxmlformats.org/drawingml/2006/main">
            <a:pPr algn="l">
              <a:lnSpc>
                <a:spcPct val="104000"/>
              </a:lnSpc>
              <a:buNone/>
              <a:defRPr sz="1425" b="1">
                <a:solidFill>
                  <a:srgbClr val="B37B54"/>
                </a:solidFill>
                <a:latin typeface="Arial"/>
                <a:ea typeface="Arial"/>
                <a:cs typeface="Arial"/>
              </a:defRPr>
            </a:pPr>
            <a:r>
              <a:rPr sz="1425" b="1">
                <a:solidFill>
                  <a:srgbClr val="B37B54"/>
                </a:solidFill>
                <a:latin typeface="Arial"/>
                <a:ea typeface="Arial"/>
                <a:cs typeface="Arial"/>
              </a:rPr>
              <a:t>01</a:t>
            </a:r>
          </a:p>
        </p:txBody>
      </p:sp>
      <p:sp>
        <p:nvSpPr>
          <p:cNvPr id="7" name="clean-title-0">
            <a:extLst xmlns:a="http://schemas.openxmlformats.org/drawingml/2006/main">
              <a:ext uri="{FF2B5EF4-FFF2-40B4-BE49-F238E27FC236}">
                <a16:creationId xmlns:a16="http://schemas.microsoft.com/office/drawing/2014/main" id="{3FF19479-90BE-4F4D-A522-436339FE0309}"/>
              </a:ext>
            </a:extLst>
          </p:cNvPr>
          <p:cNvSpPr>
            <a:spLocks xmlns:a="http://schemas.openxmlformats.org/drawingml/2006/main" noGrp="1"/>
          </p:cNvSpPr>
          <p:nvPr/>
        </p:nvSpPr>
        <p:spPr>
          <a:xfrm xmlns:a="http://schemas.openxmlformats.org/drawingml/2006/main">
            <a:off x="1295400" y="22764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Standardize labels</a:t>
            </a:r>
          </a:p>
        </p:txBody>
      </p:sp>
      <p:sp>
        <p:nvSpPr>
          <p:cNvPr id="8" name="clean-body-0">
            <a:extLst xmlns:a="http://schemas.openxmlformats.org/drawingml/2006/main">
              <a:ext uri="{FF2B5EF4-FFF2-40B4-BE49-F238E27FC236}">
                <a16:creationId xmlns:a16="http://schemas.microsoft.com/office/drawing/2014/main" id="{E38F48A2-DDB4-40EC-B237-8CA9C5E100F9}"/>
              </a:ext>
            </a:extLst>
          </p:cNvPr>
          <p:cNvSpPr>
            <a:spLocks xmlns:a="http://schemas.openxmlformats.org/drawingml/2006/main" noGrp="1"/>
          </p:cNvSpPr>
          <p:nvPr/>
        </p:nvSpPr>
        <p:spPr>
          <a:xfrm xmlns:a="http://schemas.openxmlformats.org/drawingml/2006/main">
            <a:off x="1295400" y="2743200"/>
            <a:ext cx="46672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Trim and uppercase parameter labels; normalize known city spelling variants.</a:t>
            </a:r>
          </a:p>
        </p:txBody>
      </p:sp>
      <p:sp>
        <p:nvSpPr>
          <p:cNvPr id="9" name="clean-num-1">
            <a:extLst xmlns:a="http://schemas.openxmlformats.org/drawingml/2006/main">
              <a:ext uri="{FF2B5EF4-FFF2-40B4-BE49-F238E27FC236}">
                <a16:creationId xmlns:a16="http://schemas.microsoft.com/office/drawing/2014/main" id="{D3E475A1-2104-4A21-95AA-4C41EBD92D88}"/>
              </a:ext>
            </a:extLst>
          </p:cNvPr>
          <p:cNvSpPr>
            <a:spLocks xmlns:a="http://schemas.openxmlformats.org/drawingml/2006/main" noGrp="1"/>
          </p:cNvSpPr>
          <p:nvPr/>
        </p:nvSpPr>
        <p:spPr>
          <a:xfrm xmlns:a="http://schemas.openxmlformats.org/drawingml/2006/main">
            <a:off x="6229350" y="22764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37B54"/>
                </a:solidFill>
                <a:latin typeface="Arial"/>
                <a:ea typeface="Arial"/>
                <a:cs typeface="Arial"/>
              </a:defRPr>
            </a:defPPr>
          </a:lstStyle>
          <a:p xmlns:a="http://schemas.openxmlformats.org/drawingml/2006/main">
            <a:pPr algn="l">
              <a:lnSpc>
                <a:spcPct val="104000"/>
              </a:lnSpc>
              <a:buNone/>
              <a:defRPr sz="1425" b="1">
                <a:solidFill>
                  <a:srgbClr val="B37B54"/>
                </a:solidFill>
                <a:latin typeface="Arial"/>
                <a:ea typeface="Arial"/>
                <a:cs typeface="Arial"/>
              </a:defRPr>
            </a:pPr>
            <a:r>
              <a:rPr sz="1425" b="1">
                <a:solidFill>
                  <a:srgbClr val="B37B54"/>
                </a:solidFill>
                <a:latin typeface="Arial"/>
                <a:ea typeface="Arial"/>
                <a:cs typeface="Arial"/>
              </a:rPr>
              <a:t>02</a:t>
            </a:r>
          </a:p>
        </p:txBody>
      </p:sp>
      <p:sp>
        <p:nvSpPr>
          <p:cNvPr id="10" name="clean-title-1">
            <a:extLst xmlns:a="http://schemas.openxmlformats.org/drawingml/2006/main">
              <a:ext uri="{FF2B5EF4-FFF2-40B4-BE49-F238E27FC236}">
                <a16:creationId xmlns:a16="http://schemas.microsoft.com/office/drawing/2014/main" id="{AFF13DCA-8DCB-4EB5-997D-7141AB464E41}"/>
              </a:ext>
            </a:extLst>
          </p:cNvPr>
          <p:cNvSpPr>
            <a:spLocks xmlns:a="http://schemas.openxmlformats.org/drawingml/2006/main" noGrp="1"/>
          </p:cNvSpPr>
          <p:nvPr/>
        </p:nvSpPr>
        <p:spPr>
          <a:xfrm xmlns:a="http://schemas.openxmlformats.org/drawingml/2006/main">
            <a:off x="6705600" y="22764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Convert types</a:t>
            </a:r>
          </a:p>
        </p:txBody>
      </p:sp>
      <p:sp>
        <p:nvSpPr>
          <p:cNvPr id="11" name="clean-body-1">
            <a:extLst xmlns:a="http://schemas.openxmlformats.org/drawingml/2006/main">
              <a:ext uri="{FF2B5EF4-FFF2-40B4-BE49-F238E27FC236}">
                <a16:creationId xmlns:a16="http://schemas.microsoft.com/office/drawing/2014/main" id="{678B9F5E-6AD3-4E8C-BF03-8A2529DD0353}"/>
              </a:ext>
            </a:extLst>
          </p:cNvPr>
          <p:cNvSpPr>
            <a:spLocks xmlns:a="http://schemas.openxmlformats.org/drawingml/2006/main" noGrp="1"/>
          </p:cNvSpPr>
          <p:nvPr/>
        </p:nvSpPr>
        <p:spPr>
          <a:xfrm xmlns:a="http://schemas.openxmlformats.org/drawingml/2006/main">
            <a:off x="6705600" y="2743200"/>
            <a:ext cx="46672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Parse year and monthly values; make a month-start date for each record.</a:t>
            </a:r>
          </a:p>
        </p:txBody>
      </p:sp>
      <p:sp>
        <p:nvSpPr>
          <p:cNvPr id="12" name="clean-num-2">
            <a:extLst xmlns:a="http://schemas.openxmlformats.org/drawingml/2006/main">
              <a:ext uri="{FF2B5EF4-FFF2-40B4-BE49-F238E27FC236}">
                <a16:creationId xmlns:a16="http://schemas.microsoft.com/office/drawing/2014/main" id="{A9356E27-F450-4C9B-A3D6-807B339B1986}"/>
              </a:ext>
            </a:extLst>
          </p:cNvPr>
          <p:cNvSpPr>
            <a:spLocks xmlns:a="http://schemas.openxmlformats.org/drawingml/2006/main" noGrp="1"/>
          </p:cNvSpPr>
          <p:nvPr/>
        </p:nvSpPr>
        <p:spPr>
          <a:xfrm xmlns:a="http://schemas.openxmlformats.org/drawingml/2006/main">
            <a:off x="819150" y="38957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37B54"/>
                </a:solidFill>
                <a:latin typeface="Arial"/>
                <a:ea typeface="Arial"/>
                <a:cs typeface="Arial"/>
              </a:defRPr>
            </a:defPPr>
          </a:lstStyle>
          <a:p xmlns:a="http://schemas.openxmlformats.org/drawingml/2006/main">
            <a:pPr algn="l">
              <a:lnSpc>
                <a:spcPct val="104000"/>
              </a:lnSpc>
              <a:buNone/>
              <a:defRPr sz="1425" b="1">
                <a:solidFill>
                  <a:srgbClr val="B37B54"/>
                </a:solidFill>
                <a:latin typeface="Arial"/>
                <a:ea typeface="Arial"/>
                <a:cs typeface="Arial"/>
              </a:defRPr>
            </a:pPr>
            <a:r>
              <a:rPr sz="1425" b="1">
                <a:solidFill>
                  <a:srgbClr val="B37B54"/>
                </a:solidFill>
                <a:latin typeface="Arial"/>
                <a:ea typeface="Arial"/>
                <a:cs typeface="Arial"/>
              </a:rPr>
              <a:t>03</a:t>
            </a:r>
          </a:p>
        </p:txBody>
      </p:sp>
      <p:sp>
        <p:nvSpPr>
          <p:cNvPr id="13" name="clean-title-2">
            <a:extLst xmlns:a="http://schemas.openxmlformats.org/drawingml/2006/main">
              <a:ext uri="{FF2B5EF4-FFF2-40B4-BE49-F238E27FC236}">
                <a16:creationId xmlns:a16="http://schemas.microsoft.com/office/drawing/2014/main" id="{1586EFD0-FAA1-4ED0-817B-710BB1A2BCED}"/>
              </a:ext>
            </a:extLst>
          </p:cNvPr>
          <p:cNvSpPr>
            <a:spLocks xmlns:a="http://schemas.openxmlformats.org/drawingml/2006/main" noGrp="1"/>
          </p:cNvSpPr>
          <p:nvPr/>
        </p:nvSpPr>
        <p:spPr>
          <a:xfrm xmlns:a="http://schemas.openxmlformats.org/drawingml/2006/main">
            <a:off x="1295400" y="389572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Handle missing codes</a:t>
            </a:r>
          </a:p>
        </p:txBody>
      </p:sp>
      <p:sp>
        <p:nvSpPr>
          <p:cNvPr id="14" name="clean-body-2">
            <a:extLst xmlns:a="http://schemas.openxmlformats.org/drawingml/2006/main">
              <a:ext uri="{FF2B5EF4-FFF2-40B4-BE49-F238E27FC236}">
                <a16:creationId xmlns:a16="http://schemas.microsoft.com/office/drawing/2014/main" id="{E2845771-C61A-47A0-AB88-296CB00022FE}"/>
              </a:ext>
            </a:extLst>
          </p:cNvPr>
          <p:cNvSpPr>
            <a:spLocks xmlns:a="http://schemas.openxmlformats.org/drawingml/2006/main" noGrp="1"/>
          </p:cNvSpPr>
          <p:nvPr/>
        </p:nvSpPr>
        <p:spPr>
          <a:xfrm xmlns:a="http://schemas.openxmlformats.org/drawingml/2006/main">
            <a:off x="1295400" y="4362450"/>
            <a:ext cx="46672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Map the documented -999 sentinel to null.</a:t>
            </a:r>
          </a:p>
        </p:txBody>
      </p:sp>
      <p:sp>
        <p:nvSpPr>
          <p:cNvPr id="15" name="clean-num-3">
            <a:extLst xmlns:a="http://schemas.openxmlformats.org/drawingml/2006/main">
              <a:ext uri="{FF2B5EF4-FFF2-40B4-BE49-F238E27FC236}">
                <a16:creationId xmlns:a16="http://schemas.microsoft.com/office/drawing/2014/main" id="{3793A279-2624-43F7-9826-7DA2C9791E25}"/>
              </a:ext>
            </a:extLst>
          </p:cNvPr>
          <p:cNvSpPr>
            <a:spLocks xmlns:a="http://schemas.openxmlformats.org/drawingml/2006/main" noGrp="1"/>
          </p:cNvSpPr>
          <p:nvPr/>
        </p:nvSpPr>
        <p:spPr>
          <a:xfrm xmlns:a="http://schemas.openxmlformats.org/drawingml/2006/main">
            <a:off x="6229350" y="38957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37B54"/>
                </a:solidFill>
                <a:latin typeface="Arial"/>
                <a:ea typeface="Arial"/>
                <a:cs typeface="Arial"/>
              </a:defRPr>
            </a:defPPr>
          </a:lstStyle>
          <a:p xmlns:a="http://schemas.openxmlformats.org/drawingml/2006/main">
            <a:pPr algn="l">
              <a:lnSpc>
                <a:spcPct val="104000"/>
              </a:lnSpc>
              <a:buNone/>
              <a:defRPr sz="1425" b="1">
                <a:solidFill>
                  <a:srgbClr val="B37B54"/>
                </a:solidFill>
                <a:latin typeface="Arial"/>
                <a:ea typeface="Arial"/>
                <a:cs typeface="Arial"/>
              </a:defRPr>
            </a:pPr>
            <a:r>
              <a:rPr sz="1425" b="1">
                <a:solidFill>
                  <a:srgbClr val="B37B54"/>
                </a:solidFill>
                <a:latin typeface="Arial"/>
                <a:ea typeface="Arial"/>
                <a:cs typeface="Arial"/>
              </a:rPr>
              <a:t>04</a:t>
            </a:r>
          </a:p>
        </p:txBody>
      </p:sp>
      <p:sp>
        <p:nvSpPr>
          <p:cNvPr id="16" name="clean-title-3">
            <a:extLst xmlns:a="http://schemas.openxmlformats.org/drawingml/2006/main">
              <a:ext uri="{FF2B5EF4-FFF2-40B4-BE49-F238E27FC236}">
                <a16:creationId xmlns:a16="http://schemas.microsoft.com/office/drawing/2014/main" id="{08DE0692-3D41-42E4-8618-352F486F3441}"/>
              </a:ext>
            </a:extLst>
          </p:cNvPr>
          <p:cNvSpPr>
            <a:spLocks xmlns:a="http://schemas.openxmlformats.org/drawingml/2006/main" noGrp="1"/>
          </p:cNvSpPr>
          <p:nvPr/>
        </p:nvSpPr>
        <p:spPr>
          <a:xfrm xmlns:a="http://schemas.openxmlformats.org/drawingml/2006/main">
            <a:off x="6705600" y="389572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Check duplicate keys</a:t>
            </a:r>
          </a:p>
        </p:txBody>
      </p:sp>
      <p:sp>
        <p:nvSpPr>
          <p:cNvPr id="17" name="clean-body-3">
            <a:extLst xmlns:a="http://schemas.openxmlformats.org/drawingml/2006/main">
              <a:ext uri="{FF2B5EF4-FFF2-40B4-BE49-F238E27FC236}">
                <a16:creationId xmlns:a16="http://schemas.microsoft.com/office/drawing/2014/main" id="{BD6A4044-D87C-46F1-A20E-85F2E0483DF6}"/>
              </a:ext>
            </a:extLst>
          </p:cNvPr>
          <p:cNvSpPr>
            <a:spLocks xmlns:a="http://schemas.openxmlformats.org/drawingml/2006/main" noGrp="1"/>
          </p:cNvSpPr>
          <p:nvPr/>
        </p:nvSpPr>
        <p:spPr>
          <a:xfrm xmlns:a="http://schemas.openxmlformats.org/drawingml/2006/main">
            <a:off x="6705600" y="4362450"/>
            <a:ext cx="46672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766E"/>
                </a:solidFill>
                <a:latin typeface="Arial"/>
                <a:ea typeface="Arial"/>
                <a:cs typeface="Arial"/>
              </a:defRPr>
            </a:defPPr>
          </a:lstStyle>
          <a:p xmlns:a="http://schemas.openxmlformats.org/drawingml/2006/main">
            <a:pPr algn="l">
              <a:lnSpc>
                <a:spcPct val="104000"/>
              </a:lnSpc>
              <a:buNone/>
              <a:defRPr sz="1575" b="0">
                <a:solidFill>
                  <a:srgbClr val="65766E"/>
                </a:solidFill>
                <a:latin typeface="Arial"/>
                <a:ea typeface="Arial"/>
                <a:cs typeface="Arial"/>
              </a:defRPr>
            </a:pPr>
            <a:r>
              <a:rPr sz="1575" b="0">
                <a:solidFill>
                  <a:srgbClr val="65766E"/>
                </a:solidFill>
                <a:latin typeface="Arial"/>
                <a:ea typeface="Arial"/>
                <a:cs typeface="Arial"/>
              </a:rPr>
              <a:t>Check city + point + date + parameter before removing duplicate records.</a:t>
            </a:r>
          </a:p>
        </p:txBody>
      </p:sp>
      <p:sp>
        <p:nvSpPr>
          <p:cNvPr id="18" name="clean-no-impute">
            <a:extLst xmlns:a="http://schemas.openxmlformats.org/drawingml/2006/main">
              <a:ext uri="{FF2B5EF4-FFF2-40B4-BE49-F238E27FC236}">
                <a16:creationId xmlns:a16="http://schemas.microsoft.com/office/drawing/2014/main" id="{3C1051BA-C3BD-492C-80BA-756D466DD86C}"/>
              </a:ext>
            </a:extLst>
          </p:cNvPr>
          <p:cNvSpPr>
            <a:spLocks xmlns:a="http://schemas.openxmlformats.org/drawingml/2006/main" noGrp="1"/>
          </p:cNvSpPr>
          <p:nvPr/>
        </p:nvSpPr>
        <p:spPr>
          <a:xfrm xmlns:a="http://schemas.openxmlformats.org/drawingml/2006/main">
            <a:off x="819150" y="565785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No imputation or statistical outlier removal.</a:t>
            </a:r>
          </a:p>
        </p:txBody>
      </p:sp>
    </p:spTree>
    <p:extLst>
      <p:ext uri="{BB962C8B-B14F-4D97-AF65-F5344CB8AC3E}">
        <p14:creationId xmlns:p14="http://schemas.microsoft.com/office/powerpoint/2010/main" val="1833760636"/>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B69F9DF-9A66-4489-BB4E-C6D77E55DF70}"/>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POINTWISE DATA</a:t>
            </a:r>
          </a:p>
        </p:txBody>
      </p:sp>
      <p:sp>
        <p:nvSpPr>
          <p:cNvPr id="2" name="slide-title">
            <a:extLst xmlns:a="http://schemas.openxmlformats.org/drawingml/2006/main">
              <a:ext uri="{FF2B5EF4-FFF2-40B4-BE49-F238E27FC236}">
                <a16:creationId xmlns:a16="http://schemas.microsoft.com/office/drawing/2014/main" id="{EAEAC81C-13D1-411E-969B-A84726A29BB5}"/>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36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Pointwise transformation creates long and wide tables</a:t>
            </a:r>
          </a:p>
        </p:txBody>
      </p:sp>
      <p:sp>
        <p:nvSpPr>
          <p:cNvPr id="3" name="slide-subtitle">
            <a:extLst xmlns:a="http://schemas.openxmlformats.org/drawingml/2006/main">
              <a:ext uri="{FF2B5EF4-FFF2-40B4-BE49-F238E27FC236}">
                <a16:creationId xmlns:a16="http://schemas.microsoft.com/office/drawing/2014/main" id="{504959A8-1B38-4EF3-A1C3-D59C38F83C8B}"/>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Annual summaries stay separate from the monthly point records.</a:t>
            </a:r>
          </a:p>
        </p:txBody>
      </p:sp>
      <p:sp>
        <p:nvSpPr>
          <p:cNvPr id="4" name="header-rule">
            <a:extLst xmlns:a="http://schemas.openxmlformats.org/drawingml/2006/main">
              <a:ext uri="{FF2B5EF4-FFF2-40B4-BE49-F238E27FC236}">
                <a16:creationId xmlns:a16="http://schemas.microsoft.com/office/drawing/2014/main" id="{83F78DA6-1131-4EB6-9B89-6425D39225DF}"/>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DD1B200E-11DC-4601-97BC-364FAB019D5F}"/>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11</a:t>
            </a:r>
          </a:p>
        </p:txBody>
      </p:sp>
      <p:sp>
        <p:nvSpPr>
          <p:cNvPr id="6" name="long-tag">
            <a:extLst xmlns:a="http://schemas.openxmlformats.org/drawingml/2006/main">
              <a:ext uri="{FF2B5EF4-FFF2-40B4-BE49-F238E27FC236}">
                <a16:creationId xmlns:a16="http://schemas.microsoft.com/office/drawing/2014/main" id="{1A528F92-74F9-41A8-8734-7F640B4F1D20}"/>
              </a:ext>
            </a:extLst>
          </p:cNvPr>
          <p:cNvSpPr>
            <a:spLocks xmlns:a="http://schemas.openxmlformats.org/drawingml/2006/main" noGrp="1"/>
          </p:cNvSpPr>
          <p:nvPr/>
        </p:nvSpPr>
        <p:spPr>
          <a:xfrm xmlns:a="http://schemas.openxmlformats.org/drawingml/2006/main">
            <a:off x="857250" y="2286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LONG FORMAT</a:t>
            </a:r>
          </a:p>
        </p:txBody>
      </p:sp>
      <p:sp>
        <p:nvSpPr>
          <p:cNvPr id="7" name="long-definition">
            <a:extLst xmlns:a="http://schemas.openxmlformats.org/drawingml/2006/main">
              <a:ext uri="{FF2B5EF4-FFF2-40B4-BE49-F238E27FC236}">
                <a16:creationId xmlns:a16="http://schemas.microsoft.com/office/drawing/2014/main" id="{639A8BC5-EB2C-4B7C-AC5C-A781A80C3960}"/>
              </a:ext>
            </a:extLst>
          </p:cNvPr>
          <p:cNvSpPr>
            <a:spLocks xmlns:a="http://schemas.openxmlformats.org/drawingml/2006/main" noGrp="1"/>
          </p:cNvSpPr>
          <p:nvPr/>
        </p:nvSpPr>
        <p:spPr>
          <a:xfrm xmlns:a="http://schemas.openxmlformats.org/drawingml/2006/main">
            <a:off x="857250" y="2695575"/>
            <a:ext cx="466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362F"/>
                </a:solidFill>
                <a:latin typeface="Arial"/>
                <a:ea typeface="Arial"/>
                <a:cs typeface="Arial"/>
              </a:defRPr>
            </a:defPPr>
          </a:lstStyle>
          <a:p xmlns:a="http://schemas.openxmlformats.org/drawingml/2006/main">
            <a:pPr algn="l">
              <a:lnSpc>
                <a:spcPct val="104000"/>
              </a:lnSpc>
              <a:buNone/>
              <a:defRPr sz="1950" b="1">
                <a:solidFill>
                  <a:srgbClr val="24362F"/>
                </a:solidFill>
                <a:latin typeface="Arial"/>
                <a:ea typeface="Arial"/>
                <a:cs typeface="Arial"/>
              </a:defRPr>
            </a:pPr>
            <a:r>
              <a:rPr sz="1950" b="1">
                <a:solidFill>
                  <a:srgbClr val="24362F"/>
                </a:solidFill>
                <a:latin typeface="Arial"/>
                <a:ea typeface="Arial"/>
                <a:cs typeface="Arial"/>
              </a:rPr>
              <a:t>One row per point, parameter, and month.</a:t>
            </a:r>
          </a:p>
        </p:txBody>
      </p:sp>
      <p:sp>
        <p:nvSpPr>
          <p:cNvPr id="8" name="long-count">
            <a:extLst xmlns:a="http://schemas.openxmlformats.org/drawingml/2006/main">
              <a:ext uri="{FF2B5EF4-FFF2-40B4-BE49-F238E27FC236}">
                <a16:creationId xmlns:a16="http://schemas.microsoft.com/office/drawing/2014/main" id="{24636734-B1D3-4442-8626-811D4E2CDD30}"/>
              </a:ext>
            </a:extLst>
          </p:cNvPr>
          <p:cNvSpPr>
            <a:spLocks xmlns:a="http://schemas.openxmlformats.org/drawingml/2006/main" noGrp="1"/>
          </p:cNvSpPr>
          <p:nvPr/>
        </p:nvSpPr>
        <p:spPr>
          <a:xfrm xmlns:a="http://schemas.openxmlformats.org/drawingml/2006/main">
            <a:off x="857250" y="371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45675B"/>
                </a:solidFill>
                <a:latin typeface="Arial"/>
                <a:ea typeface="Arial"/>
                <a:cs typeface="Arial"/>
              </a:defRPr>
            </a:defPPr>
          </a:lstStyle>
          <a:p xmlns:a="http://schemas.openxmlformats.org/drawingml/2006/main">
            <a:pPr algn="l">
              <a:lnSpc>
                <a:spcPct val="104000"/>
              </a:lnSpc>
              <a:buNone/>
              <a:defRPr sz="2775" b="1">
                <a:solidFill>
                  <a:srgbClr val="45675B"/>
                </a:solidFill>
                <a:latin typeface="Arial"/>
                <a:ea typeface="Arial"/>
                <a:cs typeface="Arial"/>
              </a:defRPr>
            </a:pPr>
            <a:r>
              <a:rPr sz="2775" b="1">
                <a:solidFill>
                  <a:srgbClr val="45675B"/>
                </a:solidFill>
                <a:latin typeface="Arial"/>
                <a:ea typeface="Arial"/>
                <a:cs typeface="Arial"/>
              </a:rPr>
              <a:t>416,520 rows</a:t>
            </a:r>
          </a:p>
        </p:txBody>
      </p:sp>
      <p:sp>
        <p:nvSpPr>
          <p:cNvPr id="9" name="point-format-divide">
            <a:extLst xmlns:a="http://schemas.openxmlformats.org/drawingml/2006/main">
              <a:ext uri="{FF2B5EF4-FFF2-40B4-BE49-F238E27FC236}">
                <a16:creationId xmlns:a16="http://schemas.microsoft.com/office/drawing/2014/main" id="{7DE192D3-25BE-4B9A-B2DD-8178CACEF3F9}"/>
              </a:ext>
            </a:extLst>
          </p:cNvPr>
          <p:cNvSpPr>
            <a:spLocks xmlns:a="http://schemas.openxmlformats.org/drawingml/2006/main" noGrp="1"/>
          </p:cNvSpPr>
          <p:nvPr/>
        </p:nvSpPr>
        <p:spPr>
          <a:xfrm xmlns:a="http://schemas.openxmlformats.org/drawingml/2006/main">
            <a:off x="5972175" y="2190750"/>
            <a:ext cx="0" cy="2286000"/>
          </a:xfrm>
          <a:prstGeom xmlns:a="http://schemas.openxmlformats.org/drawingml/2006/main" prst="line">
            <a:avLst/>
          </a:prstGeom>
          <a:noFill xmlns:a="http://schemas.openxmlformats.org/drawingml/2006/main"/>
          <a:ln xmlns:a="http://schemas.openxmlformats.org/drawingml/2006/main" w="12383">
            <a:solidFill>
              <a:srgbClr val="D5DFD9"/>
            </a:solidFill>
            <a:prstDash val="solid"/>
          </a:ln>
        </p:spPr>
      </p:sp>
      <p:sp>
        <p:nvSpPr>
          <p:cNvPr id="10" name="wide-tag">
            <a:extLst xmlns:a="http://schemas.openxmlformats.org/drawingml/2006/main">
              <a:ext uri="{FF2B5EF4-FFF2-40B4-BE49-F238E27FC236}">
                <a16:creationId xmlns:a16="http://schemas.microsoft.com/office/drawing/2014/main" id="{34501E6B-79EF-4A06-8127-18CB29A61FDB}"/>
              </a:ext>
            </a:extLst>
          </p:cNvPr>
          <p:cNvSpPr>
            <a:spLocks xmlns:a="http://schemas.openxmlformats.org/drawingml/2006/main" noGrp="1"/>
          </p:cNvSpPr>
          <p:nvPr/>
        </p:nvSpPr>
        <p:spPr>
          <a:xfrm xmlns:a="http://schemas.openxmlformats.org/drawingml/2006/main">
            <a:off x="6400800" y="2286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57985"/>
                </a:solidFill>
                <a:latin typeface="Arial"/>
                <a:ea typeface="Arial"/>
                <a:cs typeface="Arial"/>
              </a:defRPr>
            </a:defPPr>
          </a:lstStyle>
          <a:p xmlns:a="http://schemas.openxmlformats.org/drawingml/2006/main">
            <a:pPr algn="l">
              <a:lnSpc>
                <a:spcPct val="104000"/>
              </a:lnSpc>
              <a:buNone/>
              <a:defRPr sz="1125" b="1">
                <a:solidFill>
                  <a:srgbClr val="557985"/>
                </a:solidFill>
                <a:latin typeface="Arial"/>
                <a:ea typeface="Arial"/>
                <a:cs typeface="Arial"/>
              </a:defRPr>
            </a:pPr>
            <a:r>
              <a:rPr sz="1125" b="1">
                <a:solidFill>
                  <a:srgbClr val="557985"/>
                </a:solidFill>
                <a:latin typeface="Arial"/>
                <a:ea typeface="Arial"/>
                <a:cs typeface="Arial"/>
              </a:rPr>
              <a:t>WIDE FORMAT</a:t>
            </a:r>
          </a:p>
        </p:txBody>
      </p:sp>
      <p:sp>
        <p:nvSpPr>
          <p:cNvPr id="11" name="wide-definition">
            <a:extLst xmlns:a="http://schemas.openxmlformats.org/drawingml/2006/main">
              <a:ext uri="{FF2B5EF4-FFF2-40B4-BE49-F238E27FC236}">
                <a16:creationId xmlns:a16="http://schemas.microsoft.com/office/drawing/2014/main" id="{A34541B8-BF10-4AB6-BBEC-7490AB7FB0CE}"/>
              </a:ext>
            </a:extLst>
          </p:cNvPr>
          <p:cNvSpPr>
            <a:spLocks xmlns:a="http://schemas.openxmlformats.org/drawingml/2006/main" noGrp="1"/>
          </p:cNvSpPr>
          <p:nvPr/>
        </p:nvSpPr>
        <p:spPr>
          <a:xfrm xmlns:a="http://schemas.openxmlformats.org/drawingml/2006/main">
            <a:off x="6400800" y="2695575"/>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362F"/>
                </a:solidFill>
                <a:latin typeface="Arial"/>
                <a:ea typeface="Arial"/>
                <a:cs typeface="Arial"/>
              </a:defRPr>
            </a:defPPr>
          </a:lstStyle>
          <a:p xmlns:a="http://schemas.openxmlformats.org/drawingml/2006/main">
            <a:pPr algn="l">
              <a:lnSpc>
                <a:spcPct val="104000"/>
              </a:lnSpc>
              <a:buNone/>
              <a:defRPr sz="1875" b="1">
                <a:solidFill>
                  <a:srgbClr val="24362F"/>
                </a:solidFill>
                <a:latin typeface="Arial"/>
                <a:ea typeface="Arial"/>
                <a:cs typeface="Arial"/>
              </a:defRPr>
            </a:pPr>
            <a:r>
              <a:rPr sz="1875" b="1">
                <a:solidFill>
                  <a:srgbClr val="24362F"/>
                </a:solidFill>
                <a:latin typeface="Arial"/>
                <a:ea typeface="Arial"/>
                <a:cs typeface="Arial"/>
              </a:rPr>
              <a:t>One row per point and month, with parameters in columns.</a:t>
            </a:r>
          </a:p>
        </p:txBody>
      </p:sp>
      <p:sp>
        <p:nvSpPr>
          <p:cNvPr id="12" name="wide-count">
            <a:extLst xmlns:a="http://schemas.openxmlformats.org/drawingml/2006/main">
              <a:ext uri="{FF2B5EF4-FFF2-40B4-BE49-F238E27FC236}">
                <a16:creationId xmlns:a16="http://schemas.microsoft.com/office/drawing/2014/main" id="{D2BEAC94-275B-4357-99B2-CD5BA0011E9C}"/>
              </a:ext>
            </a:extLst>
          </p:cNvPr>
          <p:cNvSpPr>
            <a:spLocks xmlns:a="http://schemas.openxmlformats.org/drawingml/2006/main" noGrp="1"/>
          </p:cNvSpPr>
          <p:nvPr/>
        </p:nvSpPr>
        <p:spPr>
          <a:xfrm xmlns:a="http://schemas.openxmlformats.org/drawingml/2006/main">
            <a:off x="6400800" y="371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557985"/>
                </a:solidFill>
                <a:latin typeface="Arial"/>
                <a:ea typeface="Arial"/>
                <a:cs typeface="Arial"/>
              </a:defRPr>
            </a:defPPr>
          </a:lstStyle>
          <a:p xmlns:a="http://schemas.openxmlformats.org/drawingml/2006/main">
            <a:pPr algn="l">
              <a:lnSpc>
                <a:spcPct val="104000"/>
              </a:lnSpc>
              <a:buNone/>
              <a:defRPr sz="2775" b="1">
                <a:solidFill>
                  <a:srgbClr val="557985"/>
                </a:solidFill>
                <a:latin typeface="Arial"/>
                <a:ea typeface="Arial"/>
                <a:cs typeface="Arial"/>
              </a:defRPr>
            </a:pPr>
            <a:r>
              <a:rPr sz="2775" b="1">
                <a:solidFill>
                  <a:srgbClr val="557985"/>
                </a:solidFill>
                <a:latin typeface="Arial"/>
                <a:ea typeface="Arial"/>
                <a:cs typeface="Arial"/>
              </a:rPr>
              <a:t>27,768 rows</a:t>
            </a:r>
          </a:p>
        </p:txBody>
      </p:sp>
      <p:sp>
        <p:nvSpPr>
          <p:cNvPr id="13" name="annual-count">
            <a:extLst xmlns:a="http://schemas.openxmlformats.org/drawingml/2006/main">
              <a:ext uri="{FF2B5EF4-FFF2-40B4-BE49-F238E27FC236}">
                <a16:creationId xmlns:a16="http://schemas.microsoft.com/office/drawing/2014/main" id="{CD1A86A2-1F28-4B20-BF6B-CAD3259BF8D1}"/>
              </a:ext>
            </a:extLst>
          </p:cNvPr>
          <p:cNvSpPr>
            <a:spLocks xmlns:a="http://schemas.openxmlformats.org/drawingml/2006/main" noGrp="1"/>
          </p:cNvSpPr>
          <p:nvPr/>
        </p:nvSpPr>
        <p:spPr>
          <a:xfrm xmlns:a="http://schemas.openxmlformats.org/drawingml/2006/main">
            <a:off x="857250" y="5200650"/>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Annual point summary remains separate: 34,710 parameter-year rows.</a:t>
            </a:r>
          </a:p>
        </p:txBody>
      </p:sp>
    </p:spTree>
    <p:extLst>
      <p:ext uri="{BB962C8B-B14F-4D97-AF65-F5344CB8AC3E}">
        <p14:creationId xmlns:p14="http://schemas.microsoft.com/office/powerpoint/2010/main" val="2011144522"/>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93E4ACEC-7427-4143-B67B-F65000D84738}"/>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POINTWISE DATA</a:t>
            </a:r>
          </a:p>
        </p:txBody>
      </p:sp>
      <p:sp>
        <p:nvSpPr>
          <p:cNvPr id="2" name="slide-title">
            <a:extLst xmlns:a="http://schemas.openxmlformats.org/drawingml/2006/main">
              <a:ext uri="{FF2B5EF4-FFF2-40B4-BE49-F238E27FC236}">
                <a16:creationId xmlns:a16="http://schemas.microsoft.com/office/drawing/2014/main" id="{F0D2A4D1-2172-4444-8972-86024A03797F}"/>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What a pointwise monthly row contains</a:t>
            </a:r>
          </a:p>
        </p:txBody>
      </p:sp>
      <p:sp>
        <p:nvSpPr>
          <p:cNvPr id="3" name="slide-subtitle">
            <a:extLst xmlns:a="http://schemas.openxmlformats.org/drawingml/2006/main">
              <a:ext uri="{FF2B5EF4-FFF2-40B4-BE49-F238E27FC236}">
                <a16:creationId xmlns:a16="http://schemas.microsoft.com/office/drawing/2014/main" id="{9D79E1D4-43C4-4A57-89E9-8D5081D7EFA7}"/>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Point identity stays attached until the city aggregation step.</a:t>
            </a:r>
          </a:p>
        </p:txBody>
      </p:sp>
      <p:sp>
        <p:nvSpPr>
          <p:cNvPr id="4" name="header-rule">
            <a:extLst xmlns:a="http://schemas.openxmlformats.org/drawingml/2006/main">
              <a:ext uri="{FF2B5EF4-FFF2-40B4-BE49-F238E27FC236}">
                <a16:creationId xmlns:a16="http://schemas.microsoft.com/office/drawing/2014/main" id="{E126323B-E929-4847-B904-6F54EBF2068B}"/>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B41BD3BA-95A9-48DF-B188-D935A4E219CF}"/>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12</a:t>
            </a:r>
          </a:p>
        </p:txBody>
      </p:sp>
      <p:graphicFrame>
        <p:nvGraphicFramePr>
          <p:cNvPr id="6" name="">
            <a:extLst xmlns:a="http://schemas.openxmlformats.org/drawingml/2006/main">
              <a:ext uri="{FF2B5EF4-FFF2-40B4-BE49-F238E27FC236}">
                <a16:creationId xmlns:a16="http://schemas.microsoft.com/office/drawing/2014/main" id="{6DC6020D-DEBA-4214-8CB1-C277B8A4E5C2}"/>
              </a:ext>
            </a:extLst>
          </p:cNvPr>
          <p:cNvGraphicFramePr/>
          <p:nvPr/>
        </p:nvGraphicFramePr>
        <p:xfrm>
          <a:off xmlns:a="http://schemas.openxmlformats.org/drawingml/2006/main" x="762000" y="2333625"/>
          <a:ext xmlns:a="http://schemas.openxmlformats.org/drawingml/2006/main" cx="10668000" cy="1285875"/>
        </p:xfrm>
        <a:graphic xmlns:a="http://schemas.openxmlformats.org/drawingml/2006/main">
          <a:graphicData uri="http://schemas.openxmlformats.org/drawingml/2006/table">
            <a:tbl>
              <a:tblPr/>
              <a:tblGrid>
                <a:gridCol w="2762250"/>
                <a:gridCol w="2000250"/>
                <a:gridCol w="2381250"/>
                <a:gridCol w="3524250"/>
              </a:tblGrid>
              <a:tr h="642938">
                <a:tc>
                  <a:txBody>
                    <a:bodyPr wrap="square" lIns="76200" tIns="76200" rIns="76200" bIns="76200">
                      <a:normAutofit/>
                    </a:bodyPr>
                    <a:lstStyle/>
                    <a:p>
                      <a:pPr algn="l"/>
                      <a:r>
                        <a:rPr sz="1275" b="1">
                          <a:solidFill>
                            <a:srgbClr val="45675B"/>
                          </a:solidFill>
                          <a:latin typeface="Arial"/>
                          <a:ea typeface="Arial"/>
                          <a:cs typeface="Arial"/>
                        </a:rPr>
                        <a:t>CITY + POINT</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DATE</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COORDINATES</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PARAMETER VALUES</a:t>
                      </a:r>
                    </a:p>
                  </a:txBody>
                  <a:tcPr marL="91440" marR="91440" marT="45720" marB="45720" anchor="ctr">
                    <a:solidFill>
                      <a:srgbClr val="E7EEE8"/>
                    </a:solidFill>
                  </a:tcPr>
                </a:tc>
              </a:tr>
              <a:tr h="642938">
                <a:tc>
                  <a:txBody>
                    <a:bodyPr wrap="square" lIns="76200" tIns="76200" rIns="76200" bIns="76200">
                      <a:normAutofit/>
                    </a:bodyPr>
                    <a:lstStyle/>
                    <a:p>
                      <a:pPr algn="l"/>
                      <a:r>
                        <a:rPr sz="1500">
                          <a:solidFill>
                            <a:srgbClr val="24362F"/>
                          </a:solidFill>
                          <a:latin typeface="Arial"/>
                          <a:ea typeface="Arial"/>
                          <a:cs typeface="Arial"/>
                        </a:rPr>
                        <a:t>Ahmedabad · point 1</a:t>
                      </a:r>
                    </a:p>
                  </a:txBody>
                  <a:tcPr marL="91440" marR="91440" marT="45720" marB="45720" anchor="ctr">
                    <a:solidFill>
                      <a:srgbClr val="FFFFFF"/>
                    </a:solidFill>
                  </a:tcPr>
                </a:tc>
                <a:tc>
                  <a:txBody>
                    <a:bodyPr wrap="square" lIns="76200" tIns="76200" rIns="76200" bIns="76200">
                      <a:normAutofit/>
                    </a:bodyPr>
                    <a:lstStyle/>
                    <a:p>
                      <a:pPr algn="l"/>
                      <a:r>
                        <a:rPr sz="1500">
                          <a:solidFill>
                            <a:srgbClr val="24362F"/>
                          </a:solidFill>
                          <a:latin typeface="Arial"/>
                          <a:ea typeface="Arial"/>
                          <a:cs typeface="Arial"/>
                        </a:rPr>
                        <a:t>2000-01-01</a:t>
                      </a:r>
                    </a:p>
                  </a:txBody>
                  <a:tcPr marL="91440" marR="91440" marT="45720" marB="45720" anchor="ctr">
                    <a:solidFill>
                      <a:srgbClr val="FFFFFF"/>
                    </a:solidFill>
                  </a:tcPr>
                </a:tc>
                <a:tc>
                  <a:txBody>
                    <a:bodyPr wrap="square" lIns="76200" tIns="76200" rIns="76200" bIns="76200">
                      <a:normAutofit/>
                    </a:bodyPr>
                    <a:lstStyle/>
                    <a:p>
                      <a:pPr algn="l"/>
                      <a:r>
                        <a:rPr sz="1500">
                          <a:solidFill>
                            <a:srgbClr val="24362F"/>
                          </a:solidFill>
                          <a:latin typeface="Arial"/>
                          <a:ea typeface="Arial"/>
                          <a:cs typeface="Arial"/>
                        </a:rPr>
                        <a:t>latitude · longitude</a:t>
                      </a:r>
                    </a:p>
                  </a:txBody>
                  <a:tcPr marL="91440" marR="91440" marT="45720" marB="45720" anchor="ctr">
                    <a:solidFill>
                      <a:srgbClr val="FFFFFF"/>
                    </a:solidFill>
                  </a:tcPr>
                </a:tc>
                <a:tc>
                  <a:txBody>
                    <a:bodyPr wrap="square" lIns="76200" tIns="76200" rIns="76200" bIns="76200">
                      <a:normAutofit/>
                    </a:bodyPr>
                    <a:lstStyle/>
                    <a:p>
                      <a:pPr algn="l"/>
                      <a:r>
                        <a:rPr sz="1500">
                          <a:solidFill>
                            <a:srgbClr val="24362F"/>
                          </a:solidFill>
                          <a:latin typeface="Arial"/>
                          <a:ea typeface="Arial"/>
                          <a:cs typeface="Arial"/>
                        </a:rPr>
                        <a:t>T2M · T2M_MAX · PRECTOTCORR · …</a:t>
                      </a:r>
                    </a:p>
                  </a:txBody>
                  <a:tcPr marL="91440" marR="91440" marT="45720" marB="45720" anchor="ctr">
                    <a:solidFill>
                      <a:srgbClr val="FFFFFF"/>
                    </a:solidFill>
                  </a:tcPr>
                </a:tc>
              </a:tr>
            </a:tbl>
          </a:graphicData>
        </a:graphic>
      </p:graphicFrame>
      <p:sp>
        <p:nvSpPr>
          <p:cNvPr id="7" name="point-item-0">
            <a:extLst xmlns:a="http://schemas.openxmlformats.org/drawingml/2006/main">
              <a:ext uri="{FF2B5EF4-FFF2-40B4-BE49-F238E27FC236}">
                <a16:creationId xmlns:a16="http://schemas.microsoft.com/office/drawing/2014/main" id="{06BD8360-5EF7-461C-B5C2-FDB594B32045}"/>
              </a:ext>
            </a:extLst>
          </p:cNvPr>
          <p:cNvSpPr>
            <a:spLocks xmlns:a="http://schemas.openxmlformats.org/drawingml/2006/main" noGrp="1"/>
          </p:cNvSpPr>
          <p:nvPr/>
        </p:nvSpPr>
        <p:spPr>
          <a:xfrm xmlns:a="http://schemas.openxmlformats.org/drawingml/2006/main">
            <a:off x="838200" y="43338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Traceability</a:t>
            </a:r>
          </a:p>
        </p:txBody>
      </p:sp>
      <p:sp>
        <p:nvSpPr>
          <p:cNvPr id="8" name="point-item-text-0">
            <a:extLst xmlns:a="http://schemas.openxmlformats.org/drawingml/2006/main">
              <a:ext uri="{FF2B5EF4-FFF2-40B4-BE49-F238E27FC236}">
                <a16:creationId xmlns:a16="http://schemas.microsoft.com/office/drawing/2014/main" id="{52CE38EC-773D-46BF-B085-6D7A0BE49A11}"/>
              </a:ext>
            </a:extLst>
          </p:cNvPr>
          <p:cNvSpPr>
            <a:spLocks xmlns:a="http://schemas.openxmlformats.org/drawingml/2006/main" noGrp="1"/>
          </p:cNvSpPr>
          <p:nvPr/>
        </p:nvSpPr>
        <p:spPr>
          <a:xfrm xmlns:a="http://schemas.openxmlformats.org/drawingml/2006/main">
            <a:off x="838200" y="47625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5766E"/>
                </a:solidFill>
                <a:latin typeface="Arial"/>
                <a:ea typeface="Arial"/>
                <a:cs typeface="Arial"/>
              </a:defRPr>
            </a:defPPr>
          </a:lstStyle>
          <a:p xmlns:a="http://schemas.openxmlformats.org/drawingml/2006/main">
            <a:pPr algn="l">
              <a:lnSpc>
                <a:spcPct val="104000"/>
              </a:lnSpc>
              <a:buNone/>
              <a:defRPr sz="1500" b="0">
                <a:solidFill>
                  <a:srgbClr val="65766E"/>
                </a:solidFill>
                <a:latin typeface="Arial"/>
                <a:ea typeface="Arial"/>
                <a:cs typeface="Arial"/>
              </a:defRPr>
            </a:pPr>
            <a:r>
              <a:rPr sz="1500" b="0">
                <a:solidFill>
                  <a:srgbClr val="65766E"/>
                </a:solidFill>
                <a:latin typeface="Arial"/>
                <a:ea typeface="Arial"/>
                <a:cs typeface="Arial"/>
              </a:rPr>
              <a:t>Original source filename stays with the row.</a:t>
            </a:r>
          </a:p>
        </p:txBody>
      </p:sp>
      <p:sp>
        <p:nvSpPr>
          <p:cNvPr id="9" name="point-item-1">
            <a:extLst xmlns:a="http://schemas.openxmlformats.org/drawingml/2006/main">
              <a:ext uri="{FF2B5EF4-FFF2-40B4-BE49-F238E27FC236}">
                <a16:creationId xmlns:a16="http://schemas.microsoft.com/office/drawing/2014/main" id="{D67FE316-77A4-4ABA-9E88-2AF2E3B6E591}"/>
              </a:ext>
            </a:extLst>
          </p:cNvPr>
          <p:cNvSpPr>
            <a:spLocks xmlns:a="http://schemas.openxmlformats.org/drawingml/2006/main" noGrp="1"/>
          </p:cNvSpPr>
          <p:nvPr/>
        </p:nvSpPr>
        <p:spPr>
          <a:xfrm xmlns:a="http://schemas.openxmlformats.org/drawingml/2006/main">
            <a:off x="4410075" y="43338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Spatial detail</a:t>
            </a:r>
          </a:p>
        </p:txBody>
      </p:sp>
      <p:sp>
        <p:nvSpPr>
          <p:cNvPr id="10" name="point-item-text-1">
            <a:extLst xmlns:a="http://schemas.openxmlformats.org/drawingml/2006/main">
              <a:ext uri="{FF2B5EF4-FFF2-40B4-BE49-F238E27FC236}">
                <a16:creationId xmlns:a16="http://schemas.microsoft.com/office/drawing/2014/main" id="{BE3F1C7C-C1CF-454C-B182-AAF558E577FA}"/>
              </a:ext>
            </a:extLst>
          </p:cNvPr>
          <p:cNvSpPr>
            <a:spLocks xmlns:a="http://schemas.openxmlformats.org/drawingml/2006/main" noGrp="1"/>
          </p:cNvSpPr>
          <p:nvPr/>
        </p:nvSpPr>
        <p:spPr>
          <a:xfrm xmlns:a="http://schemas.openxmlformats.org/drawingml/2006/main">
            <a:off x="4410075" y="47625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5766E"/>
                </a:solidFill>
                <a:latin typeface="Arial"/>
                <a:ea typeface="Arial"/>
                <a:cs typeface="Arial"/>
              </a:defRPr>
            </a:defPPr>
          </a:lstStyle>
          <a:p xmlns:a="http://schemas.openxmlformats.org/drawingml/2006/main">
            <a:pPr algn="l">
              <a:lnSpc>
                <a:spcPct val="104000"/>
              </a:lnSpc>
              <a:buNone/>
              <a:defRPr sz="1500" b="0">
                <a:solidFill>
                  <a:srgbClr val="65766E"/>
                </a:solidFill>
                <a:latin typeface="Arial"/>
                <a:ea typeface="Arial"/>
                <a:cs typeface="Arial"/>
              </a:defRPr>
            </a:pPr>
            <a:r>
              <a:rPr sz="1500" b="0">
                <a:solidFill>
                  <a:srgbClr val="65766E"/>
                </a:solidFill>
                <a:latin typeface="Arial"/>
                <a:ea typeface="Arial"/>
                <a:cs typeface="Arial"/>
              </a:rPr>
              <a:t>Each point retains its own latitude and longitude.</a:t>
            </a:r>
          </a:p>
        </p:txBody>
      </p:sp>
      <p:sp>
        <p:nvSpPr>
          <p:cNvPr id="11" name="point-item-2">
            <a:extLst xmlns:a="http://schemas.openxmlformats.org/drawingml/2006/main">
              <a:ext uri="{FF2B5EF4-FFF2-40B4-BE49-F238E27FC236}">
                <a16:creationId xmlns:a16="http://schemas.microsoft.com/office/drawing/2014/main" id="{073CD829-AE10-4B65-862D-CF7AB2904DFE}"/>
              </a:ext>
            </a:extLst>
          </p:cNvPr>
          <p:cNvSpPr>
            <a:spLocks xmlns:a="http://schemas.openxmlformats.org/drawingml/2006/main" noGrp="1"/>
          </p:cNvSpPr>
          <p:nvPr/>
        </p:nvSpPr>
        <p:spPr>
          <a:xfrm xmlns:a="http://schemas.openxmlformats.org/drawingml/2006/main">
            <a:off x="7981950" y="43338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45675B"/>
                </a:solidFill>
                <a:latin typeface="Arial"/>
                <a:ea typeface="Arial"/>
                <a:cs typeface="Arial"/>
              </a:defRPr>
            </a:defPPr>
          </a:lstStyle>
          <a:p xmlns:a="http://schemas.openxmlformats.org/drawingml/2006/main">
            <a:pPr algn="l">
              <a:lnSpc>
                <a:spcPct val="104000"/>
              </a:lnSpc>
              <a:buNone/>
              <a:defRPr sz="1650" b="1">
                <a:solidFill>
                  <a:srgbClr val="45675B"/>
                </a:solidFill>
                <a:latin typeface="Arial"/>
                <a:ea typeface="Arial"/>
                <a:cs typeface="Arial"/>
              </a:defRPr>
            </a:pPr>
            <a:r>
              <a:rPr sz="1650" b="1">
                <a:solidFill>
                  <a:srgbClr val="45675B"/>
                </a:solidFill>
                <a:latin typeface="Arial"/>
                <a:ea typeface="Arial"/>
                <a:cs typeface="Arial"/>
              </a:rPr>
              <a:t>Monthly grain</a:t>
            </a:r>
          </a:p>
        </p:txBody>
      </p:sp>
      <p:sp>
        <p:nvSpPr>
          <p:cNvPr id="12" name="point-item-text-2">
            <a:extLst xmlns:a="http://schemas.openxmlformats.org/drawingml/2006/main">
              <a:ext uri="{FF2B5EF4-FFF2-40B4-BE49-F238E27FC236}">
                <a16:creationId xmlns:a16="http://schemas.microsoft.com/office/drawing/2014/main" id="{B55B0BBF-54B1-4E73-BAAA-F3D21DAAE8B4}"/>
              </a:ext>
            </a:extLst>
          </p:cNvPr>
          <p:cNvSpPr>
            <a:spLocks xmlns:a="http://schemas.openxmlformats.org/drawingml/2006/main" noGrp="1"/>
          </p:cNvSpPr>
          <p:nvPr/>
        </p:nvSpPr>
        <p:spPr>
          <a:xfrm xmlns:a="http://schemas.openxmlformats.org/drawingml/2006/main">
            <a:off x="7981950" y="47625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5766E"/>
                </a:solidFill>
                <a:latin typeface="Arial"/>
                <a:ea typeface="Arial"/>
                <a:cs typeface="Arial"/>
              </a:defRPr>
            </a:defPPr>
          </a:lstStyle>
          <a:p xmlns:a="http://schemas.openxmlformats.org/drawingml/2006/main">
            <a:pPr algn="l">
              <a:lnSpc>
                <a:spcPct val="104000"/>
              </a:lnSpc>
              <a:buNone/>
              <a:defRPr sz="1500" b="0">
                <a:solidFill>
                  <a:srgbClr val="65766E"/>
                </a:solidFill>
                <a:latin typeface="Arial"/>
                <a:ea typeface="Arial"/>
                <a:cs typeface="Arial"/>
              </a:defRPr>
            </a:pPr>
            <a:r>
              <a:rPr sz="1500" b="0">
                <a:solidFill>
                  <a:srgbClr val="65766E"/>
                </a:solidFill>
                <a:latin typeface="Arial"/>
                <a:ea typeface="Arial"/>
                <a:cs typeface="Arial"/>
              </a:rPr>
              <a:t>The wide table has one row per point and month.</a:t>
            </a:r>
          </a:p>
        </p:txBody>
      </p:sp>
    </p:spTree>
    <p:extLst>
      <p:ext uri="{BB962C8B-B14F-4D97-AF65-F5344CB8AC3E}">
        <p14:creationId xmlns:p14="http://schemas.microsoft.com/office/powerpoint/2010/main" val="1890759123"/>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1D33A46A-9E43-4C49-869A-00CA3C030588}"/>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CITY-WISE DATA</a:t>
            </a:r>
          </a:p>
        </p:txBody>
      </p:sp>
      <p:sp>
        <p:nvSpPr>
          <p:cNvPr id="2" name="slide-title">
            <a:extLst xmlns:a="http://schemas.openxmlformats.org/drawingml/2006/main">
              <a:ext uri="{FF2B5EF4-FFF2-40B4-BE49-F238E27FC236}">
                <a16:creationId xmlns:a16="http://schemas.microsoft.com/office/drawing/2014/main" id="{8A74E4D5-09ED-4853-AE6B-3B45F7A32205}"/>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City-wise data averages points within each month</a:t>
            </a:r>
          </a:p>
        </p:txBody>
      </p:sp>
      <p:sp>
        <p:nvSpPr>
          <p:cNvPr id="3" name="slide-subtitle">
            <a:extLst xmlns:a="http://schemas.openxmlformats.org/drawingml/2006/main">
              <a:ext uri="{FF2B5EF4-FFF2-40B4-BE49-F238E27FC236}">
                <a16:creationId xmlns:a16="http://schemas.microsoft.com/office/drawing/2014/main" id="{1D0431D8-192F-46B8-89F5-D927B04CAEB2}"/>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Then consistent city-level identity fields are added.</a:t>
            </a:r>
          </a:p>
        </p:txBody>
      </p:sp>
      <p:sp>
        <p:nvSpPr>
          <p:cNvPr id="4" name="header-rule">
            <a:extLst xmlns:a="http://schemas.openxmlformats.org/drawingml/2006/main">
              <a:ext uri="{FF2B5EF4-FFF2-40B4-BE49-F238E27FC236}">
                <a16:creationId xmlns:a16="http://schemas.microsoft.com/office/drawing/2014/main" id="{D3222321-F534-4F88-A013-C163D8AC865D}"/>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A4575E5C-053C-49FA-9689-7ED1A10EE9D1}"/>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13</a:t>
            </a:r>
          </a:p>
        </p:txBody>
      </p:sp>
      <p:sp>
        <p:nvSpPr>
          <p:cNvPr id="6" name="city-stage-tag-0">
            <a:extLst xmlns:a="http://schemas.openxmlformats.org/drawingml/2006/main">
              <a:ext uri="{FF2B5EF4-FFF2-40B4-BE49-F238E27FC236}">
                <a16:creationId xmlns:a16="http://schemas.microsoft.com/office/drawing/2014/main" id="{27EA1AED-3B08-4A90-A8BD-D866720D56BC}"/>
              </a:ext>
            </a:extLst>
          </p:cNvPr>
          <p:cNvSpPr>
            <a:spLocks xmlns:a="http://schemas.openxmlformats.org/drawingml/2006/main" noGrp="1"/>
          </p:cNvSpPr>
          <p:nvPr/>
        </p:nvSpPr>
        <p:spPr>
          <a:xfrm xmlns:a="http://schemas.openxmlformats.org/drawingml/2006/main">
            <a:off x="838200" y="2400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GROUP</a:t>
            </a:r>
          </a:p>
        </p:txBody>
      </p:sp>
      <p:sp>
        <p:nvSpPr>
          <p:cNvPr id="7" name="city-stage-text-0">
            <a:extLst xmlns:a="http://schemas.openxmlformats.org/drawingml/2006/main">
              <a:ext uri="{FF2B5EF4-FFF2-40B4-BE49-F238E27FC236}">
                <a16:creationId xmlns:a16="http://schemas.microsoft.com/office/drawing/2014/main" id="{0AEE7404-59AE-429F-B9FB-EBBBDDCA0E61}"/>
              </a:ext>
            </a:extLst>
          </p:cNvPr>
          <p:cNvSpPr>
            <a:spLocks xmlns:a="http://schemas.openxmlformats.org/drawingml/2006/main" noGrp="1"/>
          </p:cNvSpPr>
          <p:nvPr/>
        </p:nvSpPr>
        <p:spPr>
          <a:xfrm xmlns:a="http://schemas.openxmlformats.org/drawingml/2006/main">
            <a:off x="838200" y="28194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362F"/>
                </a:solidFill>
                <a:latin typeface="Arial"/>
                <a:ea typeface="Arial"/>
                <a:cs typeface="Arial"/>
              </a:defRPr>
            </a:defPPr>
          </a:lstStyle>
          <a:p xmlns:a="http://schemas.openxmlformats.org/drawingml/2006/main">
            <a:pPr algn="l">
              <a:lnSpc>
                <a:spcPct val="104000"/>
              </a:lnSpc>
              <a:buNone/>
              <a:defRPr sz="1950" b="1">
                <a:solidFill>
                  <a:srgbClr val="24362F"/>
                </a:solidFill>
                <a:latin typeface="Arial"/>
                <a:ea typeface="Arial"/>
                <a:cs typeface="Arial"/>
              </a:defRPr>
            </a:pPr>
            <a:r>
              <a:rPr sz="1950" b="1">
                <a:solidFill>
                  <a:srgbClr val="24362F"/>
                </a:solidFill>
                <a:latin typeface="Arial"/>
                <a:ea typeface="Arial"/>
                <a:cs typeface="Arial"/>
              </a:rPr>
              <a:t>Same city + same month</a:t>
            </a:r>
          </a:p>
        </p:txBody>
      </p:sp>
      <p:sp>
        <p:nvSpPr>
          <p:cNvPr id="8" name="city-stage-line-0">
            <a:extLst xmlns:a="http://schemas.openxmlformats.org/drawingml/2006/main">
              <a:ext uri="{FF2B5EF4-FFF2-40B4-BE49-F238E27FC236}">
                <a16:creationId xmlns:a16="http://schemas.microsoft.com/office/drawing/2014/main" id="{E2B36BF4-B775-4A04-B261-47CAF5B5BA81}"/>
              </a:ext>
            </a:extLst>
          </p:cNvPr>
          <p:cNvSpPr>
            <a:spLocks xmlns:a="http://schemas.openxmlformats.org/drawingml/2006/main" noGrp="1"/>
          </p:cNvSpPr>
          <p:nvPr/>
        </p:nvSpPr>
        <p:spPr>
          <a:xfrm xmlns:a="http://schemas.openxmlformats.org/drawingml/2006/main">
            <a:off x="3933825" y="2962275"/>
            <a:ext cx="323850" cy="0"/>
          </a:xfrm>
          <a:prstGeom xmlns:a="http://schemas.openxmlformats.org/drawingml/2006/main" prst="line">
            <a:avLst/>
          </a:prstGeom>
          <a:noFill xmlns:a="http://schemas.openxmlformats.org/drawingml/2006/main"/>
          <a:ln xmlns:a="http://schemas.openxmlformats.org/drawingml/2006/main" w="19050">
            <a:solidFill>
              <a:srgbClr val="A8BCAF"/>
            </a:solidFill>
            <a:prstDash val="solid"/>
          </a:ln>
        </p:spPr>
      </p:sp>
      <p:sp>
        <p:nvSpPr>
          <p:cNvPr id="9" name="city-stage-tag-1">
            <a:extLst xmlns:a="http://schemas.openxmlformats.org/drawingml/2006/main">
              <a:ext uri="{FF2B5EF4-FFF2-40B4-BE49-F238E27FC236}">
                <a16:creationId xmlns:a16="http://schemas.microsoft.com/office/drawing/2014/main" id="{878F0E8A-9440-4DE3-9B02-E5205BE551E4}"/>
              </a:ext>
            </a:extLst>
          </p:cNvPr>
          <p:cNvSpPr>
            <a:spLocks xmlns:a="http://schemas.openxmlformats.org/drawingml/2006/main" noGrp="1"/>
          </p:cNvSpPr>
          <p:nvPr/>
        </p:nvSpPr>
        <p:spPr>
          <a:xfrm xmlns:a="http://schemas.openxmlformats.org/drawingml/2006/main">
            <a:off x="4410075" y="2400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AGGREGATE</a:t>
            </a:r>
          </a:p>
        </p:txBody>
      </p:sp>
      <p:sp>
        <p:nvSpPr>
          <p:cNvPr id="10" name="city-stage-text-1">
            <a:extLst xmlns:a="http://schemas.openxmlformats.org/drawingml/2006/main">
              <a:ext uri="{FF2B5EF4-FFF2-40B4-BE49-F238E27FC236}">
                <a16:creationId xmlns:a16="http://schemas.microsoft.com/office/drawing/2014/main" id="{FFF51E96-8EC0-4A33-BF82-3A7AE627850E}"/>
              </a:ext>
            </a:extLst>
          </p:cNvPr>
          <p:cNvSpPr>
            <a:spLocks xmlns:a="http://schemas.openxmlformats.org/drawingml/2006/main" noGrp="1"/>
          </p:cNvSpPr>
          <p:nvPr/>
        </p:nvSpPr>
        <p:spPr>
          <a:xfrm xmlns:a="http://schemas.openxmlformats.org/drawingml/2006/main">
            <a:off x="4410075" y="28194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362F"/>
                </a:solidFill>
                <a:latin typeface="Arial"/>
                <a:ea typeface="Arial"/>
                <a:cs typeface="Arial"/>
              </a:defRPr>
            </a:defPPr>
          </a:lstStyle>
          <a:p xmlns:a="http://schemas.openxmlformats.org/drawingml/2006/main">
            <a:pPr algn="l">
              <a:lnSpc>
                <a:spcPct val="104000"/>
              </a:lnSpc>
              <a:buNone/>
              <a:defRPr sz="1950" b="1">
                <a:solidFill>
                  <a:srgbClr val="24362F"/>
                </a:solidFill>
                <a:latin typeface="Arial"/>
                <a:ea typeface="Arial"/>
                <a:cs typeface="Arial"/>
              </a:defRPr>
            </a:pPr>
            <a:r>
              <a:rPr sz="1950" b="1">
                <a:solidFill>
                  <a:srgbClr val="24362F"/>
                </a:solidFill>
                <a:latin typeface="Arial"/>
                <a:ea typeface="Arial"/>
                <a:cs typeface="Arial"/>
              </a:rPr>
              <a:t>Mean of available point values</a:t>
            </a:r>
          </a:p>
        </p:txBody>
      </p:sp>
      <p:sp>
        <p:nvSpPr>
          <p:cNvPr id="11" name="city-stage-line-1">
            <a:extLst xmlns:a="http://schemas.openxmlformats.org/drawingml/2006/main">
              <a:ext uri="{FF2B5EF4-FFF2-40B4-BE49-F238E27FC236}">
                <a16:creationId xmlns:a16="http://schemas.microsoft.com/office/drawing/2014/main" id="{E35C047D-A836-45BF-A27B-FC2B9BB5247E}"/>
              </a:ext>
            </a:extLst>
          </p:cNvPr>
          <p:cNvSpPr>
            <a:spLocks xmlns:a="http://schemas.openxmlformats.org/drawingml/2006/main" noGrp="1"/>
          </p:cNvSpPr>
          <p:nvPr/>
        </p:nvSpPr>
        <p:spPr>
          <a:xfrm xmlns:a="http://schemas.openxmlformats.org/drawingml/2006/main">
            <a:off x="7505700" y="2962275"/>
            <a:ext cx="323850" cy="0"/>
          </a:xfrm>
          <a:prstGeom xmlns:a="http://schemas.openxmlformats.org/drawingml/2006/main" prst="line">
            <a:avLst/>
          </a:prstGeom>
          <a:noFill xmlns:a="http://schemas.openxmlformats.org/drawingml/2006/main"/>
          <a:ln xmlns:a="http://schemas.openxmlformats.org/drawingml/2006/main" w="19050">
            <a:solidFill>
              <a:srgbClr val="A8BCAF"/>
            </a:solidFill>
            <a:prstDash val="solid"/>
          </a:ln>
        </p:spPr>
      </p:sp>
      <p:sp>
        <p:nvSpPr>
          <p:cNvPr id="12" name="city-stage-tag-2">
            <a:extLst xmlns:a="http://schemas.openxmlformats.org/drawingml/2006/main">
              <a:ext uri="{FF2B5EF4-FFF2-40B4-BE49-F238E27FC236}">
                <a16:creationId xmlns:a16="http://schemas.microsoft.com/office/drawing/2014/main" id="{A2B01B2F-B9A0-43CB-BC76-8CA0221D9F5E}"/>
              </a:ext>
            </a:extLst>
          </p:cNvPr>
          <p:cNvSpPr>
            <a:spLocks xmlns:a="http://schemas.openxmlformats.org/drawingml/2006/main" noGrp="1"/>
          </p:cNvSpPr>
          <p:nvPr/>
        </p:nvSpPr>
        <p:spPr>
          <a:xfrm xmlns:a="http://schemas.openxmlformats.org/drawingml/2006/main">
            <a:off x="7981950" y="2400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57985"/>
                </a:solidFill>
                <a:latin typeface="Arial"/>
                <a:ea typeface="Arial"/>
                <a:cs typeface="Arial"/>
              </a:defRPr>
            </a:defPPr>
          </a:lstStyle>
          <a:p xmlns:a="http://schemas.openxmlformats.org/drawingml/2006/main">
            <a:pPr algn="l">
              <a:lnSpc>
                <a:spcPct val="104000"/>
              </a:lnSpc>
              <a:buNone/>
              <a:defRPr sz="1125" b="1">
                <a:solidFill>
                  <a:srgbClr val="557985"/>
                </a:solidFill>
                <a:latin typeface="Arial"/>
                <a:ea typeface="Arial"/>
                <a:cs typeface="Arial"/>
              </a:defRPr>
            </a:pPr>
            <a:r>
              <a:rPr sz="1125" b="1">
                <a:solidFill>
                  <a:srgbClr val="557985"/>
                </a:solidFill>
                <a:latin typeface="Arial"/>
                <a:ea typeface="Arial"/>
                <a:cs typeface="Arial"/>
              </a:rPr>
              <a:t>STANDARDIZE</a:t>
            </a:r>
          </a:p>
        </p:txBody>
      </p:sp>
      <p:sp>
        <p:nvSpPr>
          <p:cNvPr id="13" name="city-stage-text-2">
            <a:extLst xmlns:a="http://schemas.openxmlformats.org/drawingml/2006/main">
              <a:ext uri="{FF2B5EF4-FFF2-40B4-BE49-F238E27FC236}">
                <a16:creationId xmlns:a16="http://schemas.microsoft.com/office/drawing/2014/main" id="{D1C68DF0-F1AB-4C64-89B4-E18764C60EEB}"/>
              </a:ext>
            </a:extLst>
          </p:cNvPr>
          <p:cNvSpPr>
            <a:spLocks xmlns:a="http://schemas.openxmlformats.org/drawingml/2006/main" noGrp="1"/>
          </p:cNvSpPr>
          <p:nvPr/>
        </p:nvSpPr>
        <p:spPr>
          <a:xfrm xmlns:a="http://schemas.openxmlformats.org/drawingml/2006/main">
            <a:off x="7981950" y="28194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362F"/>
                </a:solidFill>
                <a:latin typeface="Arial"/>
                <a:ea typeface="Arial"/>
                <a:cs typeface="Arial"/>
              </a:defRPr>
            </a:defPPr>
          </a:lstStyle>
          <a:p xmlns:a="http://schemas.openxmlformats.org/drawingml/2006/main">
            <a:pPr algn="l">
              <a:lnSpc>
                <a:spcPct val="104000"/>
              </a:lnSpc>
              <a:buNone/>
              <a:defRPr sz="1950" b="1">
                <a:solidFill>
                  <a:srgbClr val="24362F"/>
                </a:solidFill>
                <a:latin typeface="Arial"/>
                <a:ea typeface="Arial"/>
                <a:cs typeface="Arial"/>
              </a:defRPr>
            </a:pPr>
            <a:r>
              <a:rPr sz="1950" b="1">
                <a:solidFill>
                  <a:srgbClr val="24362F"/>
                </a:solidFill>
                <a:latin typeface="Arial"/>
                <a:ea typeface="Arial"/>
                <a:cs typeface="Arial"/>
              </a:rPr>
              <a:t>City, state, location ID and coordinates</a:t>
            </a:r>
          </a:p>
        </p:txBody>
      </p:sp>
      <p:sp>
        <p:nvSpPr>
          <p:cNvPr id="14" name="city-stage-lower-rule">
            <a:extLst xmlns:a="http://schemas.openxmlformats.org/drawingml/2006/main">
              <a:ext uri="{FF2B5EF4-FFF2-40B4-BE49-F238E27FC236}">
                <a16:creationId xmlns:a16="http://schemas.microsoft.com/office/drawing/2014/main" id="{089069D5-E03D-405B-84A2-E567B648FEDF}"/>
              </a:ext>
            </a:extLst>
          </p:cNvPr>
          <p:cNvSpPr>
            <a:spLocks xmlns:a="http://schemas.openxmlformats.org/drawingml/2006/main" noGrp="1"/>
          </p:cNvSpPr>
          <p:nvPr/>
        </p:nvSpPr>
        <p:spPr>
          <a:xfrm xmlns:a="http://schemas.openxmlformats.org/drawingml/2006/main">
            <a:off x="838200" y="4343400"/>
            <a:ext cx="10496550" cy="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5" name="city-stage-extra">
            <a:extLst xmlns:a="http://schemas.openxmlformats.org/drawingml/2006/main">
              <a:ext uri="{FF2B5EF4-FFF2-40B4-BE49-F238E27FC236}">
                <a16:creationId xmlns:a16="http://schemas.microsoft.com/office/drawing/2014/main" id="{A17177FA-EA37-4239-B073-CB4E301D21AF}"/>
              </a:ext>
            </a:extLst>
          </p:cNvPr>
          <p:cNvSpPr>
            <a:spLocks xmlns:a="http://schemas.openxmlformats.org/drawingml/2006/main" noGrp="1"/>
          </p:cNvSpPr>
          <p:nvPr/>
        </p:nvSpPr>
        <p:spPr>
          <a:xfrm xmlns:a="http://schemas.openxmlformats.org/drawingml/2006/main">
            <a:off x="838200" y="479107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65766E"/>
                </a:solidFill>
                <a:latin typeface="Arial"/>
                <a:ea typeface="Arial"/>
                <a:cs typeface="Arial"/>
              </a:defRPr>
            </a:defPPr>
          </a:lstStyle>
          <a:p xmlns:a="http://schemas.openxmlformats.org/drawingml/2006/main">
            <a:pPr algn="l">
              <a:lnSpc>
                <a:spcPct val="104000"/>
              </a:lnSpc>
              <a:buNone/>
              <a:defRPr sz="1800" b="0">
                <a:solidFill>
                  <a:srgbClr val="65766E"/>
                </a:solidFill>
                <a:latin typeface="Arial"/>
                <a:ea typeface="Arial"/>
                <a:cs typeface="Arial"/>
              </a:defRPr>
            </a:pPr>
            <a:r>
              <a:rPr sz="1800" b="0">
                <a:solidFill>
                  <a:srgbClr val="65766E"/>
                </a:solidFill>
                <a:latin typeface="Arial"/>
                <a:ea typeface="Arial"/>
                <a:cs typeface="Arial"/>
              </a:rPr>
              <a:t>Point coverage and representative coordinates are retained with each city-month row.</a:t>
            </a:r>
          </a:p>
        </p:txBody>
      </p:sp>
    </p:spTree>
    <p:extLst>
      <p:ext uri="{BB962C8B-B14F-4D97-AF65-F5344CB8AC3E}">
        <p14:creationId xmlns:p14="http://schemas.microsoft.com/office/powerpoint/2010/main" val="1756301534"/>
      </p:ext>
    </p:extLst>
  </p:cSld>
</p:sld>
</file>

<file path=ppt/slides/slide1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9E33A94-ED8C-4488-BD86-81DA6AD16EA5}"/>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CITY-WISE DATA</a:t>
            </a:r>
          </a:p>
        </p:txBody>
      </p:sp>
      <p:sp>
        <p:nvSpPr>
          <p:cNvPr id="2" name="slide-title">
            <a:extLst xmlns:a="http://schemas.openxmlformats.org/drawingml/2006/main">
              <a:ext uri="{FF2B5EF4-FFF2-40B4-BE49-F238E27FC236}">
                <a16:creationId xmlns:a16="http://schemas.microsoft.com/office/drawing/2014/main" id="{DC62EF49-6569-48B9-BC5F-32EF2B1B8C1F}"/>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Example: nine points become one city-month value</a:t>
            </a:r>
          </a:p>
        </p:txBody>
      </p:sp>
      <p:sp>
        <p:nvSpPr>
          <p:cNvPr id="3" name="slide-subtitle">
            <a:extLst xmlns:a="http://schemas.openxmlformats.org/drawingml/2006/main">
              <a:ext uri="{FF2B5EF4-FFF2-40B4-BE49-F238E27FC236}">
                <a16:creationId xmlns:a16="http://schemas.microsoft.com/office/drawing/2014/main" id="{8EE9F15F-02EA-431C-AB27-2623AC1C21FB}"/>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Ahmedabad · January 2000 · actual T2M records.</a:t>
            </a:r>
          </a:p>
        </p:txBody>
      </p:sp>
      <p:sp>
        <p:nvSpPr>
          <p:cNvPr id="4" name="header-rule">
            <a:extLst xmlns:a="http://schemas.openxmlformats.org/drawingml/2006/main">
              <a:ext uri="{FF2B5EF4-FFF2-40B4-BE49-F238E27FC236}">
                <a16:creationId xmlns:a16="http://schemas.microsoft.com/office/drawing/2014/main" id="{CAEC49C6-E0A0-43E8-9C92-C9618FC8FFB4}"/>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C81A349C-9BD4-4CA5-9E4D-4CD905C6A803}"/>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14</a:t>
            </a:r>
          </a:p>
        </p:txBody>
      </p:sp>
      <p:sp>
        <p:nvSpPr>
          <p:cNvPr id="6" name="example-point-label">
            <a:extLst xmlns:a="http://schemas.openxmlformats.org/drawingml/2006/main">
              <a:ext uri="{FF2B5EF4-FFF2-40B4-BE49-F238E27FC236}">
                <a16:creationId xmlns:a16="http://schemas.microsoft.com/office/drawing/2014/main" id="{FF5F5340-C6D6-491E-BE48-84BCB932CFDF}"/>
              </a:ext>
            </a:extLst>
          </p:cNvPr>
          <p:cNvSpPr>
            <a:spLocks xmlns:a="http://schemas.openxmlformats.org/drawingml/2006/main" noGrp="1"/>
          </p:cNvSpPr>
          <p:nvPr/>
        </p:nvSpPr>
        <p:spPr>
          <a:xfrm xmlns:a="http://schemas.openxmlformats.org/drawingml/2006/main">
            <a:off x="838200" y="23336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POINTWISE INPUT</a:t>
            </a:r>
          </a:p>
        </p:txBody>
      </p:sp>
      <p:sp>
        <p:nvSpPr>
          <p:cNvPr id="7" name="example-math">
            <a:extLst xmlns:a="http://schemas.openxmlformats.org/drawingml/2006/main">
              <a:ext uri="{FF2B5EF4-FFF2-40B4-BE49-F238E27FC236}">
                <a16:creationId xmlns:a16="http://schemas.microsoft.com/office/drawing/2014/main" id="{EB2781D3-379E-47E5-BAB8-5E2A81B89124}"/>
              </a:ext>
            </a:extLst>
          </p:cNvPr>
          <p:cNvSpPr>
            <a:spLocks xmlns:a="http://schemas.openxmlformats.org/drawingml/2006/main" noGrp="1"/>
          </p:cNvSpPr>
          <p:nvPr/>
        </p:nvSpPr>
        <p:spPr>
          <a:xfrm xmlns:a="http://schemas.openxmlformats.org/drawingml/2006/main">
            <a:off x="838200" y="272415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24362F"/>
                </a:solidFill>
                <a:latin typeface="Arial"/>
                <a:ea typeface="Arial"/>
                <a:cs typeface="Arial"/>
              </a:defRPr>
            </a:defPPr>
          </a:lstStyle>
          <a:p xmlns:a="http://schemas.openxmlformats.org/drawingml/2006/main">
            <a:pPr algn="l">
              <a:lnSpc>
                <a:spcPct val="104000"/>
              </a:lnSpc>
              <a:buNone/>
              <a:defRPr sz="2475" b="1">
                <a:solidFill>
                  <a:srgbClr val="24362F"/>
                </a:solidFill>
                <a:latin typeface="Arial"/>
                <a:ea typeface="Arial"/>
                <a:cs typeface="Arial"/>
              </a:defRPr>
            </a:pPr>
            <a:r>
              <a:rPr sz="2475" b="1">
                <a:solidFill>
                  <a:srgbClr val="24362F"/>
                </a:solidFill>
                <a:latin typeface="Arial"/>
                <a:ea typeface="Arial"/>
                <a:cs typeface="Arial"/>
              </a:rPr>
              <a:t>(21.79 + 8 × 21.17) ÷ 9</a:t>
            </a:r>
          </a:p>
        </p:txBody>
      </p:sp>
      <p:sp>
        <p:nvSpPr>
          <p:cNvPr id="8" name="example-arrow">
            <a:extLst xmlns:a="http://schemas.openxmlformats.org/drawingml/2006/main">
              <a:ext uri="{FF2B5EF4-FFF2-40B4-BE49-F238E27FC236}">
                <a16:creationId xmlns:a16="http://schemas.microsoft.com/office/drawing/2014/main" id="{EAD12A25-4EC1-4DC8-8545-77A97049A44F}"/>
              </a:ext>
            </a:extLst>
          </p:cNvPr>
          <p:cNvSpPr>
            <a:spLocks xmlns:a="http://schemas.openxmlformats.org/drawingml/2006/main" noGrp="1"/>
          </p:cNvSpPr>
          <p:nvPr/>
        </p:nvSpPr>
        <p:spPr>
          <a:xfrm xmlns:a="http://schemas.openxmlformats.org/drawingml/2006/main">
            <a:off x="838200" y="3533775"/>
            <a:ext cx="4629150" cy="0"/>
          </a:xfrm>
          <a:prstGeom xmlns:a="http://schemas.openxmlformats.org/drawingml/2006/main" prst="line">
            <a:avLst/>
          </a:prstGeom>
          <a:noFill xmlns:a="http://schemas.openxmlformats.org/drawingml/2006/main"/>
          <a:ln xmlns:a="http://schemas.openxmlformats.org/drawingml/2006/main" w="19050">
            <a:solidFill>
              <a:srgbClr val="A8BCAF"/>
            </a:solidFill>
            <a:prstDash val="solid"/>
          </a:ln>
        </p:spPr>
      </p:sp>
      <p:sp>
        <p:nvSpPr>
          <p:cNvPr id="9" name="example-result-label">
            <a:extLst xmlns:a="http://schemas.openxmlformats.org/drawingml/2006/main">
              <a:ext uri="{FF2B5EF4-FFF2-40B4-BE49-F238E27FC236}">
                <a16:creationId xmlns:a16="http://schemas.microsoft.com/office/drawing/2014/main" id="{686BE895-E37C-4C9A-B081-04DBFDDD6417}"/>
              </a:ext>
            </a:extLst>
          </p:cNvPr>
          <p:cNvSpPr>
            <a:spLocks xmlns:a="http://schemas.openxmlformats.org/drawingml/2006/main" noGrp="1"/>
          </p:cNvSpPr>
          <p:nvPr/>
        </p:nvSpPr>
        <p:spPr>
          <a:xfrm xmlns:a="http://schemas.openxmlformats.org/drawingml/2006/main">
            <a:off x="838200" y="3895725"/>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57985"/>
                </a:solidFill>
                <a:latin typeface="Arial"/>
                <a:ea typeface="Arial"/>
                <a:cs typeface="Arial"/>
              </a:defRPr>
            </a:defPPr>
          </a:lstStyle>
          <a:p xmlns:a="http://schemas.openxmlformats.org/drawingml/2006/main">
            <a:pPr algn="l">
              <a:lnSpc>
                <a:spcPct val="104000"/>
              </a:lnSpc>
              <a:buNone/>
              <a:defRPr sz="1125" b="1">
                <a:solidFill>
                  <a:srgbClr val="557985"/>
                </a:solidFill>
                <a:latin typeface="Arial"/>
                <a:ea typeface="Arial"/>
                <a:cs typeface="Arial"/>
              </a:defRPr>
            </a:pPr>
            <a:r>
              <a:rPr sz="1125" b="1">
                <a:solidFill>
                  <a:srgbClr val="557985"/>
                </a:solidFill>
                <a:latin typeface="Arial"/>
                <a:ea typeface="Arial"/>
                <a:cs typeface="Arial"/>
              </a:rPr>
              <a:t>CITY-MONTH OUTPUT</a:t>
            </a:r>
          </a:p>
        </p:txBody>
      </p:sp>
      <p:sp>
        <p:nvSpPr>
          <p:cNvPr id="10" name="example-result">
            <a:extLst xmlns:a="http://schemas.openxmlformats.org/drawingml/2006/main">
              <a:ext uri="{FF2B5EF4-FFF2-40B4-BE49-F238E27FC236}">
                <a16:creationId xmlns:a16="http://schemas.microsoft.com/office/drawing/2014/main" id="{044CF05C-E3BB-4EAE-B8D0-F5A69CEFA6A9}"/>
              </a:ext>
            </a:extLst>
          </p:cNvPr>
          <p:cNvSpPr>
            <a:spLocks xmlns:a="http://schemas.openxmlformats.org/drawingml/2006/main" noGrp="1"/>
          </p:cNvSpPr>
          <p:nvPr/>
        </p:nvSpPr>
        <p:spPr>
          <a:xfrm xmlns:a="http://schemas.openxmlformats.org/drawingml/2006/main">
            <a:off x="838200" y="4276725"/>
            <a:ext cx="466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45675B"/>
                </a:solidFill>
                <a:latin typeface="Arial"/>
                <a:ea typeface="Arial"/>
                <a:cs typeface="Arial"/>
              </a:defRPr>
            </a:defPPr>
          </a:lstStyle>
          <a:p xmlns:a="http://schemas.openxmlformats.org/drawingml/2006/main">
            <a:pPr algn="l">
              <a:lnSpc>
                <a:spcPct val="104000"/>
              </a:lnSpc>
              <a:buNone/>
              <a:defRPr sz="3600" b="1">
                <a:solidFill>
                  <a:srgbClr val="45675B"/>
                </a:solidFill>
                <a:latin typeface="Arial"/>
                <a:ea typeface="Arial"/>
                <a:cs typeface="Arial"/>
              </a:defRPr>
            </a:pPr>
            <a:r>
              <a:rPr sz="3600" b="1">
                <a:solidFill>
                  <a:srgbClr val="45675B"/>
                </a:solidFill>
                <a:latin typeface="Arial"/>
                <a:ea typeface="Arial"/>
                <a:cs typeface="Arial"/>
              </a:rPr>
              <a:t>21.2389 °C</a:t>
            </a:r>
          </a:p>
        </p:txBody>
      </p:sp>
      <p:sp>
        <p:nvSpPr>
          <p:cNvPr id="11" name="example-coverage">
            <a:extLst xmlns:a="http://schemas.openxmlformats.org/drawingml/2006/main">
              <a:ext uri="{FF2B5EF4-FFF2-40B4-BE49-F238E27FC236}">
                <a16:creationId xmlns:a16="http://schemas.microsoft.com/office/drawing/2014/main" id="{598DF96E-9699-403D-90DE-178AB87F321D}"/>
              </a:ext>
            </a:extLst>
          </p:cNvPr>
          <p:cNvSpPr>
            <a:spLocks xmlns:a="http://schemas.openxmlformats.org/drawingml/2006/main" noGrp="1"/>
          </p:cNvSpPr>
          <p:nvPr/>
        </p:nvSpPr>
        <p:spPr>
          <a:xfrm xmlns:a="http://schemas.openxmlformats.org/drawingml/2006/main">
            <a:off x="857250" y="49911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9 of 9 points available</a:t>
            </a:r>
          </a:p>
        </p:txBody>
      </p:sp>
      <p:sp>
        <p:nvSpPr>
          <p:cNvPr id="12" name="example-side-rule">
            <a:extLst xmlns:a="http://schemas.openxmlformats.org/drawingml/2006/main">
              <a:ext uri="{FF2B5EF4-FFF2-40B4-BE49-F238E27FC236}">
                <a16:creationId xmlns:a16="http://schemas.microsoft.com/office/drawing/2014/main" id="{3F608DAE-42A7-48B4-B055-D7F7BE3C3F36}"/>
              </a:ext>
            </a:extLst>
          </p:cNvPr>
          <p:cNvSpPr>
            <a:spLocks xmlns:a="http://schemas.openxmlformats.org/drawingml/2006/main" noGrp="1"/>
          </p:cNvSpPr>
          <p:nvPr/>
        </p:nvSpPr>
        <p:spPr>
          <a:xfrm xmlns:a="http://schemas.openxmlformats.org/drawingml/2006/main">
            <a:off x="7477125" y="2324100"/>
            <a:ext cx="28575" cy="3000375"/>
          </a:xfrm>
          <a:prstGeom xmlns:a="http://schemas.openxmlformats.org/drawingml/2006/main" prst="rect">
            <a:avLst/>
          </a:prstGeom>
          <a:solidFill xmlns:a="http://schemas.openxmlformats.org/drawingml/2006/main">
            <a:srgbClr val="A8BCAF"/>
          </a:solidFill>
          <a:ln xmlns:a="http://schemas.openxmlformats.org/drawingml/2006/main" w="0">
            <a:noFill/>
            <a:prstDash val="solid"/>
          </a:ln>
        </p:spPr>
      </p:sp>
      <p:sp>
        <p:nvSpPr>
          <p:cNvPr id="13" name="example-explainer">
            <a:extLst xmlns:a="http://schemas.openxmlformats.org/drawingml/2006/main">
              <a:ext uri="{FF2B5EF4-FFF2-40B4-BE49-F238E27FC236}">
                <a16:creationId xmlns:a16="http://schemas.microsoft.com/office/drawing/2014/main" id="{DA5574F8-90FE-4539-BF00-64CB18039DD9}"/>
              </a:ext>
            </a:extLst>
          </p:cNvPr>
          <p:cNvSpPr>
            <a:spLocks xmlns:a="http://schemas.openxmlformats.org/drawingml/2006/main" noGrp="1"/>
          </p:cNvSpPr>
          <p:nvPr/>
        </p:nvSpPr>
        <p:spPr>
          <a:xfrm xmlns:a="http://schemas.openxmlformats.org/drawingml/2006/main">
            <a:off x="7848600" y="2581275"/>
            <a:ext cx="32385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24362F"/>
                </a:solidFill>
                <a:latin typeface="Arial"/>
                <a:ea typeface="Arial"/>
                <a:cs typeface="Arial"/>
              </a:defRPr>
            </a:defPPr>
          </a:lstStyle>
          <a:p xmlns:a="http://schemas.openxmlformats.org/drawingml/2006/main">
            <a:pPr algn="l">
              <a:lnSpc>
                <a:spcPct val="104000"/>
              </a:lnSpc>
              <a:buNone/>
              <a:defRPr sz="1950" b="0">
                <a:solidFill>
                  <a:srgbClr val="24362F"/>
                </a:solidFill>
                <a:latin typeface="Arial"/>
                <a:ea typeface="Arial"/>
                <a:cs typeface="Arial"/>
              </a:defRPr>
            </a:pPr>
            <a:r>
              <a:rPr sz="1950" b="0">
                <a:solidFill>
                  <a:srgbClr val="24362F"/>
                </a:solidFill>
                <a:latin typeface="Arial"/>
                <a:ea typeface="Arial"/>
                <a:cs typeface="Arial"/>
              </a:rPr>
              <a:t>This averaging is repeated for each available climate parameter and month.</a:t>
            </a:r>
          </a:p>
        </p:txBody>
      </p:sp>
    </p:spTree>
    <p:extLst>
      <p:ext uri="{BB962C8B-B14F-4D97-AF65-F5344CB8AC3E}">
        <p14:creationId xmlns:p14="http://schemas.microsoft.com/office/powerpoint/2010/main" val="1390338708"/>
      </p:ext>
    </p:extLst>
  </p:cSld>
</p:sld>
</file>

<file path=ppt/slides/slide1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7BC5503-E5E2-4916-8CDD-DAD0C8FC6466}"/>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CITY + ALL-CITIES DATA</a:t>
            </a:r>
          </a:p>
        </p:txBody>
      </p:sp>
      <p:sp>
        <p:nvSpPr>
          <p:cNvPr id="2" name="slide-title">
            <a:extLst xmlns:a="http://schemas.openxmlformats.org/drawingml/2006/main">
              <a:ext uri="{FF2B5EF4-FFF2-40B4-BE49-F238E27FC236}">
                <a16:creationId xmlns:a16="http://schemas.microsoft.com/office/drawing/2014/main" id="{B122FCF6-3774-4956-B87B-341DC8CCCCCE}"/>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City-wise and all-cities tables share a row structure</a:t>
            </a:r>
          </a:p>
        </p:txBody>
      </p:sp>
      <p:sp>
        <p:nvSpPr>
          <p:cNvPr id="3" name="slide-subtitle">
            <a:extLst xmlns:a="http://schemas.openxmlformats.org/drawingml/2006/main">
              <a:ext uri="{FF2B5EF4-FFF2-40B4-BE49-F238E27FC236}">
                <a16:creationId xmlns:a16="http://schemas.microsoft.com/office/drawing/2014/main" id="{6F315E92-1140-4CE5-A54B-D140BFC9EB02}"/>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difference is whether one city or all eight cities are in the file.</a:t>
            </a:r>
          </a:p>
        </p:txBody>
      </p:sp>
      <p:sp>
        <p:nvSpPr>
          <p:cNvPr id="4" name="header-rule">
            <a:extLst xmlns:a="http://schemas.openxmlformats.org/drawingml/2006/main">
              <a:ext uri="{FF2B5EF4-FFF2-40B4-BE49-F238E27FC236}">
                <a16:creationId xmlns:a16="http://schemas.microsoft.com/office/drawing/2014/main" id="{8992E7D1-8675-4962-A60F-FA677856D9D1}"/>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A261195C-FF49-41FA-912C-F5D636109A2A}"/>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15</a:t>
            </a:r>
          </a:p>
        </p:txBody>
      </p:sp>
      <p:graphicFrame>
        <p:nvGraphicFramePr>
          <p:cNvPr id="6" name="">
            <a:extLst xmlns:a="http://schemas.openxmlformats.org/drawingml/2006/main">
              <a:ext uri="{FF2B5EF4-FFF2-40B4-BE49-F238E27FC236}">
                <a16:creationId xmlns:a16="http://schemas.microsoft.com/office/drawing/2014/main" id="{80E30217-C216-4D6C-8E21-CE80A144D7E2}"/>
              </a:ext>
            </a:extLst>
          </p:cNvPr>
          <p:cNvGraphicFramePr/>
          <p:nvPr/>
        </p:nvGraphicFramePr>
        <p:xfrm>
          <a:off xmlns:a="http://schemas.openxmlformats.org/drawingml/2006/main" x="762000" y="2209800"/>
          <a:ext xmlns:a="http://schemas.openxmlformats.org/drawingml/2006/main" cx="10668000" cy="1257300"/>
        </p:xfrm>
        <a:graphic xmlns:a="http://schemas.openxmlformats.org/drawingml/2006/main">
          <a:graphicData uri="http://schemas.openxmlformats.org/drawingml/2006/table">
            <a:tbl>
              <a:tblPr/>
              <a:tblGrid>
                <a:gridCol w="2095500"/>
                <a:gridCol w="2095500"/>
                <a:gridCol w="2095500"/>
                <a:gridCol w="2857500"/>
                <a:gridCol w="1524000"/>
              </a:tblGrid>
              <a:tr h="628650">
                <a:tc>
                  <a:txBody>
                    <a:bodyPr wrap="square" lIns="76200" tIns="76200" rIns="76200" bIns="76200">
                      <a:normAutofit/>
                    </a:bodyPr>
                    <a:lstStyle/>
                    <a:p>
                      <a:pPr algn="l"/>
                      <a:r>
                        <a:rPr sz="1350" b="1">
                          <a:solidFill>
                            <a:srgbClr val="45675B"/>
                          </a:solidFill>
                          <a:latin typeface="Arial"/>
                          <a:ea typeface="Arial"/>
                          <a:cs typeface="Arial"/>
                        </a:rPr>
                        <a:t>CITY</a:t>
                      </a:r>
                    </a:p>
                  </a:txBody>
                  <a:tcPr marL="91440" marR="91440" marT="45720" marB="45720" anchor="ctr">
                    <a:solidFill>
                      <a:srgbClr val="E7EEE8"/>
                    </a:solidFill>
                  </a:tcPr>
                </a:tc>
                <a:tc>
                  <a:txBody>
                    <a:bodyPr wrap="square" lIns="76200" tIns="76200" rIns="76200" bIns="76200">
                      <a:normAutofit/>
                    </a:bodyPr>
                    <a:lstStyle/>
                    <a:p>
                      <a:pPr algn="l"/>
                      <a:r>
                        <a:rPr sz="1350" b="1">
                          <a:solidFill>
                            <a:srgbClr val="45675B"/>
                          </a:solidFill>
                          <a:latin typeface="Arial"/>
                          <a:ea typeface="Arial"/>
                          <a:cs typeface="Arial"/>
                        </a:rPr>
                        <a:t>STATE</a:t>
                      </a:r>
                    </a:p>
                  </a:txBody>
                  <a:tcPr marL="91440" marR="91440" marT="45720" marB="45720" anchor="ctr">
                    <a:solidFill>
                      <a:srgbClr val="E7EEE8"/>
                    </a:solidFill>
                  </a:tcPr>
                </a:tc>
                <a:tc>
                  <a:txBody>
                    <a:bodyPr wrap="square" lIns="76200" tIns="76200" rIns="76200" bIns="76200">
                      <a:normAutofit/>
                    </a:bodyPr>
                    <a:lstStyle/>
                    <a:p>
                      <a:pPr algn="l"/>
                      <a:r>
                        <a:rPr sz="1350" b="1">
                          <a:solidFill>
                            <a:srgbClr val="45675B"/>
                          </a:solidFill>
                          <a:latin typeface="Arial"/>
                          <a:ea typeface="Arial"/>
                          <a:cs typeface="Arial"/>
                        </a:rPr>
                        <a:t>MONTH</a:t>
                      </a:r>
                    </a:p>
                  </a:txBody>
                  <a:tcPr marL="91440" marR="91440" marT="45720" marB="45720" anchor="ctr">
                    <a:solidFill>
                      <a:srgbClr val="E7EEE8"/>
                    </a:solidFill>
                  </a:tcPr>
                </a:tc>
                <a:tc>
                  <a:txBody>
                    <a:bodyPr wrap="square" lIns="76200" tIns="76200" rIns="76200" bIns="76200">
                      <a:normAutofit/>
                    </a:bodyPr>
                    <a:lstStyle/>
                    <a:p>
                      <a:pPr algn="l"/>
                      <a:r>
                        <a:rPr sz="1350" b="1">
                          <a:solidFill>
                            <a:srgbClr val="45675B"/>
                          </a:solidFill>
                          <a:latin typeface="Arial"/>
                          <a:ea typeface="Arial"/>
                          <a:cs typeface="Arial"/>
                        </a:rPr>
                        <a:t>AVG TEMP.</a:t>
                      </a:r>
                    </a:p>
                  </a:txBody>
                  <a:tcPr marL="91440" marR="91440" marT="45720" marB="45720" anchor="ctr">
                    <a:solidFill>
                      <a:srgbClr val="E7EEE8"/>
                    </a:solidFill>
                  </a:tcPr>
                </a:tc>
                <a:tc>
                  <a:txBody>
                    <a:bodyPr wrap="square" lIns="76200" tIns="76200" rIns="76200" bIns="76200">
                      <a:normAutofit/>
                    </a:bodyPr>
                    <a:lstStyle/>
                    <a:p>
                      <a:pPr algn="l"/>
                      <a:r>
                        <a:rPr sz="1350" b="1">
                          <a:solidFill>
                            <a:srgbClr val="45675B"/>
                          </a:solidFill>
                          <a:latin typeface="Arial"/>
                          <a:ea typeface="Arial"/>
                          <a:cs typeface="Arial"/>
                        </a:rPr>
                        <a:t>POINTS</a:t>
                      </a:r>
                    </a:p>
                  </a:txBody>
                  <a:tcPr marL="91440" marR="91440" marT="45720" marB="45720" anchor="ctr">
                    <a:solidFill>
                      <a:srgbClr val="E7EEE8"/>
                    </a:solidFill>
                  </a:tcPr>
                </a:tc>
              </a:tr>
              <a:tr h="628650">
                <a:tc>
                  <a:txBody>
                    <a:bodyPr wrap="square" lIns="76200" tIns="76200" rIns="76200" bIns="76200">
                      <a:normAutofit/>
                    </a:bodyPr>
                    <a:lstStyle/>
                    <a:p>
                      <a:pPr algn="l"/>
                      <a:r>
                        <a:rPr sz="1575">
                          <a:solidFill>
                            <a:srgbClr val="24362F"/>
                          </a:solidFill>
                          <a:latin typeface="Arial"/>
                          <a:ea typeface="Arial"/>
                          <a:cs typeface="Arial"/>
                        </a:rPr>
                        <a:t>Ahmedabad</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Gujarat</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Jan 2000</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21.2389 °C</a:t>
                      </a:r>
                    </a:p>
                  </a:txBody>
                  <a:tcPr marL="91440" marR="91440" marT="45720" marB="45720" anchor="ctr">
                    <a:solidFill>
                      <a:srgbClr val="FFFFFF"/>
                    </a:solidFill>
                  </a:tcPr>
                </a:tc>
                <a:tc>
                  <a:txBody>
                    <a:bodyPr wrap="square" lIns="76200" tIns="76200" rIns="76200" bIns="76200">
                      <a:normAutofit/>
                    </a:bodyPr>
                    <a:lstStyle/>
                    <a:p>
                      <a:pPr algn="l"/>
                      <a:r>
                        <a:rPr sz="1575">
                          <a:solidFill>
                            <a:srgbClr val="24362F"/>
                          </a:solidFill>
                          <a:latin typeface="Arial"/>
                          <a:ea typeface="Arial"/>
                          <a:cs typeface="Arial"/>
                        </a:rPr>
                        <a:t>9 / 9</a:t>
                      </a:r>
                    </a:p>
                  </a:txBody>
                  <a:tcPr marL="91440" marR="91440" marT="45720" marB="45720" anchor="ctr">
                    <a:solidFill>
                      <a:srgbClr val="FFFFFF"/>
                    </a:solidFill>
                  </a:tcPr>
                </a:tc>
              </a:tr>
            </a:tbl>
          </a:graphicData>
        </a:graphic>
      </p:graphicFrame>
      <p:sp>
        <p:nvSpPr>
          <p:cNvPr id="7" name="output-stat-0">
            <a:extLst xmlns:a="http://schemas.openxmlformats.org/drawingml/2006/main">
              <a:ext uri="{FF2B5EF4-FFF2-40B4-BE49-F238E27FC236}">
                <a16:creationId xmlns:a16="http://schemas.microsoft.com/office/drawing/2014/main" id="{CC2A7D4A-E375-4CED-8998-A5B730F15002}"/>
              </a:ext>
            </a:extLst>
          </p:cNvPr>
          <p:cNvSpPr>
            <a:spLocks xmlns:a="http://schemas.openxmlformats.org/drawingml/2006/main" noGrp="1"/>
          </p:cNvSpPr>
          <p:nvPr/>
        </p:nvSpPr>
        <p:spPr>
          <a:xfrm xmlns:a="http://schemas.openxmlformats.org/drawingml/2006/main">
            <a:off x="819150" y="41338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PER CITY</a:t>
            </a:r>
          </a:p>
        </p:txBody>
      </p:sp>
      <p:sp>
        <p:nvSpPr>
          <p:cNvPr id="8" name="output-stat-value-0">
            <a:extLst xmlns:a="http://schemas.openxmlformats.org/drawingml/2006/main">
              <a:ext uri="{FF2B5EF4-FFF2-40B4-BE49-F238E27FC236}">
                <a16:creationId xmlns:a16="http://schemas.microsoft.com/office/drawing/2014/main" id="{09978643-6D90-4FB2-9621-EE4FEC82E7B5}"/>
              </a:ext>
            </a:extLst>
          </p:cNvPr>
          <p:cNvSpPr>
            <a:spLocks xmlns:a="http://schemas.openxmlformats.org/drawingml/2006/main" noGrp="1"/>
          </p:cNvSpPr>
          <p:nvPr/>
        </p:nvSpPr>
        <p:spPr>
          <a:xfrm xmlns:a="http://schemas.openxmlformats.org/drawingml/2006/main">
            <a:off x="819150" y="45148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312 monthly rows</a:t>
            </a:r>
          </a:p>
        </p:txBody>
      </p:sp>
      <p:sp>
        <p:nvSpPr>
          <p:cNvPr id="9" name="output-stat-1">
            <a:extLst xmlns:a="http://schemas.openxmlformats.org/drawingml/2006/main">
              <a:ext uri="{FF2B5EF4-FFF2-40B4-BE49-F238E27FC236}">
                <a16:creationId xmlns:a16="http://schemas.microsoft.com/office/drawing/2014/main" id="{FDBBC2B3-221E-4D86-9DFB-F73E8CE0A820}"/>
              </a:ext>
            </a:extLst>
          </p:cNvPr>
          <p:cNvSpPr>
            <a:spLocks xmlns:a="http://schemas.openxmlformats.org/drawingml/2006/main" noGrp="1"/>
          </p:cNvSpPr>
          <p:nvPr/>
        </p:nvSpPr>
        <p:spPr>
          <a:xfrm xmlns:a="http://schemas.openxmlformats.org/drawingml/2006/main">
            <a:off x="4391025" y="41338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ALL CITIES</a:t>
            </a:r>
          </a:p>
        </p:txBody>
      </p:sp>
      <p:sp>
        <p:nvSpPr>
          <p:cNvPr id="10" name="output-stat-value-1">
            <a:extLst xmlns:a="http://schemas.openxmlformats.org/drawingml/2006/main">
              <a:ext uri="{FF2B5EF4-FFF2-40B4-BE49-F238E27FC236}">
                <a16:creationId xmlns:a16="http://schemas.microsoft.com/office/drawing/2014/main" id="{6D309322-84F8-4EED-A254-8C3141A05620}"/>
              </a:ext>
            </a:extLst>
          </p:cNvPr>
          <p:cNvSpPr>
            <a:spLocks xmlns:a="http://schemas.openxmlformats.org/drawingml/2006/main" noGrp="1"/>
          </p:cNvSpPr>
          <p:nvPr/>
        </p:nvSpPr>
        <p:spPr>
          <a:xfrm xmlns:a="http://schemas.openxmlformats.org/drawingml/2006/main">
            <a:off x="4391025" y="45148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2,496 monthly rows</a:t>
            </a:r>
          </a:p>
        </p:txBody>
      </p:sp>
      <p:sp>
        <p:nvSpPr>
          <p:cNvPr id="11" name="output-stat-2">
            <a:extLst xmlns:a="http://schemas.openxmlformats.org/drawingml/2006/main">
              <a:ext uri="{FF2B5EF4-FFF2-40B4-BE49-F238E27FC236}">
                <a16:creationId xmlns:a16="http://schemas.microsoft.com/office/drawing/2014/main" id="{1FF55E6E-54F5-427C-B34A-74BF2D33D37A}"/>
              </a:ext>
            </a:extLst>
          </p:cNvPr>
          <p:cNvSpPr>
            <a:spLocks xmlns:a="http://schemas.openxmlformats.org/drawingml/2006/main" noGrp="1"/>
          </p:cNvSpPr>
          <p:nvPr/>
        </p:nvSpPr>
        <p:spPr>
          <a:xfrm xmlns:a="http://schemas.openxmlformats.org/drawingml/2006/main">
            <a:off x="7962900" y="4133850"/>
            <a:ext cx="295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COLUMNS</a:t>
            </a:r>
          </a:p>
        </p:txBody>
      </p:sp>
      <p:sp>
        <p:nvSpPr>
          <p:cNvPr id="12" name="output-stat-value-2">
            <a:extLst xmlns:a="http://schemas.openxmlformats.org/drawingml/2006/main">
              <a:ext uri="{FF2B5EF4-FFF2-40B4-BE49-F238E27FC236}">
                <a16:creationId xmlns:a16="http://schemas.microsoft.com/office/drawing/2014/main" id="{AF98B030-2B1F-488D-A90B-B8B91F31F33D}"/>
              </a:ext>
            </a:extLst>
          </p:cNvPr>
          <p:cNvSpPr>
            <a:spLocks xmlns:a="http://schemas.openxmlformats.org/drawingml/2006/main" noGrp="1"/>
          </p:cNvSpPr>
          <p:nvPr/>
        </p:nvSpPr>
        <p:spPr>
          <a:xfrm xmlns:a="http://schemas.openxmlformats.org/drawingml/2006/main">
            <a:off x="7962900" y="45148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1"/>
          </a:bodyPr>
          <a:lstStyle xmlns:a="http://schemas.openxmlformats.org/drawingml/2006/main">
            <a:defPPr algn="l">
              <a:defRPr sz="1800" b="1">
                <a:solidFill>
                  <a:srgbClr val="24362F"/>
                </a:solidFill>
                <a:latin typeface="Arial"/>
                <a:ea typeface="Arial"/>
                <a:cs typeface="Arial"/>
              </a:defRPr>
            </a:defPPr>
          </a:lstStyle>
          <a:p xmlns:a="http://schemas.openxmlformats.org/drawingml/2006/main">
            <a:pPr algn="l">
              <a:lnSpc>
                <a:spcPct val="104000"/>
              </a:lnSpc>
              <a:buNone/>
              <a:defRPr sz="1800" b="1">
                <a:solidFill>
                  <a:srgbClr val="24362F"/>
                </a:solidFill>
                <a:latin typeface="Arial"/>
                <a:ea typeface="Arial"/>
                <a:cs typeface="Arial"/>
              </a:defRPr>
            </a:pPr>
            <a:r>
              <a:rPr sz="1800" b="1">
                <a:solidFill>
                  <a:srgbClr val="24362F"/>
                </a:solidFill>
                <a:latin typeface="Arial"/>
                <a:ea typeface="Arial"/>
                <a:cs typeface="Arial"/>
              </a:rPr>
              <a:t>39 fields in the current output</a:t>
            </a:r>
          </a:p>
        </p:txBody>
      </p:sp>
      <p:sp>
        <p:nvSpPr>
          <p:cNvPr id="13" name="output-row-meaning">
            <a:extLst xmlns:a="http://schemas.openxmlformats.org/drawingml/2006/main">
              <a:ext uri="{FF2B5EF4-FFF2-40B4-BE49-F238E27FC236}">
                <a16:creationId xmlns:a16="http://schemas.microsoft.com/office/drawing/2014/main" id="{4D7BF4E9-C66C-4DE0-AC86-0A95FCE13E7A}"/>
              </a:ext>
            </a:extLst>
          </p:cNvPr>
          <p:cNvSpPr>
            <a:spLocks xmlns:a="http://schemas.openxmlformats.org/drawingml/2006/main" noGrp="1"/>
          </p:cNvSpPr>
          <p:nvPr/>
        </p:nvSpPr>
        <p:spPr>
          <a:xfrm xmlns:a="http://schemas.openxmlformats.org/drawingml/2006/main">
            <a:off x="819150" y="5448300"/>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65766E"/>
                </a:solidFill>
                <a:latin typeface="Arial"/>
                <a:ea typeface="Arial"/>
                <a:cs typeface="Arial"/>
              </a:defRPr>
            </a:defPPr>
          </a:lstStyle>
          <a:p xmlns:a="http://schemas.openxmlformats.org/drawingml/2006/main">
            <a:pPr algn="l">
              <a:lnSpc>
                <a:spcPct val="104000"/>
              </a:lnSpc>
              <a:buNone/>
              <a:defRPr sz="1650" b="0">
                <a:solidFill>
                  <a:srgbClr val="65766E"/>
                </a:solidFill>
                <a:latin typeface="Arial"/>
                <a:ea typeface="Arial"/>
                <a:cs typeface="Arial"/>
              </a:defRPr>
            </a:pPr>
            <a:r>
              <a:rPr sz="1650" b="0">
                <a:solidFill>
                  <a:srgbClr val="65766E"/>
                </a:solidFill>
                <a:latin typeface="Arial"/>
                <a:ea typeface="Arial"/>
                <a:cs typeface="Arial"/>
              </a:rPr>
              <a:t>Each row remains one city-month; there is no averaging across different cities.</a:t>
            </a:r>
          </a:p>
        </p:txBody>
      </p:sp>
    </p:spTree>
    <p:extLst>
      <p:ext uri="{BB962C8B-B14F-4D97-AF65-F5344CB8AC3E}">
        <p14:creationId xmlns:p14="http://schemas.microsoft.com/office/powerpoint/2010/main" val="1505877702"/>
      </p:ext>
    </p:extLst>
  </p:cSld>
</p:sld>
</file>

<file path=ppt/slides/slide1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1" name="section-label">
            <a:extLst xmlns:a="http://schemas.openxmlformats.org/drawingml/2006/main">
              <a:ext uri="{FF2B5EF4-FFF2-40B4-BE49-F238E27FC236}">
                <a16:creationId xmlns:a16="http://schemas.microsoft.com/office/drawing/2014/main" id="{C461C219-B0A5-45A8-9847-926E89CF4B3E}"/>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DATA VALIDATION</a:t>
            </a:r>
          </a:p>
        </p:txBody>
      </p:sp>
      <p:sp>
        <p:nvSpPr>
          <p:cNvPr id="2" name="slide-title">
            <a:extLst xmlns:a="http://schemas.openxmlformats.org/drawingml/2006/main">
              <a:ext uri="{FF2B5EF4-FFF2-40B4-BE49-F238E27FC236}">
                <a16:creationId xmlns:a16="http://schemas.microsoft.com/office/drawing/2014/main" id="{B0F15829-EDA7-4BF1-9315-3FBC8A6160CB}"/>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Validation is performed on the all-cities table</a:t>
            </a:r>
          </a:p>
        </p:txBody>
      </p:sp>
      <p:sp>
        <p:nvSpPr>
          <p:cNvPr id="3" name="slide-subtitle">
            <a:extLst xmlns:a="http://schemas.openxmlformats.org/drawingml/2006/main">
              <a:ext uri="{FF2B5EF4-FFF2-40B4-BE49-F238E27FC236}">
                <a16:creationId xmlns:a16="http://schemas.microsoft.com/office/drawing/2014/main" id="{F6FB5D84-1E25-4C1B-ABA3-F823B1D2DAB3}"/>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Eight configured checks passed before per-city files were split out.</a:t>
            </a:r>
          </a:p>
        </p:txBody>
      </p:sp>
      <p:sp>
        <p:nvSpPr>
          <p:cNvPr id="4" name="header-rule">
            <a:extLst xmlns:a="http://schemas.openxmlformats.org/drawingml/2006/main">
              <a:ext uri="{FF2B5EF4-FFF2-40B4-BE49-F238E27FC236}">
                <a16:creationId xmlns:a16="http://schemas.microsoft.com/office/drawing/2014/main" id="{FD29FDA3-0606-4864-AF9B-FE9F02357A2D}"/>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97C5B928-02EC-4075-AE9D-C061B15B4B23}"/>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16</a:t>
            </a:r>
          </a:p>
        </p:txBody>
      </p:sp>
      <p:sp>
        <p:nvSpPr>
          <p:cNvPr id="6" name="validate-score">
            <a:extLst xmlns:a="http://schemas.openxmlformats.org/drawingml/2006/main">
              <a:ext uri="{FF2B5EF4-FFF2-40B4-BE49-F238E27FC236}">
                <a16:creationId xmlns:a16="http://schemas.microsoft.com/office/drawing/2014/main" id="{DD2105B0-2433-4739-AE8C-473F57B005DD}"/>
              </a:ext>
            </a:extLst>
          </p:cNvPr>
          <p:cNvSpPr>
            <a:spLocks xmlns:a="http://schemas.openxmlformats.org/drawingml/2006/main" noGrp="1"/>
          </p:cNvSpPr>
          <p:nvPr/>
        </p:nvSpPr>
        <p:spPr>
          <a:xfrm xmlns:a="http://schemas.openxmlformats.org/drawingml/2006/main">
            <a:off x="819150" y="21907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250" b="1">
                <a:solidFill>
                  <a:srgbClr val="45675B"/>
                </a:solidFill>
                <a:latin typeface="Arial"/>
                <a:ea typeface="Arial"/>
                <a:cs typeface="Arial"/>
              </a:defRPr>
            </a:defPPr>
          </a:lstStyle>
          <a:p xmlns:a="http://schemas.openxmlformats.org/drawingml/2006/main">
            <a:pPr algn="l">
              <a:lnSpc>
                <a:spcPct val="104000"/>
              </a:lnSpc>
              <a:buNone/>
              <a:defRPr sz="5250" b="1">
                <a:solidFill>
                  <a:srgbClr val="45675B"/>
                </a:solidFill>
                <a:latin typeface="Arial"/>
                <a:ea typeface="Arial"/>
                <a:cs typeface="Arial"/>
              </a:defRPr>
            </a:pPr>
            <a:r>
              <a:rPr sz="5250" b="1">
                <a:solidFill>
                  <a:srgbClr val="45675B"/>
                </a:solidFill>
                <a:latin typeface="Arial"/>
                <a:ea typeface="Arial"/>
                <a:cs typeface="Arial"/>
              </a:rPr>
              <a:t>8 / 8</a:t>
            </a:r>
          </a:p>
        </p:txBody>
      </p:sp>
      <p:sp>
        <p:nvSpPr>
          <p:cNvPr id="7" name="validate-caption">
            <a:extLst xmlns:a="http://schemas.openxmlformats.org/drawingml/2006/main">
              <a:ext uri="{FF2B5EF4-FFF2-40B4-BE49-F238E27FC236}">
                <a16:creationId xmlns:a16="http://schemas.microsoft.com/office/drawing/2014/main" id="{103951D6-EA2D-4372-9ECF-EB8601D478A1}"/>
              </a:ext>
            </a:extLst>
          </p:cNvPr>
          <p:cNvSpPr>
            <a:spLocks xmlns:a="http://schemas.openxmlformats.org/drawingml/2006/main" noGrp="1"/>
          </p:cNvSpPr>
          <p:nvPr/>
        </p:nvSpPr>
        <p:spPr>
          <a:xfrm xmlns:a="http://schemas.openxmlformats.org/drawingml/2006/main">
            <a:off x="857250" y="303847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65766E"/>
                </a:solidFill>
                <a:latin typeface="Arial"/>
                <a:ea typeface="Arial"/>
                <a:cs typeface="Arial"/>
              </a:defRPr>
            </a:defPPr>
          </a:lstStyle>
          <a:p xmlns:a="http://schemas.openxmlformats.org/drawingml/2006/main">
            <a:pPr algn="l">
              <a:lnSpc>
                <a:spcPct val="104000"/>
              </a:lnSpc>
              <a:buNone/>
              <a:defRPr sz="1800" b="0">
                <a:solidFill>
                  <a:srgbClr val="65766E"/>
                </a:solidFill>
                <a:latin typeface="Arial"/>
                <a:ea typeface="Arial"/>
                <a:cs typeface="Arial"/>
              </a:defRPr>
            </a:pPr>
            <a:r>
              <a:rPr sz="1800" b="0">
                <a:solidFill>
                  <a:srgbClr val="65766E"/>
                </a:solidFill>
                <a:latin typeface="Arial"/>
                <a:ea typeface="Arial"/>
                <a:cs typeface="Arial"/>
              </a:rPr>
              <a:t>checks passed</a:t>
            </a:r>
          </a:p>
        </p:txBody>
      </p:sp>
      <p:sp>
        <p:nvSpPr>
          <p:cNvPr id="8" name="validate-divider">
            <a:extLst xmlns:a="http://schemas.openxmlformats.org/drawingml/2006/main">
              <a:ext uri="{FF2B5EF4-FFF2-40B4-BE49-F238E27FC236}">
                <a16:creationId xmlns:a16="http://schemas.microsoft.com/office/drawing/2014/main" id="{FE4149DC-6F3E-48D5-AC3B-8453C99C240E}"/>
              </a:ext>
            </a:extLst>
          </p:cNvPr>
          <p:cNvSpPr>
            <a:spLocks xmlns:a="http://schemas.openxmlformats.org/drawingml/2006/main" noGrp="1"/>
          </p:cNvSpPr>
          <p:nvPr/>
        </p:nvSpPr>
        <p:spPr>
          <a:xfrm xmlns:a="http://schemas.openxmlformats.org/drawingml/2006/main">
            <a:off x="4305300" y="2171700"/>
            <a:ext cx="0" cy="2914650"/>
          </a:xfrm>
          <a:prstGeom xmlns:a="http://schemas.openxmlformats.org/drawingml/2006/main" prst="line">
            <a:avLst/>
          </a:prstGeom>
          <a:noFill xmlns:a="http://schemas.openxmlformats.org/drawingml/2006/main"/>
          <a:ln xmlns:a="http://schemas.openxmlformats.org/drawingml/2006/main" w="12383">
            <a:solidFill>
              <a:srgbClr val="D5DFD9"/>
            </a:solidFill>
            <a:prstDash val="solid"/>
          </a:ln>
        </p:spPr>
      </p:sp>
      <p:sp>
        <p:nvSpPr>
          <p:cNvPr id="9" name="validate-line-0">
            <a:extLst xmlns:a="http://schemas.openxmlformats.org/drawingml/2006/main">
              <a:ext uri="{FF2B5EF4-FFF2-40B4-BE49-F238E27FC236}">
                <a16:creationId xmlns:a16="http://schemas.microsoft.com/office/drawing/2014/main" id="{6F85198F-85A7-4250-81C9-33761EBAA475}"/>
              </a:ext>
            </a:extLst>
          </p:cNvPr>
          <p:cNvSpPr>
            <a:spLocks xmlns:a="http://schemas.openxmlformats.org/drawingml/2006/main" noGrp="1"/>
          </p:cNvSpPr>
          <p:nvPr/>
        </p:nvSpPr>
        <p:spPr>
          <a:xfrm xmlns:a="http://schemas.openxmlformats.org/drawingml/2006/main">
            <a:off x="4724400" y="215265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City and state populated</a:t>
            </a:r>
          </a:p>
        </p:txBody>
      </p:sp>
      <p:sp>
        <p:nvSpPr>
          <p:cNvPr id="10" name="validate-rule-0">
            <a:extLst xmlns:a="http://schemas.openxmlformats.org/drawingml/2006/main">
              <a:ext uri="{FF2B5EF4-FFF2-40B4-BE49-F238E27FC236}">
                <a16:creationId xmlns:a16="http://schemas.microsoft.com/office/drawing/2014/main" id="{7A2D2464-1967-42CC-B4E1-8BF11D13DA73}"/>
              </a:ext>
            </a:extLst>
          </p:cNvPr>
          <p:cNvSpPr>
            <a:spLocks xmlns:a="http://schemas.openxmlformats.org/drawingml/2006/main" noGrp="1"/>
          </p:cNvSpPr>
          <p:nvPr/>
        </p:nvSpPr>
        <p:spPr>
          <a:xfrm xmlns:a="http://schemas.openxmlformats.org/drawingml/2006/main">
            <a:off x="4724400" y="2524125"/>
            <a:ext cx="6581775"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1" name="validate-line-1">
            <a:extLst xmlns:a="http://schemas.openxmlformats.org/drawingml/2006/main">
              <a:ext uri="{FF2B5EF4-FFF2-40B4-BE49-F238E27FC236}">
                <a16:creationId xmlns:a16="http://schemas.microsoft.com/office/drawing/2014/main" id="{89DB9329-B08A-4250-A3D9-3B8E70AC3450}"/>
              </a:ext>
            </a:extLst>
          </p:cNvPr>
          <p:cNvSpPr>
            <a:spLocks xmlns:a="http://schemas.openxmlformats.org/drawingml/2006/main" noGrp="1"/>
          </p:cNvSpPr>
          <p:nvPr/>
        </p:nvSpPr>
        <p:spPr>
          <a:xfrm xmlns:a="http://schemas.openxmlformats.org/drawingml/2006/main">
            <a:off x="4724400" y="26289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One row per location-month</a:t>
            </a:r>
          </a:p>
        </p:txBody>
      </p:sp>
      <p:sp>
        <p:nvSpPr>
          <p:cNvPr id="12" name="validate-rule-1">
            <a:extLst xmlns:a="http://schemas.openxmlformats.org/drawingml/2006/main">
              <a:ext uri="{FF2B5EF4-FFF2-40B4-BE49-F238E27FC236}">
                <a16:creationId xmlns:a16="http://schemas.microsoft.com/office/drawing/2014/main" id="{0F8B30CE-0D71-46F4-A9BE-66AE41E11C7B}"/>
              </a:ext>
            </a:extLst>
          </p:cNvPr>
          <p:cNvSpPr>
            <a:spLocks xmlns:a="http://schemas.openxmlformats.org/drawingml/2006/main" noGrp="1"/>
          </p:cNvSpPr>
          <p:nvPr/>
        </p:nvSpPr>
        <p:spPr>
          <a:xfrm xmlns:a="http://schemas.openxmlformats.org/drawingml/2006/main">
            <a:off x="4724400" y="3000375"/>
            <a:ext cx="6581775"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3" name="validate-line-2">
            <a:extLst xmlns:a="http://schemas.openxmlformats.org/drawingml/2006/main">
              <a:ext uri="{FF2B5EF4-FFF2-40B4-BE49-F238E27FC236}">
                <a16:creationId xmlns:a16="http://schemas.microsoft.com/office/drawing/2014/main" id="{9060F6A4-4CCF-497B-8B89-028952C4847D}"/>
              </a:ext>
            </a:extLst>
          </p:cNvPr>
          <p:cNvSpPr>
            <a:spLocks xmlns:a="http://schemas.openxmlformats.org/drawingml/2006/main" noGrp="1"/>
          </p:cNvSpPr>
          <p:nvPr/>
        </p:nvSpPr>
        <p:spPr>
          <a:xfrm xmlns:a="http://schemas.openxmlformats.org/drawingml/2006/main">
            <a:off x="4724400" y="310515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Valid latitude and longitude</a:t>
            </a:r>
          </a:p>
        </p:txBody>
      </p:sp>
      <p:sp>
        <p:nvSpPr>
          <p:cNvPr id="14" name="validate-rule-2">
            <a:extLst xmlns:a="http://schemas.openxmlformats.org/drawingml/2006/main">
              <a:ext uri="{FF2B5EF4-FFF2-40B4-BE49-F238E27FC236}">
                <a16:creationId xmlns:a16="http://schemas.microsoft.com/office/drawing/2014/main" id="{32661EF0-74FB-4EE8-BA0F-DF383280D0B5}"/>
              </a:ext>
            </a:extLst>
          </p:cNvPr>
          <p:cNvSpPr>
            <a:spLocks xmlns:a="http://schemas.openxmlformats.org/drawingml/2006/main" noGrp="1"/>
          </p:cNvSpPr>
          <p:nvPr/>
        </p:nvSpPr>
        <p:spPr>
          <a:xfrm xmlns:a="http://schemas.openxmlformats.org/drawingml/2006/main">
            <a:off x="4724400" y="3476625"/>
            <a:ext cx="6581775"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5" name="validate-line-3">
            <a:extLst xmlns:a="http://schemas.openxmlformats.org/drawingml/2006/main">
              <a:ext uri="{FF2B5EF4-FFF2-40B4-BE49-F238E27FC236}">
                <a16:creationId xmlns:a16="http://schemas.microsoft.com/office/drawing/2014/main" id="{1A0AA275-B0B4-4965-ABFE-A0F0A06A3B6F}"/>
              </a:ext>
            </a:extLst>
          </p:cNvPr>
          <p:cNvSpPr>
            <a:spLocks xmlns:a="http://schemas.openxmlformats.org/drawingml/2006/main" noGrp="1"/>
          </p:cNvSpPr>
          <p:nvPr/>
        </p:nvSpPr>
        <p:spPr>
          <a:xfrm xmlns:a="http://schemas.openxmlformats.org/drawingml/2006/main">
            <a:off x="4724400" y="35814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Date field is datetime</a:t>
            </a:r>
          </a:p>
        </p:txBody>
      </p:sp>
      <p:sp>
        <p:nvSpPr>
          <p:cNvPr id="16" name="validate-rule-3">
            <a:extLst xmlns:a="http://schemas.openxmlformats.org/drawingml/2006/main">
              <a:ext uri="{FF2B5EF4-FFF2-40B4-BE49-F238E27FC236}">
                <a16:creationId xmlns:a16="http://schemas.microsoft.com/office/drawing/2014/main" id="{B5310AF5-CF47-48FE-89BA-D02EE536064C}"/>
              </a:ext>
            </a:extLst>
          </p:cNvPr>
          <p:cNvSpPr>
            <a:spLocks xmlns:a="http://schemas.openxmlformats.org/drawingml/2006/main" noGrp="1"/>
          </p:cNvSpPr>
          <p:nvPr/>
        </p:nvSpPr>
        <p:spPr>
          <a:xfrm xmlns:a="http://schemas.openxmlformats.org/drawingml/2006/main">
            <a:off x="4724400" y="3952875"/>
            <a:ext cx="6581775"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7" name="validate-line-4">
            <a:extLst xmlns:a="http://schemas.openxmlformats.org/drawingml/2006/main">
              <a:ext uri="{FF2B5EF4-FFF2-40B4-BE49-F238E27FC236}">
                <a16:creationId xmlns:a16="http://schemas.microsoft.com/office/drawing/2014/main" id="{B1EBE586-CC48-4D38-BBFC-F97C27F35F98}"/>
              </a:ext>
            </a:extLst>
          </p:cNvPr>
          <p:cNvSpPr>
            <a:spLocks xmlns:a="http://schemas.openxmlformats.org/drawingml/2006/main" noGrp="1"/>
          </p:cNvSpPr>
          <p:nvPr/>
        </p:nvSpPr>
        <p:spPr>
          <a:xfrm xmlns:a="http://schemas.openxmlformats.org/drawingml/2006/main">
            <a:off x="4724400" y="405765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Precipitation is non-negative</a:t>
            </a:r>
          </a:p>
        </p:txBody>
      </p:sp>
      <p:sp>
        <p:nvSpPr>
          <p:cNvPr id="18" name="validate-rule-4">
            <a:extLst xmlns:a="http://schemas.openxmlformats.org/drawingml/2006/main">
              <a:ext uri="{FF2B5EF4-FFF2-40B4-BE49-F238E27FC236}">
                <a16:creationId xmlns:a16="http://schemas.microsoft.com/office/drawing/2014/main" id="{1DF8042E-CE5B-43C6-ACA2-EF6B82ECA22E}"/>
              </a:ext>
            </a:extLst>
          </p:cNvPr>
          <p:cNvSpPr>
            <a:spLocks xmlns:a="http://schemas.openxmlformats.org/drawingml/2006/main" noGrp="1"/>
          </p:cNvSpPr>
          <p:nvPr/>
        </p:nvSpPr>
        <p:spPr>
          <a:xfrm xmlns:a="http://schemas.openxmlformats.org/drawingml/2006/main">
            <a:off x="4724400" y="4429125"/>
            <a:ext cx="6581775"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9" name="validate-line-5">
            <a:extLst xmlns:a="http://schemas.openxmlformats.org/drawingml/2006/main">
              <a:ext uri="{FF2B5EF4-FFF2-40B4-BE49-F238E27FC236}">
                <a16:creationId xmlns:a16="http://schemas.microsoft.com/office/drawing/2014/main" id="{5A58A270-FE7E-4738-A2DF-311F753C6AFE}"/>
              </a:ext>
            </a:extLst>
          </p:cNvPr>
          <p:cNvSpPr>
            <a:spLocks xmlns:a="http://schemas.openxmlformats.org/drawingml/2006/main" noGrp="1"/>
          </p:cNvSpPr>
          <p:nvPr/>
        </p:nvSpPr>
        <p:spPr>
          <a:xfrm xmlns:a="http://schemas.openxmlformats.org/drawingml/2006/main">
            <a:off x="4724400" y="45339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62F"/>
                </a:solidFill>
                <a:latin typeface="Arial"/>
                <a:ea typeface="Arial"/>
                <a:cs typeface="Arial"/>
              </a:defRPr>
            </a:defPPr>
          </a:lstStyle>
          <a:p xmlns:a="http://schemas.openxmlformats.org/drawingml/2006/main">
            <a:pPr algn="l">
              <a:lnSpc>
                <a:spcPct val="104000"/>
              </a:lnSpc>
              <a:buNone/>
              <a:defRPr sz="1650" b="0">
                <a:solidFill>
                  <a:srgbClr val="24362F"/>
                </a:solidFill>
                <a:latin typeface="Arial"/>
                <a:ea typeface="Arial"/>
                <a:cs typeface="Arial"/>
              </a:defRPr>
            </a:pPr>
            <a:r>
              <a:rPr sz="1650" b="0">
                <a:solidFill>
                  <a:srgbClr val="24362F"/>
                </a:solidFill>
                <a:latin typeface="Arial"/>
                <a:ea typeface="Arial"/>
                <a:cs typeface="Arial"/>
              </a:rPr>
              <a:t>Minimum ≤ average ≤ maximum temperature</a:t>
            </a:r>
          </a:p>
        </p:txBody>
      </p:sp>
      <p:sp>
        <p:nvSpPr>
          <p:cNvPr id="20" name="validate-inherit">
            <a:extLst xmlns:a="http://schemas.openxmlformats.org/drawingml/2006/main">
              <a:ext uri="{FF2B5EF4-FFF2-40B4-BE49-F238E27FC236}">
                <a16:creationId xmlns:a16="http://schemas.microsoft.com/office/drawing/2014/main" id="{44B6FF01-42BB-455F-B0B2-08E43B23BCBC}"/>
              </a:ext>
            </a:extLst>
          </p:cNvPr>
          <p:cNvSpPr>
            <a:spLocks xmlns:a="http://schemas.openxmlformats.org/drawingml/2006/main" noGrp="1"/>
          </p:cNvSpPr>
          <p:nvPr/>
        </p:nvSpPr>
        <p:spPr>
          <a:xfrm xmlns:a="http://schemas.openxmlformats.org/drawingml/2006/main">
            <a:off x="819150" y="5457825"/>
            <a:ext cx="971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557985"/>
                </a:solidFill>
                <a:latin typeface="Arial"/>
                <a:ea typeface="Arial"/>
                <a:cs typeface="Arial"/>
              </a:defRPr>
            </a:defPPr>
          </a:lstStyle>
          <a:p xmlns:a="http://schemas.openxmlformats.org/drawingml/2006/main">
            <a:pPr algn="l">
              <a:lnSpc>
                <a:spcPct val="104000"/>
              </a:lnSpc>
              <a:buNone/>
              <a:defRPr sz="1575" b="1">
                <a:solidFill>
                  <a:srgbClr val="557985"/>
                </a:solidFill>
                <a:latin typeface="Arial"/>
                <a:ea typeface="Arial"/>
                <a:cs typeface="Arial"/>
              </a:defRPr>
            </a:pPr>
            <a:r>
              <a:rPr sz="1575" b="1">
                <a:solidFill>
                  <a:srgbClr val="557985"/>
                </a:solidFill>
                <a:latin typeface="Arial"/>
                <a:ea typeface="Arial"/>
                <a:cs typeface="Arial"/>
              </a:rPr>
              <a:t>Per-city CSVs are direct subsets of this checked table.</a:t>
            </a:r>
          </a:p>
        </p:txBody>
      </p:sp>
    </p:spTree>
    <p:extLst>
      <p:ext uri="{BB962C8B-B14F-4D97-AF65-F5344CB8AC3E}">
        <p14:creationId xmlns:p14="http://schemas.microsoft.com/office/powerpoint/2010/main" val="333406715"/>
      </p:ext>
    </p:extLst>
  </p:cSld>
</p:sld>
</file>

<file path=ppt/slides/slide1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7F6623F-0E75-4161-A9EA-DF512C29DFCB}"/>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PROCESS CROSSWALK</a:t>
            </a:r>
          </a:p>
        </p:txBody>
      </p:sp>
      <p:sp>
        <p:nvSpPr>
          <p:cNvPr id="2" name="slide-title">
            <a:extLst xmlns:a="http://schemas.openxmlformats.org/drawingml/2006/main">
              <a:ext uri="{FF2B5EF4-FFF2-40B4-BE49-F238E27FC236}">
                <a16:creationId xmlns:a16="http://schemas.microsoft.com/office/drawing/2014/main" id="{BD4A02E3-EAA4-4941-B86C-818102E49A1A}"/>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Where each process step applies</a:t>
            </a:r>
          </a:p>
        </p:txBody>
      </p:sp>
      <p:sp>
        <p:nvSpPr>
          <p:cNvPr id="3" name="slide-subtitle">
            <a:extLst xmlns:a="http://schemas.openxmlformats.org/drawingml/2006/main">
              <a:ext uri="{FF2B5EF4-FFF2-40B4-BE49-F238E27FC236}">
                <a16:creationId xmlns:a16="http://schemas.microsoft.com/office/drawing/2014/main" id="{872720EF-BF0B-48E4-A13F-B2183636674E}"/>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The same stage can affect one, several, or all dataset levels.</a:t>
            </a:r>
          </a:p>
        </p:txBody>
      </p:sp>
      <p:sp>
        <p:nvSpPr>
          <p:cNvPr id="4" name="header-rule">
            <a:extLst xmlns:a="http://schemas.openxmlformats.org/drawingml/2006/main">
              <a:ext uri="{FF2B5EF4-FFF2-40B4-BE49-F238E27FC236}">
                <a16:creationId xmlns:a16="http://schemas.microsoft.com/office/drawing/2014/main" id="{2052A873-EB87-4CF1-AB72-1B6A6312A963}"/>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F2217063-7204-47E5-9208-6E2DCC3AF22C}"/>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17</a:t>
            </a:r>
          </a:p>
        </p:txBody>
      </p:sp>
      <p:graphicFrame>
        <p:nvGraphicFramePr>
          <p:cNvPr id="6" name="">
            <a:extLst xmlns:a="http://schemas.openxmlformats.org/drawingml/2006/main">
              <a:ext uri="{FF2B5EF4-FFF2-40B4-BE49-F238E27FC236}">
                <a16:creationId xmlns:a16="http://schemas.microsoft.com/office/drawing/2014/main" id="{3B094D05-D1D5-466F-AAE7-0A0FEE7E0D90}"/>
              </a:ext>
            </a:extLst>
          </p:cNvPr>
          <p:cNvGraphicFramePr/>
          <p:nvPr/>
        </p:nvGraphicFramePr>
        <p:xfrm>
          <a:off xmlns:a="http://schemas.openxmlformats.org/drawingml/2006/main" x="742950" y="1971675"/>
          <a:ext xmlns:a="http://schemas.openxmlformats.org/drawingml/2006/main" cx="10706100" cy="3952875"/>
        </p:xfrm>
        <a:graphic xmlns:a="http://schemas.openxmlformats.org/drawingml/2006/main">
          <a:graphicData uri="http://schemas.openxmlformats.org/drawingml/2006/table">
            <a:tbl>
              <a:tblPr/>
              <a:tblGrid>
                <a:gridCol w="1952625"/>
                <a:gridCol w="2905125"/>
                <a:gridCol w="2905125"/>
                <a:gridCol w="2943225"/>
              </a:tblGrid>
              <a:tr h="790575">
                <a:tc>
                  <a:txBody>
                    <a:bodyPr wrap="square" lIns="76200" tIns="76200" rIns="76200" bIns="76200">
                      <a:normAutofit/>
                    </a:bodyPr>
                    <a:lstStyle/>
                    <a:p>
                      <a:pPr algn="l"/>
                      <a:r>
                        <a:rPr sz="1275" b="1">
                          <a:solidFill>
                            <a:srgbClr val="45675B"/>
                          </a:solidFill>
                          <a:latin typeface="Arial"/>
                          <a:ea typeface="Arial"/>
                          <a:cs typeface="Arial"/>
                        </a:rPr>
                        <a:t>PROCESS</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POINTWISE</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CITY-WISE</a:t>
                      </a:r>
                    </a:p>
                  </a:txBody>
                  <a:tcPr marL="91440" marR="91440" marT="45720" marB="45720" anchor="ctr">
                    <a:solidFill>
                      <a:srgbClr val="E7EEE8"/>
                    </a:solidFill>
                  </a:tcPr>
                </a:tc>
                <a:tc>
                  <a:txBody>
                    <a:bodyPr wrap="square" lIns="76200" tIns="76200" rIns="76200" bIns="76200">
                      <a:normAutofit/>
                    </a:bodyPr>
                    <a:lstStyle/>
                    <a:p>
                      <a:pPr algn="l"/>
                      <a:r>
                        <a:rPr sz="1275" b="1">
                          <a:solidFill>
                            <a:srgbClr val="45675B"/>
                          </a:solidFill>
                          <a:latin typeface="Arial"/>
                          <a:ea typeface="Arial"/>
                          <a:cs typeface="Arial"/>
                        </a:rPr>
                        <a:t>ALL CITIES</a:t>
                      </a:r>
                    </a:p>
                  </a:txBody>
                  <a:tcPr marL="91440" marR="91440" marT="45720" marB="45720" anchor="ctr">
                    <a:solidFill>
                      <a:srgbClr val="E7EEE8"/>
                    </a:solidFill>
                  </a:tcPr>
                </a:tc>
              </a:tr>
              <a:tr h="790575">
                <a:tc>
                  <a:txBody>
                    <a:bodyPr wrap="square" lIns="76200" tIns="76200" rIns="76200" bIns="76200">
                      <a:normAutofit/>
                    </a:bodyPr>
                    <a:lstStyle/>
                    <a:p>
                      <a:pPr algn="l"/>
                      <a:r>
                        <a:rPr sz="1425" b="1">
                          <a:solidFill>
                            <a:srgbClr val="24362F"/>
                          </a:solidFill>
                          <a:latin typeface="Arial"/>
                          <a:ea typeface="Arial"/>
                          <a:cs typeface="Arial"/>
                        </a:rPr>
                        <a:t>Profiling</a:t>
                      </a:r>
                    </a:p>
                  </a:txBody>
                  <a:tcPr marL="91440" marR="91440" marT="45720" marB="45720" anchor="ctr">
                    <a:solidFill>
                      <a:srgbClr val="FFFFFF"/>
                    </a:solidFill>
                  </a:tcPr>
                </a:tc>
                <a:tc>
                  <a:txBody>
                    <a:bodyPr wrap="square" lIns="76200" tIns="76200" rIns="76200" bIns="76200">
                      <a:normAutofit/>
                    </a:bodyPr>
                    <a:lstStyle/>
                    <a:p>
                      <a:pPr algn="l"/>
                      <a:r>
                        <a:rPr sz="1425" b="0">
                          <a:solidFill>
                            <a:srgbClr val="24362F"/>
                          </a:solidFill>
                          <a:latin typeface="Arial"/>
                          <a:ea typeface="Arial"/>
                          <a:cs typeface="Arial"/>
                        </a:rPr>
                        <a:t>File schema, dates, missingness</a:t>
                      </a:r>
                    </a:p>
                  </a:txBody>
                  <a:tcPr marL="91440" marR="91440" marT="45720" marB="45720" anchor="ctr">
                    <a:solidFill>
                      <a:srgbClr val="FFFFFF"/>
                    </a:solidFill>
                  </a:tcPr>
                </a:tc>
                <a:tc>
                  <a:txBody>
                    <a:bodyPr wrap="square" lIns="76200" tIns="76200" rIns="76200" bIns="76200">
                      <a:normAutofit/>
                    </a:bodyPr>
                    <a:lstStyle/>
                    <a:p>
                      <a:pPr algn="l"/>
                      <a:r>
                        <a:rPr sz="1425" b="0">
                          <a:solidFill>
                            <a:srgbClr val="24362F"/>
                          </a:solidFill>
                          <a:latin typeface="Arial"/>
                          <a:ea typeface="Arial"/>
                          <a:cs typeface="Arial"/>
                        </a:rPr>
                        <a:t>Point coverage by city</a:t>
                      </a:r>
                    </a:p>
                  </a:txBody>
                  <a:tcPr marL="91440" marR="91440" marT="45720" marB="45720" anchor="ctr">
                    <a:solidFill>
                      <a:srgbClr val="FFFFFF"/>
                    </a:solidFill>
                  </a:tcPr>
                </a:tc>
                <a:tc>
                  <a:txBody>
                    <a:bodyPr wrap="square" lIns="76200" tIns="76200" rIns="76200" bIns="76200">
                      <a:normAutofit/>
                    </a:bodyPr>
                    <a:lstStyle/>
                    <a:p>
                      <a:pPr algn="l"/>
                      <a:r>
                        <a:rPr sz="1425" b="0">
                          <a:solidFill>
                            <a:srgbClr val="24362F"/>
                          </a:solidFill>
                          <a:latin typeface="Arial"/>
                          <a:ea typeface="Arial"/>
                          <a:cs typeface="Arial"/>
                        </a:rPr>
                        <a:t>Overall rows and missingness</a:t>
                      </a:r>
                    </a:p>
                  </a:txBody>
                  <a:tcPr marL="91440" marR="91440" marT="45720" marB="45720" anchor="ctr">
                    <a:solidFill>
                      <a:srgbClr val="FFFFFF"/>
                    </a:solidFill>
                  </a:tcPr>
                </a:tc>
              </a:tr>
              <a:tr h="790575">
                <a:tc>
                  <a:txBody>
                    <a:bodyPr wrap="square" lIns="76200" tIns="76200" rIns="76200" bIns="76200">
                      <a:normAutofit/>
                    </a:bodyPr>
                    <a:lstStyle/>
                    <a:p>
                      <a:pPr algn="l"/>
                      <a:r>
                        <a:rPr sz="1425" b="1">
                          <a:solidFill>
                            <a:srgbClr val="24362F"/>
                          </a:solidFill>
                          <a:latin typeface="Arial"/>
                          <a:ea typeface="Arial"/>
                          <a:cs typeface="Arial"/>
                        </a:rPr>
                        <a:t>Cleaning</a:t>
                      </a:r>
                    </a:p>
                  </a:txBody>
                  <a:tcPr marL="91440" marR="91440" marT="45720" marB="45720" anchor="ctr">
                    <a:solidFill>
                      <a:srgbClr val="F7F8F5"/>
                    </a:solidFill>
                  </a:tcPr>
                </a:tc>
                <a:tc>
                  <a:txBody>
                    <a:bodyPr wrap="square" lIns="76200" tIns="76200" rIns="76200" bIns="76200">
                      <a:normAutofit/>
                    </a:bodyPr>
                    <a:lstStyle/>
                    <a:p>
                      <a:pPr algn="l"/>
                      <a:r>
                        <a:rPr sz="1425" b="0">
                          <a:solidFill>
                            <a:srgbClr val="24362F"/>
                          </a:solidFill>
                          <a:latin typeface="Arial"/>
                          <a:ea typeface="Arial"/>
                          <a:cs typeface="Arial"/>
                        </a:rPr>
                        <a:t>Labels, types, -999, duplicate keys</a:t>
                      </a:r>
                    </a:p>
                  </a:txBody>
                  <a:tcPr marL="91440" marR="91440" marT="45720" marB="45720" anchor="ctr">
                    <a:solidFill>
                      <a:srgbClr val="F7F8F5"/>
                    </a:solidFill>
                  </a:tcPr>
                </a:tc>
                <a:tc>
                  <a:txBody>
                    <a:bodyPr wrap="square" lIns="76200" tIns="76200" rIns="76200" bIns="76200">
                      <a:normAutofit/>
                    </a:bodyPr>
                    <a:lstStyle/>
                    <a:p>
                      <a:pPr algn="l"/>
                      <a:r>
                        <a:rPr sz="1425" b="0">
                          <a:solidFill>
                            <a:srgbClr val="24362F"/>
                          </a:solidFill>
                          <a:latin typeface="Arial"/>
                          <a:ea typeface="Arial"/>
                          <a:cs typeface="Arial"/>
                        </a:rPr>
                        <a:t>No second cleaning pass</a:t>
                      </a:r>
                    </a:p>
                  </a:txBody>
                  <a:tcPr marL="91440" marR="91440" marT="45720" marB="45720" anchor="ctr">
                    <a:solidFill>
                      <a:srgbClr val="F7F8F5"/>
                    </a:solidFill>
                  </a:tcPr>
                </a:tc>
                <a:tc>
                  <a:txBody>
                    <a:bodyPr wrap="square" lIns="76200" tIns="76200" rIns="76200" bIns="76200">
                      <a:normAutofit/>
                    </a:bodyPr>
                    <a:lstStyle/>
                    <a:p>
                      <a:pPr algn="l"/>
                      <a:r>
                        <a:rPr sz="1425" b="0">
                          <a:solidFill>
                            <a:srgbClr val="24362F"/>
                          </a:solidFill>
                          <a:latin typeface="Arial"/>
                          <a:ea typeface="Arial"/>
                          <a:cs typeface="Arial"/>
                        </a:rPr>
                        <a:t>No second cleaning pass</a:t>
                      </a:r>
                    </a:p>
                  </a:txBody>
                  <a:tcPr marL="91440" marR="91440" marT="45720" marB="45720" anchor="ctr">
                    <a:solidFill>
                      <a:srgbClr val="F7F8F5"/>
                    </a:solidFill>
                  </a:tcPr>
                </a:tc>
              </a:tr>
              <a:tr h="790575">
                <a:tc>
                  <a:txBody>
                    <a:bodyPr wrap="square" lIns="76200" tIns="76200" rIns="76200" bIns="76200">
                      <a:normAutofit/>
                    </a:bodyPr>
                    <a:lstStyle/>
                    <a:p>
                      <a:pPr algn="l"/>
                      <a:r>
                        <a:rPr sz="1425" b="1">
                          <a:solidFill>
                            <a:srgbClr val="24362F"/>
                          </a:solidFill>
                          <a:latin typeface="Arial"/>
                          <a:ea typeface="Arial"/>
                          <a:cs typeface="Arial"/>
                        </a:rPr>
                        <a:t>Transform + standardize</a:t>
                      </a:r>
                    </a:p>
                  </a:txBody>
                  <a:tcPr marL="91440" marR="91440" marT="45720" marB="45720" anchor="ctr">
                    <a:solidFill>
                      <a:srgbClr val="FFFFFF"/>
                    </a:solidFill>
                  </a:tcPr>
                </a:tc>
                <a:tc>
                  <a:txBody>
                    <a:bodyPr wrap="square" lIns="76200" tIns="76200" rIns="76200" bIns="76200">
                      <a:normAutofit/>
                    </a:bodyPr>
                    <a:lstStyle/>
                    <a:p>
                      <a:pPr algn="l"/>
                      <a:r>
                        <a:rPr sz="1425" b="0">
                          <a:solidFill>
                            <a:srgbClr val="24362F"/>
                          </a:solidFill>
                          <a:latin typeface="Arial"/>
                          <a:ea typeface="Arial"/>
                          <a:cs typeface="Arial"/>
                        </a:rPr>
                        <a:t>Reshape; normalize source labels</a:t>
                      </a:r>
                    </a:p>
                  </a:txBody>
                  <a:tcPr marL="91440" marR="91440" marT="45720" marB="45720" anchor="ctr">
                    <a:solidFill>
                      <a:srgbClr val="FFFFFF"/>
                    </a:solidFill>
                  </a:tcPr>
                </a:tc>
                <a:tc>
                  <a:txBody>
                    <a:bodyPr wrap="square" lIns="76200" tIns="76200" rIns="76200" bIns="76200">
                      <a:normAutofit/>
                    </a:bodyPr>
                    <a:lstStyle/>
                    <a:p>
                      <a:pPr algn="l"/>
                      <a:r>
                        <a:rPr sz="1425" b="0">
                          <a:solidFill>
                            <a:srgbClr val="24362F"/>
                          </a:solidFill>
                          <a:latin typeface="Arial"/>
                          <a:ea typeface="Arial"/>
                          <a:cs typeface="Arial"/>
                        </a:rPr>
                        <a:t>Average points; add city/state IDs</a:t>
                      </a:r>
                    </a:p>
                  </a:txBody>
                  <a:tcPr marL="91440" marR="91440" marT="45720" marB="45720" anchor="ctr">
                    <a:solidFill>
                      <a:srgbClr val="FFFFFF"/>
                    </a:solidFill>
                  </a:tcPr>
                </a:tc>
                <a:tc>
                  <a:txBody>
                    <a:bodyPr wrap="square" lIns="76200" tIns="76200" rIns="76200" bIns="76200">
                      <a:normAutofit/>
                    </a:bodyPr>
                    <a:lstStyle/>
                    <a:p>
                      <a:pPr algn="l"/>
                      <a:r>
                        <a:rPr sz="1425" b="0">
                          <a:solidFill>
                            <a:srgbClr val="24362F"/>
                          </a:solidFill>
                          <a:latin typeface="Arial"/>
                          <a:ea typeface="Arial"/>
                          <a:cs typeface="Arial"/>
                        </a:rPr>
                        <a:t>Keep all standardized city rows together</a:t>
                      </a:r>
                    </a:p>
                  </a:txBody>
                  <a:tcPr marL="91440" marR="91440" marT="45720" marB="45720" anchor="ctr">
                    <a:solidFill>
                      <a:srgbClr val="FFFFFF"/>
                    </a:solidFill>
                  </a:tcPr>
                </a:tc>
              </a:tr>
              <a:tr h="790575">
                <a:tc>
                  <a:txBody>
                    <a:bodyPr wrap="square" lIns="76200" tIns="76200" rIns="76200" bIns="76200">
                      <a:normAutofit/>
                    </a:bodyPr>
                    <a:lstStyle/>
                    <a:p>
                      <a:pPr algn="l"/>
                      <a:r>
                        <a:rPr sz="1425" b="1">
                          <a:solidFill>
                            <a:srgbClr val="24362F"/>
                          </a:solidFill>
                          <a:latin typeface="Arial"/>
                          <a:ea typeface="Arial"/>
                          <a:cs typeface="Arial"/>
                        </a:rPr>
                        <a:t>Validation</a:t>
                      </a:r>
                    </a:p>
                  </a:txBody>
                  <a:tcPr marL="91440" marR="91440" marT="45720" marB="45720" anchor="ctr">
                    <a:solidFill>
                      <a:srgbClr val="F7F8F5"/>
                    </a:solidFill>
                  </a:tcPr>
                </a:tc>
                <a:tc>
                  <a:txBody>
                    <a:bodyPr wrap="square" lIns="76200" tIns="76200" rIns="76200" bIns="76200">
                      <a:normAutofit/>
                    </a:bodyPr>
                    <a:lstStyle/>
                    <a:p>
                      <a:pPr algn="l"/>
                      <a:r>
                        <a:rPr sz="1425" b="0">
                          <a:solidFill>
                            <a:srgbClr val="24362F"/>
                          </a:solidFill>
                          <a:latin typeface="Arial"/>
                          <a:ea typeface="Arial"/>
                          <a:cs typeface="Arial"/>
                        </a:rPr>
                        <a:t>Point ID and duplicate checks</a:t>
                      </a:r>
                    </a:p>
                  </a:txBody>
                  <a:tcPr marL="91440" marR="91440" marT="45720" marB="45720" anchor="ctr">
                    <a:solidFill>
                      <a:srgbClr val="F7F8F5"/>
                    </a:solidFill>
                  </a:tcPr>
                </a:tc>
                <a:tc>
                  <a:txBody>
                    <a:bodyPr wrap="square" lIns="76200" tIns="76200" rIns="76200" bIns="76200">
                      <a:normAutofit/>
                    </a:bodyPr>
                    <a:lstStyle/>
                    <a:p>
                      <a:pPr algn="l"/>
                      <a:r>
                        <a:rPr sz="1425" b="0">
                          <a:solidFill>
                            <a:srgbClr val="24362F"/>
                          </a:solidFill>
                          <a:latin typeface="Arial"/>
                          <a:ea typeface="Arial"/>
                          <a:cs typeface="Arial"/>
                        </a:rPr>
                        <a:t>Rows included in combined checks</a:t>
                      </a:r>
                    </a:p>
                  </a:txBody>
                  <a:tcPr marL="91440" marR="91440" marT="45720" marB="45720" anchor="ctr">
                    <a:solidFill>
                      <a:srgbClr val="F7F8F5"/>
                    </a:solidFill>
                  </a:tcPr>
                </a:tc>
                <a:tc>
                  <a:txBody>
                    <a:bodyPr wrap="square" lIns="76200" tIns="76200" rIns="76200" bIns="76200">
                      <a:normAutofit/>
                    </a:bodyPr>
                    <a:lstStyle/>
                    <a:p>
                      <a:pPr algn="l"/>
                      <a:r>
                        <a:rPr sz="1425" b="0">
                          <a:solidFill>
                            <a:srgbClr val="24362F"/>
                          </a:solidFill>
                          <a:latin typeface="Arial"/>
                          <a:ea typeface="Arial"/>
                          <a:cs typeface="Arial"/>
                        </a:rPr>
                        <a:t>Eight formal city-month checks</a:t>
                      </a:r>
                    </a:p>
                  </a:txBody>
                  <a:tcPr marL="91440" marR="91440" marT="45720" marB="45720" anchor="ctr">
                    <a:solidFill>
                      <a:srgbClr val="F7F8F5"/>
                    </a:solidFill>
                  </a:tcPr>
                </a:tc>
              </a:tr>
            </a:tbl>
          </a:graphicData>
        </a:graphic>
      </p:graphicFrame>
    </p:spTree>
    <p:extLst>
      <p:ext uri="{BB962C8B-B14F-4D97-AF65-F5344CB8AC3E}">
        <p14:creationId xmlns:p14="http://schemas.microsoft.com/office/powerpoint/2010/main" val="793320378"/>
      </p:ext>
    </p:extLst>
  </p:cSld>
</p:sld>
</file>

<file path=ppt/slides/slide1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63630572-7954-49E4-AFAD-995B5B756CD3}"/>
              </a:ext>
            </a:extLst>
          </p:cNvPr>
          <p:cNvSpPr>
            <a:spLocks xmlns:a="http://schemas.openxmlformats.org/drawingml/2006/main" noGrp="1"/>
          </p:cNvSpPr>
          <p:nvPr/>
        </p:nvSpPr>
        <p:spPr>
          <a:xfrm xmlns:a="http://schemas.openxmlformats.org/drawingml/2006/main">
            <a:off x="742950" y="190500"/>
            <a:ext cx="714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DELIVERABLES</a:t>
            </a:r>
          </a:p>
        </p:txBody>
      </p:sp>
      <p:sp>
        <p:nvSpPr>
          <p:cNvPr id="2" name="slide-title">
            <a:extLst xmlns:a="http://schemas.openxmlformats.org/drawingml/2006/main">
              <a:ext uri="{FF2B5EF4-FFF2-40B4-BE49-F238E27FC236}">
                <a16:creationId xmlns:a16="http://schemas.microsoft.com/office/drawing/2014/main" id="{4168FE0C-474F-4F0A-925E-EB52867E7C33}"/>
              </a:ext>
            </a:extLst>
          </p:cNvPr>
          <p:cNvSpPr>
            <a:spLocks xmlns:a="http://schemas.openxmlformats.org/drawingml/2006/main" noGrp="1"/>
          </p:cNvSpPr>
          <p:nvPr/>
        </p:nvSpPr>
        <p:spPr>
          <a:xfrm xmlns:a="http://schemas.openxmlformats.org/drawingml/2006/main">
            <a:off x="742950" y="4572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24362F"/>
                </a:solidFill>
                <a:latin typeface="Arial"/>
                <a:ea typeface="Arial"/>
                <a:cs typeface="Arial"/>
              </a:defRPr>
            </a:defPPr>
          </a:lstStyle>
          <a:p xmlns:a="http://schemas.openxmlformats.org/drawingml/2006/main">
            <a:pPr algn="l">
              <a:lnSpc>
                <a:spcPct val="104000"/>
              </a:lnSpc>
              <a:buNone/>
              <a:defRPr sz="3300" b="1">
                <a:solidFill>
                  <a:srgbClr val="24362F"/>
                </a:solidFill>
                <a:latin typeface="Arial"/>
                <a:ea typeface="Arial"/>
                <a:cs typeface="Arial"/>
              </a:defRPr>
            </a:pPr>
            <a:r>
              <a:rPr sz="3300" b="1">
                <a:solidFill>
                  <a:srgbClr val="24362F"/>
                </a:solidFill>
                <a:latin typeface="Arial"/>
                <a:ea typeface="Arial"/>
                <a:cs typeface="Arial"/>
              </a:rPr>
              <a:t>Use the output that matches your question</a:t>
            </a:r>
          </a:p>
        </p:txBody>
      </p:sp>
      <p:sp>
        <p:nvSpPr>
          <p:cNvPr id="3" name="slide-subtitle">
            <a:extLst xmlns:a="http://schemas.openxmlformats.org/drawingml/2006/main">
              <a:ext uri="{FF2B5EF4-FFF2-40B4-BE49-F238E27FC236}">
                <a16:creationId xmlns:a16="http://schemas.microsoft.com/office/drawing/2014/main" id="{8051D7B2-79EE-411C-BAFC-EEC0470FA7CC}"/>
              </a:ext>
            </a:extLst>
          </p:cNvPr>
          <p:cNvSpPr>
            <a:spLocks xmlns:a="http://schemas.openxmlformats.org/drawingml/2006/main" noGrp="1"/>
          </p:cNvSpPr>
          <p:nvPr/>
        </p:nvSpPr>
        <p:spPr>
          <a:xfrm xmlns:a="http://schemas.openxmlformats.org/drawingml/2006/main">
            <a:off x="762000" y="10858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65766E"/>
                </a:solidFill>
                <a:latin typeface="Arial"/>
                <a:ea typeface="Arial"/>
                <a:cs typeface="Arial"/>
              </a:defRPr>
            </a:defPPr>
          </a:lstStyle>
          <a:p xmlns:a="http://schemas.openxmlformats.org/drawingml/2006/main">
            <a:pPr algn="l">
              <a:lnSpc>
                <a:spcPct val="104000"/>
              </a:lnSpc>
              <a:buNone/>
              <a:defRPr sz="1725" b="0">
                <a:solidFill>
                  <a:srgbClr val="65766E"/>
                </a:solidFill>
                <a:latin typeface="Arial"/>
                <a:ea typeface="Arial"/>
                <a:cs typeface="Arial"/>
              </a:defRPr>
            </a:pPr>
            <a:r>
              <a:rPr sz="1725" b="0">
                <a:solidFill>
                  <a:srgbClr val="65766E"/>
                </a:solidFill>
                <a:latin typeface="Arial"/>
                <a:ea typeface="Arial"/>
                <a:cs typeface="Arial"/>
              </a:rPr>
              <a:t>Point detail, one city, or all cities are available at different paths.</a:t>
            </a:r>
          </a:p>
        </p:txBody>
      </p:sp>
      <p:sp>
        <p:nvSpPr>
          <p:cNvPr id="4" name="header-rule">
            <a:extLst xmlns:a="http://schemas.openxmlformats.org/drawingml/2006/main">
              <a:ext uri="{FF2B5EF4-FFF2-40B4-BE49-F238E27FC236}">
                <a16:creationId xmlns:a16="http://schemas.microsoft.com/office/drawing/2014/main" id="{FC1D3AAF-A486-4DC3-BBE1-164347A93AA3}"/>
              </a:ext>
            </a:extLst>
          </p:cNvPr>
          <p:cNvSpPr>
            <a:spLocks xmlns:a="http://schemas.openxmlformats.org/drawingml/2006/main" noGrp="1"/>
          </p:cNvSpPr>
          <p:nvPr/>
        </p:nvSpPr>
        <p:spPr>
          <a:xfrm xmlns:a="http://schemas.openxmlformats.org/drawingml/2006/main">
            <a:off x="762000" y="1638300"/>
            <a:ext cx="10668000" cy="0"/>
          </a:xfrm>
          <a:prstGeom xmlns:a="http://schemas.openxmlformats.org/drawingml/2006/main" prst="line">
            <a:avLst/>
          </a:prstGeom>
          <a:noFill xmlns:a="http://schemas.openxmlformats.org/drawingml/2006/main"/>
          <a:ln xmlns:a="http://schemas.openxmlformats.org/drawingml/2006/main" w="11906">
            <a:solidFill>
              <a:srgbClr val="D5DFD9"/>
            </a:solidFill>
            <a:prstDash val="solid"/>
          </a:ln>
        </p:spPr>
      </p:sp>
      <p:sp>
        <p:nvSpPr>
          <p:cNvPr id="5" name="page-number">
            <a:extLst xmlns:a="http://schemas.openxmlformats.org/drawingml/2006/main">
              <a:ext uri="{FF2B5EF4-FFF2-40B4-BE49-F238E27FC236}">
                <a16:creationId xmlns:a16="http://schemas.microsoft.com/office/drawing/2014/main" id="{348C1BA1-0330-4C4F-BF26-DDD4C2C6E504}"/>
              </a:ext>
            </a:extLst>
          </p:cNvPr>
          <p:cNvSpPr>
            <a:spLocks xmlns:a="http://schemas.openxmlformats.org/drawingml/2006/main" noGrp="1"/>
          </p:cNvSpPr>
          <p:nvPr/>
        </p:nvSpPr>
        <p:spPr>
          <a:xfrm xmlns:a="http://schemas.openxmlformats.org/drawingml/2006/main">
            <a:off x="11029950" y="64008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0">
                <a:solidFill>
                  <a:srgbClr val="65766E"/>
                </a:solidFill>
                <a:latin typeface="Arial"/>
                <a:ea typeface="Arial"/>
                <a:cs typeface="Arial"/>
              </a:defRPr>
            </a:defPPr>
          </a:lstStyle>
          <a:p xmlns:a="http://schemas.openxmlformats.org/drawingml/2006/main">
            <a:pPr algn="r">
              <a:lnSpc>
                <a:spcPct val="104000"/>
              </a:lnSpc>
              <a:buNone/>
              <a:defRPr sz="1200" b="0">
                <a:solidFill>
                  <a:srgbClr val="65766E"/>
                </a:solidFill>
                <a:latin typeface="Arial"/>
                <a:ea typeface="Arial"/>
                <a:cs typeface="Arial"/>
              </a:defRPr>
            </a:pPr>
            <a:r>
              <a:rPr sz="1200" b="0">
                <a:solidFill>
                  <a:srgbClr val="65766E"/>
                </a:solidFill>
                <a:latin typeface="Arial"/>
                <a:ea typeface="Arial"/>
                <a:cs typeface="Arial"/>
              </a:rPr>
              <a:t>18</a:t>
            </a:r>
          </a:p>
        </p:txBody>
      </p:sp>
      <p:sp>
        <p:nvSpPr>
          <p:cNvPr id="6" name="deliverable-label-0">
            <a:extLst xmlns:a="http://schemas.openxmlformats.org/drawingml/2006/main">
              <a:ext uri="{FF2B5EF4-FFF2-40B4-BE49-F238E27FC236}">
                <a16:creationId xmlns:a16="http://schemas.microsoft.com/office/drawing/2014/main" id="{B797C352-23CD-45ED-9FB2-AB646B867C86}"/>
              </a:ext>
            </a:extLst>
          </p:cNvPr>
          <p:cNvSpPr>
            <a:spLocks xmlns:a="http://schemas.openxmlformats.org/drawingml/2006/main" noGrp="1"/>
          </p:cNvSpPr>
          <p:nvPr/>
        </p:nvSpPr>
        <p:spPr>
          <a:xfrm xmlns:a="http://schemas.openxmlformats.org/drawingml/2006/main">
            <a:off x="819150" y="209550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POINT DETAIL</a:t>
            </a:r>
          </a:p>
        </p:txBody>
      </p:sp>
      <p:sp>
        <p:nvSpPr>
          <p:cNvPr id="7" name="deliverable-path-0">
            <a:extLst xmlns:a="http://schemas.openxmlformats.org/drawingml/2006/main">
              <a:ext uri="{FF2B5EF4-FFF2-40B4-BE49-F238E27FC236}">
                <a16:creationId xmlns:a16="http://schemas.microsoft.com/office/drawing/2014/main" id="{CA38335A-4281-4FE8-803E-9754F9632442}"/>
              </a:ext>
            </a:extLst>
          </p:cNvPr>
          <p:cNvSpPr>
            <a:spLocks xmlns:a="http://schemas.openxmlformats.org/drawingml/2006/main" noGrp="1"/>
          </p:cNvSpPr>
          <p:nvPr/>
        </p:nvSpPr>
        <p:spPr>
          <a:xfrm xmlns:a="http://schemas.openxmlformats.org/drawingml/2006/main">
            <a:off x="2857500" y="209550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24362F"/>
                </a:solidFill>
                <a:latin typeface="Arial"/>
                <a:ea typeface="Arial"/>
                <a:cs typeface="Arial"/>
              </a:defRPr>
            </a:defPPr>
          </a:lstStyle>
          <a:p xmlns:a="http://schemas.openxmlformats.org/drawingml/2006/main">
            <a:pPr algn="l">
              <a:lnSpc>
                <a:spcPct val="104000"/>
              </a:lnSpc>
              <a:buNone/>
              <a:defRPr sz="1500" b="1">
                <a:solidFill>
                  <a:srgbClr val="24362F"/>
                </a:solidFill>
                <a:latin typeface="Arial"/>
                <a:ea typeface="Arial"/>
                <a:cs typeface="Arial"/>
              </a:defRPr>
            </a:pPr>
            <a:r>
              <a:rPr sz="1500" b="1">
                <a:solidFill>
                  <a:srgbClr val="24362F"/>
                </a:solidFill>
                <a:latin typeface="Arial"/>
                <a:ea typeface="Arial"/>
                <a:cs typeface="Arial"/>
              </a:rPr>
              <a:t>data/interim/point_monthly_wide.csv</a:t>
            </a:r>
          </a:p>
        </p:txBody>
      </p:sp>
      <p:sp>
        <p:nvSpPr>
          <p:cNvPr id="8" name="deliverable-desc-0">
            <a:extLst xmlns:a="http://schemas.openxmlformats.org/drawingml/2006/main">
              <a:ext uri="{FF2B5EF4-FFF2-40B4-BE49-F238E27FC236}">
                <a16:creationId xmlns:a16="http://schemas.microsoft.com/office/drawing/2014/main" id="{8D945FAA-A4F8-4BB3-B105-BC44EE1C83B0}"/>
              </a:ext>
            </a:extLst>
          </p:cNvPr>
          <p:cNvSpPr>
            <a:spLocks xmlns:a="http://schemas.openxmlformats.org/drawingml/2006/main" noGrp="1"/>
          </p:cNvSpPr>
          <p:nvPr/>
        </p:nvSpPr>
        <p:spPr>
          <a:xfrm xmlns:a="http://schemas.openxmlformats.org/drawingml/2006/main">
            <a:off x="2857500" y="2438400"/>
            <a:ext cx="795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5766E"/>
                </a:solidFill>
                <a:latin typeface="Arial"/>
                <a:ea typeface="Arial"/>
                <a:cs typeface="Arial"/>
              </a:defRPr>
            </a:defPPr>
          </a:lstStyle>
          <a:p xmlns:a="http://schemas.openxmlformats.org/drawingml/2006/main">
            <a:pPr algn="l">
              <a:lnSpc>
                <a:spcPct val="104000"/>
              </a:lnSpc>
              <a:buNone/>
              <a:defRPr sz="1425" b="0">
                <a:solidFill>
                  <a:srgbClr val="65766E"/>
                </a:solidFill>
                <a:latin typeface="Arial"/>
                <a:ea typeface="Arial"/>
                <a:cs typeface="Arial"/>
              </a:defRPr>
            </a:pPr>
            <a:r>
              <a:rPr sz="1425" b="0">
                <a:solidFill>
                  <a:srgbClr val="65766E"/>
                </a:solidFill>
                <a:latin typeface="Arial"/>
                <a:ea typeface="Arial"/>
                <a:cs typeface="Arial"/>
              </a:rPr>
              <a:t>One row per point-month</a:t>
            </a:r>
          </a:p>
        </p:txBody>
      </p:sp>
      <p:sp>
        <p:nvSpPr>
          <p:cNvPr id="9" name="deliverable-rule-0">
            <a:extLst xmlns:a="http://schemas.openxmlformats.org/drawingml/2006/main">
              <a:ext uri="{FF2B5EF4-FFF2-40B4-BE49-F238E27FC236}">
                <a16:creationId xmlns:a16="http://schemas.microsoft.com/office/drawing/2014/main" id="{6A9593AF-C2AE-4982-82AA-ED47BAFDB932}"/>
              </a:ext>
            </a:extLst>
          </p:cNvPr>
          <p:cNvSpPr>
            <a:spLocks xmlns:a="http://schemas.openxmlformats.org/drawingml/2006/main" noGrp="1"/>
          </p:cNvSpPr>
          <p:nvPr/>
        </p:nvSpPr>
        <p:spPr>
          <a:xfrm xmlns:a="http://schemas.openxmlformats.org/drawingml/2006/main">
            <a:off x="819150" y="2752725"/>
            <a:ext cx="10515600"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0" name="deliverable-label-1">
            <a:extLst xmlns:a="http://schemas.openxmlformats.org/drawingml/2006/main">
              <a:ext uri="{FF2B5EF4-FFF2-40B4-BE49-F238E27FC236}">
                <a16:creationId xmlns:a16="http://schemas.microsoft.com/office/drawing/2014/main" id="{EEC3BAA4-BE0A-4704-80A4-C59A78FBAC29}"/>
              </a:ext>
            </a:extLst>
          </p:cNvPr>
          <p:cNvSpPr>
            <a:spLocks xmlns:a="http://schemas.openxmlformats.org/drawingml/2006/main" noGrp="1"/>
          </p:cNvSpPr>
          <p:nvPr/>
        </p:nvSpPr>
        <p:spPr>
          <a:xfrm xmlns:a="http://schemas.openxmlformats.org/drawingml/2006/main">
            <a:off x="819150" y="2886075"/>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5675B"/>
                </a:solidFill>
                <a:latin typeface="Arial"/>
                <a:ea typeface="Arial"/>
                <a:cs typeface="Arial"/>
              </a:defRPr>
            </a:defPPr>
          </a:lstStyle>
          <a:p xmlns:a="http://schemas.openxmlformats.org/drawingml/2006/main">
            <a:pPr algn="l">
              <a:lnSpc>
                <a:spcPct val="104000"/>
              </a:lnSpc>
              <a:buNone/>
              <a:defRPr sz="1125" b="1">
                <a:solidFill>
                  <a:srgbClr val="45675B"/>
                </a:solidFill>
                <a:latin typeface="Arial"/>
                <a:ea typeface="Arial"/>
                <a:cs typeface="Arial"/>
              </a:defRPr>
            </a:pPr>
            <a:r>
              <a:rPr sz="1125" b="1">
                <a:solidFill>
                  <a:srgbClr val="45675B"/>
                </a:solidFill>
                <a:latin typeface="Arial"/>
                <a:ea typeface="Arial"/>
                <a:cs typeface="Arial"/>
              </a:rPr>
              <a:t>ONE CITY</a:t>
            </a:r>
          </a:p>
        </p:txBody>
      </p:sp>
      <p:sp>
        <p:nvSpPr>
          <p:cNvPr id="11" name="deliverable-path-1">
            <a:extLst xmlns:a="http://schemas.openxmlformats.org/drawingml/2006/main">
              <a:ext uri="{FF2B5EF4-FFF2-40B4-BE49-F238E27FC236}">
                <a16:creationId xmlns:a16="http://schemas.microsoft.com/office/drawing/2014/main" id="{836FCA61-05C0-49F0-A0E1-AC07589727E7}"/>
              </a:ext>
            </a:extLst>
          </p:cNvPr>
          <p:cNvSpPr>
            <a:spLocks xmlns:a="http://schemas.openxmlformats.org/drawingml/2006/main" noGrp="1"/>
          </p:cNvSpPr>
          <p:nvPr/>
        </p:nvSpPr>
        <p:spPr>
          <a:xfrm xmlns:a="http://schemas.openxmlformats.org/drawingml/2006/main">
            <a:off x="2857500" y="288607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24362F"/>
                </a:solidFill>
                <a:latin typeface="Arial"/>
                <a:ea typeface="Arial"/>
                <a:cs typeface="Arial"/>
              </a:defRPr>
            </a:defPPr>
          </a:lstStyle>
          <a:p xmlns:a="http://schemas.openxmlformats.org/drawingml/2006/main">
            <a:pPr algn="l">
              <a:lnSpc>
                <a:spcPct val="104000"/>
              </a:lnSpc>
              <a:buNone/>
              <a:defRPr sz="1500" b="1">
                <a:solidFill>
                  <a:srgbClr val="24362F"/>
                </a:solidFill>
                <a:latin typeface="Arial"/>
                <a:ea typeface="Arial"/>
                <a:cs typeface="Arial"/>
              </a:defRPr>
            </a:pPr>
            <a:r>
              <a:rPr sz="1500" b="1">
                <a:solidFill>
                  <a:srgbClr val="24362F"/>
                </a:solidFill>
                <a:latin typeface="Arial"/>
                <a:ea typeface="Arial"/>
                <a:cs typeface="Arial"/>
              </a:rPr>
              <a:t>data/processed/by_city/&lt;city&gt;_monthly.csv</a:t>
            </a:r>
          </a:p>
        </p:txBody>
      </p:sp>
      <p:sp>
        <p:nvSpPr>
          <p:cNvPr id="12" name="deliverable-desc-1">
            <a:extLst xmlns:a="http://schemas.openxmlformats.org/drawingml/2006/main">
              <a:ext uri="{FF2B5EF4-FFF2-40B4-BE49-F238E27FC236}">
                <a16:creationId xmlns:a16="http://schemas.microsoft.com/office/drawing/2014/main" id="{B65B1E3C-6E62-4BDA-BFAF-2D149850F72B}"/>
              </a:ext>
            </a:extLst>
          </p:cNvPr>
          <p:cNvSpPr>
            <a:spLocks xmlns:a="http://schemas.openxmlformats.org/drawingml/2006/main" noGrp="1"/>
          </p:cNvSpPr>
          <p:nvPr/>
        </p:nvSpPr>
        <p:spPr>
          <a:xfrm xmlns:a="http://schemas.openxmlformats.org/drawingml/2006/main">
            <a:off x="2857500" y="3228975"/>
            <a:ext cx="795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5766E"/>
                </a:solidFill>
                <a:latin typeface="Arial"/>
                <a:ea typeface="Arial"/>
                <a:cs typeface="Arial"/>
              </a:defRPr>
            </a:defPPr>
          </a:lstStyle>
          <a:p xmlns:a="http://schemas.openxmlformats.org/drawingml/2006/main">
            <a:pPr algn="l">
              <a:lnSpc>
                <a:spcPct val="104000"/>
              </a:lnSpc>
              <a:buNone/>
              <a:defRPr sz="1425" b="0">
                <a:solidFill>
                  <a:srgbClr val="65766E"/>
                </a:solidFill>
                <a:latin typeface="Arial"/>
                <a:ea typeface="Arial"/>
                <a:cs typeface="Arial"/>
              </a:defRPr>
            </a:pPr>
            <a:r>
              <a:rPr sz="1425" b="0">
                <a:solidFill>
                  <a:srgbClr val="65766E"/>
                </a:solidFill>
                <a:latin typeface="Arial"/>
                <a:ea typeface="Arial"/>
                <a:cs typeface="Arial"/>
              </a:rPr>
              <a:t>One row per month for that city</a:t>
            </a:r>
          </a:p>
        </p:txBody>
      </p:sp>
      <p:sp>
        <p:nvSpPr>
          <p:cNvPr id="13" name="deliverable-rule-1">
            <a:extLst xmlns:a="http://schemas.openxmlformats.org/drawingml/2006/main">
              <a:ext uri="{FF2B5EF4-FFF2-40B4-BE49-F238E27FC236}">
                <a16:creationId xmlns:a16="http://schemas.microsoft.com/office/drawing/2014/main" id="{15EEA150-33E1-41A6-8063-C249724A77D2}"/>
              </a:ext>
            </a:extLst>
          </p:cNvPr>
          <p:cNvSpPr>
            <a:spLocks xmlns:a="http://schemas.openxmlformats.org/drawingml/2006/main" noGrp="1"/>
          </p:cNvSpPr>
          <p:nvPr/>
        </p:nvSpPr>
        <p:spPr>
          <a:xfrm xmlns:a="http://schemas.openxmlformats.org/drawingml/2006/main">
            <a:off x="819150" y="3543300"/>
            <a:ext cx="10515600" cy="0"/>
          </a:xfrm>
          <a:prstGeom xmlns:a="http://schemas.openxmlformats.org/drawingml/2006/main" prst="line">
            <a:avLst/>
          </a:prstGeom>
          <a:noFill xmlns:a="http://schemas.openxmlformats.org/drawingml/2006/main"/>
          <a:ln xmlns:a="http://schemas.openxmlformats.org/drawingml/2006/main" w="9525">
            <a:solidFill>
              <a:srgbClr val="D5DFD9"/>
            </a:solidFill>
            <a:prstDash val="solid"/>
          </a:ln>
        </p:spPr>
      </p:sp>
      <p:sp>
        <p:nvSpPr>
          <p:cNvPr id="14" name="deliverable-label-2">
            <a:extLst xmlns:a="http://schemas.openxmlformats.org/drawingml/2006/main">
              <a:ext uri="{FF2B5EF4-FFF2-40B4-BE49-F238E27FC236}">
                <a16:creationId xmlns:a16="http://schemas.microsoft.com/office/drawing/2014/main" id="{09DED8AD-FFCA-4E6E-A228-AC2BD9EC61FB}"/>
              </a:ext>
            </a:extLst>
          </p:cNvPr>
          <p:cNvSpPr>
            <a:spLocks xmlns:a="http://schemas.openxmlformats.org/drawingml/2006/main" noGrp="1"/>
          </p:cNvSpPr>
          <p:nvPr/>
        </p:nvSpPr>
        <p:spPr>
          <a:xfrm xmlns:a="http://schemas.openxmlformats.org/drawingml/2006/main">
            <a:off x="819150" y="367665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57985"/>
                </a:solidFill>
                <a:latin typeface="Arial"/>
                <a:ea typeface="Arial"/>
                <a:cs typeface="Arial"/>
              </a:defRPr>
            </a:defPPr>
          </a:lstStyle>
          <a:p xmlns:a="http://schemas.openxmlformats.org/drawingml/2006/main">
            <a:pPr algn="l">
              <a:lnSpc>
                <a:spcPct val="104000"/>
              </a:lnSpc>
              <a:buNone/>
              <a:defRPr sz="1125" b="1">
                <a:solidFill>
                  <a:srgbClr val="557985"/>
                </a:solidFill>
                <a:latin typeface="Arial"/>
                <a:ea typeface="Arial"/>
                <a:cs typeface="Arial"/>
              </a:defRPr>
            </a:pPr>
            <a:r>
              <a:rPr sz="1125" b="1">
                <a:solidFill>
                  <a:srgbClr val="557985"/>
                </a:solidFill>
                <a:latin typeface="Arial"/>
                <a:ea typeface="Arial"/>
                <a:cs typeface="Arial"/>
              </a:rPr>
              <a:t>ALL CITIES</a:t>
            </a:r>
          </a:p>
        </p:txBody>
      </p:sp>
      <p:sp>
        <p:nvSpPr>
          <p:cNvPr id="15" name="deliverable-path-2">
            <a:extLst xmlns:a="http://schemas.openxmlformats.org/drawingml/2006/main">
              <a:ext uri="{FF2B5EF4-FFF2-40B4-BE49-F238E27FC236}">
                <a16:creationId xmlns:a16="http://schemas.microsoft.com/office/drawing/2014/main" id="{515B87B0-0AD5-413A-9549-C3355680AAA2}"/>
              </a:ext>
            </a:extLst>
          </p:cNvPr>
          <p:cNvSpPr>
            <a:spLocks xmlns:a="http://schemas.openxmlformats.org/drawingml/2006/main" noGrp="1"/>
          </p:cNvSpPr>
          <p:nvPr/>
        </p:nvSpPr>
        <p:spPr>
          <a:xfrm xmlns:a="http://schemas.openxmlformats.org/drawingml/2006/main">
            <a:off x="2857500" y="36766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24362F"/>
                </a:solidFill>
                <a:latin typeface="Arial"/>
                <a:ea typeface="Arial"/>
                <a:cs typeface="Arial"/>
              </a:defRPr>
            </a:defPPr>
          </a:lstStyle>
          <a:p xmlns:a="http://schemas.openxmlformats.org/drawingml/2006/main">
            <a:pPr algn="l">
              <a:lnSpc>
                <a:spcPct val="104000"/>
              </a:lnSpc>
              <a:buNone/>
              <a:defRPr sz="1500" b="1">
                <a:solidFill>
                  <a:srgbClr val="24362F"/>
                </a:solidFill>
                <a:latin typeface="Arial"/>
                <a:ea typeface="Arial"/>
                <a:cs typeface="Arial"/>
              </a:defRPr>
            </a:pPr>
            <a:r>
              <a:rPr sz="1500" b="1">
                <a:solidFill>
                  <a:srgbClr val="24362F"/>
                </a:solidFill>
                <a:latin typeface="Arial"/>
                <a:ea typeface="Arial"/>
                <a:cs typeface="Arial"/>
              </a:rPr>
              <a:t>data/processed/city_monthly.csv</a:t>
            </a:r>
          </a:p>
        </p:txBody>
      </p:sp>
      <p:sp>
        <p:nvSpPr>
          <p:cNvPr id="16" name="deliverable-desc-2">
            <a:extLst xmlns:a="http://schemas.openxmlformats.org/drawingml/2006/main">
              <a:ext uri="{FF2B5EF4-FFF2-40B4-BE49-F238E27FC236}">
                <a16:creationId xmlns:a16="http://schemas.microsoft.com/office/drawing/2014/main" id="{46CD9BB8-04C1-4025-9186-87E1D5A38816}"/>
              </a:ext>
            </a:extLst>
          </p:cNvPr>
          <p:cNvSpPr>
            <a:spLocks xmlns:a="http://schemas.openxmlformats.org/drawingml/2006/main" noGrp="1"/>
          </p:cNvSpPr>
          <p:nvPr/>
        </p:nvSpPr>
        <p:spPr>
          <a:xfrm xmlns:a="http://schemas.openxmlformats.org/drawingml/2006/main">
            <a:off x="2857500" y="4019550"/>
            <a:ext cx="795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65766E"/>
                </a:solidFill>
                <a:latin typeface="Arial"/>
                <a:ea typeface="Arial"/>
                <a:cs typeface="Arial"/>
              </a:defRPr>
            </a:defPPr>
          </a:lstStyle>
          <a:p xmlns:a="http://schemas.openxmlformats.org/drawingml/2006/main">
            <a:pPr algn="l">
              <a:lnSpc>
                <a:spcPct val="104000"/>
              </a:lnSpc>
              <a:buNone/>
              <a:defRPr sz="1425" b="0">
                <a:solidFill>
                  <a:srgbClr val="65766E"/>
                </a:solidFill>
                <a:latin typeface="Arial"/>
                <a:ea typeface="Arial"/>
                <a:cs typeface="Arial"/>
              </a:defRPr>
            </a:pPr>
            <a:r>
              <a:rPr sz="1425" b="0">
                <a:solidFill>
                  <a:srgbClr val="65766E"/>
                </a:solidFill>
                <a:latin typeface="Arial"/>
                <a:ea typeface="Arial"/>
                <a:cs typeface="Arial"/>
              </a:rPr>
              <a:t>All city-month rows in one file</a:t>
            </a:r>
          </a:p>
        </p:txBody>
      </p:sp>
      <p:sp>
        <p:nvSpPr>
          <p:cNvPr id="17" name="limitation-rule">
            <a:extLst xmlns:a="http://schemas.openxmlformats.org/drawingml/2006/main">
              <a:ext uri="{FF2B5EF4-FFF2-40B4-BE49-F238E27FC236}">
                <a16:creationId xmlns:a16="http://schemas.microsoft.com/office/drawing/2014/main" id="{55EF5504-6F92-44BF-AB4D-CD7E350A19E6}"/>
              </a:ext>
            </a:extLst>
          </p:cNvPr>
          <p:cNvSpPr>
            <a:spLocks xmlns:a="http://schemas.openxmlformats.org/drawingml/2006/main" noGrp="1"/>
          </p:cNvSpPr>
          <p:nvPr/>
        </p:nvSpPr>
        <p:spPr>
          <a:xfrm xmlns:a="http://schemas.openxmlformats.org/drawingml/2006/main">
            <a:off x="819150" y="4562475"/>
            <a:ext cx="10515600" cy="0"/>
          </a:xfrm>
          <a:prstGeom xmlns:a="http://schemas.openxmlformats.org/drawingml/2006/main" prst="line">
            <a:avLst/>
          </a:prstGeom>
          <a:noFill xmlns:a="http://schemas.openxmlformats.org/drawingml/2006/main"/>
          <a:ln xmlns:a="http://schemas.openxmlformats.org/drawingml/2006/main" w="11430">
            <a:solidFill>
              <a:srgbClr val="D5DFD9"/>
            </a:solidFill>
            <a:prstDash val="solid"/>
          </a:ln>
        </p:spPr>
      </p:sp>
      <p:sp>
        <p:nvSpPr>
          <p:cNvPr id="18" name="limitation-title">
            <a:extLst xmlns:a="http://schemas.openxmlformats.org/drawingml/2006/main">
              <a:ext uri="{FF2B5EF4-FFF2-40B4-BE49-F238E27FC236}">
                <a16:creationId xmlns:a16="http://schemas.microsoft.com/office/drawing/2014/main" id="{D4E87AB6-94BB-4296-896B-D57A22BF799D}"/>
              </a:ext>
            </a:extLst>
          </p:cNvPr>
          <p:cNvSpPr>
            <a:spLocks xmlns:a="http://schemas.openxmlformats.org/drawingml/2006/main" noGrp="1"/>
          </p:cNvSpPr>
          <p:nvPr/>
        </p:nvSpPr>
        <p:spPr>
          <a:xfrm xmlns:a="http://schemas.openxmlformats.org/drawingml/2006/main">
            <a:off x="819150" y="48387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B37B54"/>
                </a:solidFill>
                <a:latin typeface="Arial"/>
                <a:ea typeface="Arial"/>
                <a:cs typeface="Arial"/>
              </a:defRPr>
            </a:defPPr>
          </a:lstStyle>
          <a:p xmlns:a="http://schemas.openxmlformats.org/drawingml/2006/main">
            <a:pPr algn="l">
              <a:lnSpc>
                <a:spcPct val="104000"/>
              </a:lnSpc>
              <a:buNone/>
              <a:defRPr sz="1425" b="1">
                <a:solidFill>
                  <a:srgbClr val="B37B54"/>
                </a:solidFill>
                <a:latin typeface="Arial"/>
                <a:ea typeface="Arial"/>
                <a:cs typeface="Arial"/>
              </a:defRPr>
            </a:pPr>
            <a:r>
              <a:rPr sz="1425" b="1">
                <a:solidFill>
                  <a:srgbClr val="B37B54"/>
                </a:solidFill>
                <a:latin typeface="Arial"/>
                <a:ea typeface="Arial"/>
                <a:cs typeface="Arial"/>
              </a:rPr>
              <a:t>Two limits to keep visible</a:t>
            </a:r>
          </a:p>
        </p:txBody>
      </p:sp>
      <p:sp>
        <p:nvSpPr>
          <p:cNvPr id="19" name="limitation-text">
            <a:extLst xmlns:a="http://schemas.openxmlformats.org/drawingml/2006/main">
              <a:ext uri="{FF2B5EF4-FFF2-40B4-BE49-F238E27FC236}">
                <a16:creationId xmlns:a16="http://schemas.microsoft.com/office/drawing/2014/main" id="{B69398B1-14B1-441F-B28D-4C93CE30BCF2}"/>
              </a:ext>
            </a:extLst>
          </p:cNvPr>
          <p:cNvSpPr>
            <a:spLocks xmlns:a="http://schemas.openxmlformats.org/drawingml/2006/main" noGrp="1"/>
          </p:cNvSpPr>
          <p:nvPr/>
        </p:nvSpPr>
        <p:spPr>
          <a:xfrm xmlns:a="http://schemas.openxmlformats.org/drawingml/2006/main">
            <a:off x="819150" y="5219700"/>
            <a:ext cx="1019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4362F"/>
                </a:solidFill>
                <a:latin typeface="Arial"/>
                <a:ea typeface="Arial"/>
                <a:cs typeface="Arial"/>
              </a:defRPr>
            </a:defPPr>
          </a:lstStyle>
          <a:p xmlns:a="http://schemas.openxmlformats.org/drawingml/2006/main">
            <a:pPr algn="l">
              <a:lnSpc>
                <a:spcPct val="104000"/>
              </a:lnSpc>
              <a:buNone/>
              <a:defRPr sz="1575" b="0">
                <a:solidFill>
                  <a:srgbClr val="24362F"/>
                </a:solidFill>
                <a:latin typeface="Arial"/>
                <a:ea typeface="Arial"/>
                <a:cs typeface="Arial"/>
              </a:defRPr>
            </a:pPr>
            <a:r>
              <a:rPr sz="1575" b="0">
                <a:solidFill>
                  <a:srgbClr val="24362F"/>
                </a:solidFill>
                <a:latin typeface="Arial"/>
                <a:ea typeface="Arial"/>
                <a:cs typeface="Arial"/>
              </a:rPr>
              <a:t>Monthly source only; daily output is empty. District, relative humidity, AQI, PM2.5 and NDVI are unavailable.</a:t>
            </a:r>
          </a:p>
        </p:txBody>
      </p:sp>
    </p:spTree>
    <p:extLst>
      <p:ext uri="{BB962C8B-B14F-4D97-AF65-F5344CB8AC3E}">
        <p14:creationId xmlns:p14="http://schemas.microsoft.com/office/powerpoint/2010/main" val="1141464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2026-10-11T11:02:49.8770000Z</dcterms:created>
  <dcterms:modified xsi:type="dcterms:W3CDTF">2026-10-11T11:02:49.8770000Z</dcterms:modified>
</coreProperties>
</file>