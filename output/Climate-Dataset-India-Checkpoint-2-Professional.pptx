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65876bb01c6493e" /><Relationship Type="http://schemas.openxmlformats.org/officeDocument/2006/relationships/extended-properties" Target="/docProps/app.xml" Id="Ra0a74ff84a914464" /><Relationship Type="http://schemas.openxmlformats.org/officeDocument/2006/relationships/officeDocument" Target="/ppt/presentation.xml" Id="R52aac61d873a4c4d" /></Relationships>
</file>

<file path=ppt/presentation.xml><?xml version="1.0" encoding="utf-8"?>
<p:presentation xmlns:p="http://schemas.openxmlformats.org/presentationml/2006/main">
  <p:sldMasterIdLst>
    <p:sldMasterId xmlns:r="http://schemas.openxmlformats.org/officeDocument/2006/relationships" id="2147483648" r:id="Re850d91aefa64f6f"/>
  </p:sldMasterIdLst>
  <p:notesMasterIdLst>
    <p:notesMasterId xmlns:r="http://schemas.openxmlformats.org/officeDocument/2006/relationships" r:id="Rf037c52f7066499b"/>
  </p:notesMasterIdLst>
  <p:sldIdLst>
    <p:sldId xmlns:r="http://schemas.openxmlformats.org/officeDocument/2006/relationships" id="256" r:id="R1221169f59624c76"/>
    <p:sldId xmlns:r="http://schemas.openxmlformats.org/officeDocument/2006/relationships" id="257" r:id="R4106bb6a516f43c7"/>
    <p:sldId xmlns:r="http://schemas.openxmlformats.org/officeDocument/2006/relationships" id="258" r:id="Re0e9efe0daf54b1b"/>
    <p:sldId xmlns:r="http://schemas.openxmlformats.org/officeDocument/2006/relationships" id="259" r:id="R76f1a1983ad44bc5"/>
    <p:sldId xmlns:r="http://schemas.openxmlformats.org/officeDocument/2006/relationships" id="260" r:id="R10e3181fc2194cff"/>
    <p:sldId xmlns:r="http://schemas.openxmlformats.org/officeDocument/2006/relationships" id="261" r:id="Rb774f8cabfc0489e"/>
    <p:sldId xmlns:r="http://schemas.openxmlformats.org/officeDocument/2006/relationships" id="262" r:id="R2f5d82c0b0f74ba2"/>
    <p:sldId xmlns:r="http://schemas.openxmlformats.org/officeDocument/2006/relationships" id="263" r:id="Rbdf935ca6c3c45c2"/>
    <p:sldId xmlns:r="http://schemas.openxmlformats.org/officeDocument/2006/relationships" id="264" r:id="Rb04cd3546d504ed0"/>
    <p:sldId xmlns:r="http://schemas.openxmlformats.org/officeDocument/2006/relationships" id="265" r:id="Rb62f2d88640c4e9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544dcc4d607482b" /><Relationship Type="http://schemas.openxmlformats.org/officeDocument/2006/relationships/slideMaster" Target="/ppt/slideMasters/slideMaster1.xml" Id="Re850d91aefa64f6f" /><Relationship Type="http://schemas.openxmlformats.org/officeDocument/2006/relationships/notesMaster" Target="/ppt/notesMasters/notesMaster1.xml" Id="Rf037c52f7066499b" /><Relationship Type="http://schemas.openxmlformats.org/officeDocument/2006/relationships/presProps" Target="/ppt/presProps.xml" Id="R5d465b2fbcf8495b" /><Relationship Type="http://schemas.openxmlformats.org/officeDocument/2006/relationships/tableStyles" Target="/ppt/tableStyles.xml" Id="Rc82d6a8bffbd426d" /><Relationship Type="http://schemas.openxmlformats.org/officeDocument/2006/relationships/slide" Target="/ppt/slides/slide1.xml" Id="R1221169f59624c76" /><Relationship Type="http://schemas.openxmlformats.org/officeDocument/2006/relationships/slide" Target="/ppt/slides/slide2.xml" Id="R4106bb6a516f43c7" /><Relationship Type="http://schemas.openxmlformats.org/officeDocument/2006/relationships/slide" Target="/ppt/slides/slide3.xml" Id="Re0e9efe0daf54b1b" /><Relationship Type="http://schemas.openxmlformats.org/officeDocument/2006/relationships/slide" Target="/ppt/slides/slide4.xml" Id="R76f1a1983ad44bc5" /><Relationship Type="http://schemas.openxmlformats.org/officeDocument/2006/relationships/slide" Target="/ppt/slides/slide5.xml" Id="R10e3181fc2194cff" /><Relationship Type="http://schemas.openxmlformats.org/officeDocument/2006/relationships/slide" Target="/ppt/slides/slide6.xml" Id="Rb774f8cabfc0489e" /><Relationship Type="http://schemas.openxmlformats.org/officeDocument/2006/relationships/slide" Target="/ppt/slides/slide7.xml" Id="R2f5d82c0b0f74ba2" /><Relationship Type="http://schemas.openxmlformats.org/officeDocument/2006/relationships/slide" Target="/ppt/slides/slide8.xml" Id="Rbdf935ca6c3c45c2" /><Relationship Type="http://schemas.openxmlformats.org/officeDocument/2006/relationships/slide" Target="/ppt/slides/slide9.xml" Id="Rb04cd3546d504ed0" /><Relationship Type="http://schemas.openxmlformats.org/officeDocument/2006/relationships/slide" Target="/ppt/slides/slide10.xml" Id="Rb62f2d88640c4e9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0af13a23a2a479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86ca096c6694c97" /><Relationship Type="http://schemas.openxmlformats.org/officeDocument/2006/relationships/notesMaster" Target="/ppt/notesMasters/notesMaster1.xml" Id="R1e7491da39be4b5f" /></Relationships>
</file>

<file path=ppt/notesSlides/_rels/notesSlide2.xml.rels>&#65279;<?xml version="1.0" encoding="utf-8"?><Relationships xmlns="http://schemas.openxmlformats.org/package/2006/relationships"><Relationship Type="http://schemas.openxmlformats.org/officeDocument/2006/relationships/slide" Target="/ppt/slides/slide2.xml" Id="R56bc5bfe42244f9e" /><Relationship Type="http://schemas.openxmlformats.org/officeDocument/2006/relationships/notesMaster" Target="/ppt/notesMasters/notesMaster1.xml" Id="R0587d6757f0a45c7" /></Relationships>
</file>

<file path=ppt/notesSlides/_rels/notesSlide3.xml.rels>&#65279;<?xml version="1.0" encoding="utf-8"?><Relationships xmlns="http://schemas.openxmlformats.org/package/2006/relationships"><Relationship Type="http://schemas.openxmlformats.org/officeDocument/2006/relationships/slide" Target="/ppt/slides/slide3.xml" Id="Re4aecca373d44abf" /><Relationship Type="http://schemas.openxmlformats.org/officeDocument/2006/relationships/notesMaster" Target="/ppt/notesMasters/notesMaster1.xml" Id="R8ae6ca029ea84336" /></Relationships>
</file>

<file path=ppt/notesSlides/_rels/notesSlide4.xml.rels>&#65279;<?xml version="1.0" encoding="utf-8"?><Relationships xmlns="http://schemas.openxmlformats.org/package/2006/relationships"><Relationship Type="http://schemas.openxmlformats.org/officeDocument/2006/relationships/slide" Target="/ppt/slides/slide4.xml" Id="R014096b7f7f94c49" /><Relationship Type="http://schemas.openxmlformats.org/officeDocument/2006/relationships/notesMaster" Target="/ppt/notesMasters/notesMaster1.xml" Id="R93d7040087524cce" /></Relationships>
</file>

<file path=ppt/notesSlides/_rels/notesSlide5.xml.rels>&#65279;<?xml version="1.0" encoding="utf-8"?><Relationships xmlns="http://schemas.openxmlformats.org/package/2006/relationships"><Relationship Type="http://schemas.openxmlformats.org/officeDocument/2006/relationships/slide" Target="/ppt/slides/slide5.xml" Id="R87903cb3abfa4338" /><Relationship Type="http://schemas.openxmlformats.org/officeDocument/2006/relationships/notesMaster" Target="/ppt/notesMasters/notesMaster1.xml" Id="R19fc78b15158406a" /></Relationships>
</file>

<file path=ppt/notesSlides/_rels/notesSlide6.xml.rels>&#65279;<?xml version="1.0" encoding="utf-8"?><Relationships xmlns="http://schemas.openxmlformats.org/package/2006/relationships"><Relationship Type="http://schemas.openxmlformats.org/officeDocument/2006/relationships/slide" Target="/ppt/slides/slide6.xml" Id="R1ee02dcf98ae4d00" /><Relationship Type="http://schemas.openxmlformats.org/officeDocument/2006/relationships/notesMaster" Target="/ppt/notesMasters/notesMaster1.xml" Id="Rd427ddc8df044395" /></Relationships>
</file>

<file path=ppt/notesSlides/_rels/notesSlide7.xml.rels>&#65279;<?xml version="1.0" encoding="utf-8"?><Relationships xmlns="http://schemas.openxmlformats.org/package/2006/relationships"><Relationship Type="http://schemas.openxmlformats.org/officeDocument/2006/relationships/slide" Target="/ppt/slides/slide7.xml" Id="R3c66e112f25441f1" /><Relationship Type="http://schemas.openxmlformats.org/officeDocument/2006/relationships/notesMaster" Target="/ppt/notesMasters/notesMaster1.xml" Id="R6360de444b4b404b" /></Relationships>
</file>

<file path=ppt/notesSlides/_rels/notesSlide8.xml.rels>&#65279;<?xml version="1.0" encoding="utf-8"?><Relationships xmlns="http://schemas.openxmlformats.org/package/2006/relationships"><Relationship Type="http://schemas.openxmlformats.org/officeDocument/2006/relationships/slide" Target="/ppt/slides/slide8.xml" Id="R5420a570487e42a1" /><Relationship Type="http://schemas.openxmlformats.org/officeDocument/2006/relationships/notesMaster" Target="/ppt/notesMasters/notesMaster1.xml" Id="Rf3c945d399e145f0" /></Relationships>
</file>

<file path=ppt/notesSlides/_rels/notesSlide9.xml.rels>&#65279;<?xml version="1.0" encoding="utf-8"?><Relationships xmlns="http://schemas.openxmlformats.org/package/2006/relationships"><Relationship Type="http://schemas.openxmlformats.org/officeDocument/2006/relationships/slide" Target="/ppt/slides/slide9.xml" Id="Rf9934dfcf4884589" /><Relationship Type="http://schemas.openxmlformats.org/officeDocument/2006/relationships/notesMaster" Target="/ppt/notesMasters/notesMaster1.xml" Id="R9f55112f79e54e1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960849f07e7444e" /><Relationship Type="http://schemas.openxmlformats.org/officeDocument/2006/relationships/notesMaster" Target="/ppt/notesMasters/notesMaster1.xml" Id="R5c165543fa4649f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presentation summarizes the repository workflow and current outputs. Sources: reports/pipeline_summary.json; reports/data_quality_report.md; NASA/POWER source files in datasets/.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repository contains 89 measurement-point files across eight cities. Each file contains monthly and annual summaries for 2000–2025. Sources: reports/pipeline_summary.json; reports/city_measurement_point_summary.csv.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Profiling examines source structure, coverage, parameters, missingness and duplicate keys before transformation. The current parameter inventory has 15 names. Sources: reports/raw_file_inventory.csv; reports/source_parameter_summary.csv; reports/city_month_coverage_summary.csv; src/climate_pipeline/profiling.py.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Cleaning normalizes labels, maps -999 to missing, parses month-start dates and removes duplicate city-point-period-parameter keys. There were no duplicates detected and no invalid values removed. No imputation or statistical outlier deletion is performed. Source: reports/cleaning_report.md; reports/pipeline_summary.json.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Pipeline counts: 34,710 source parameter-year records, 416,520 cleaned point-parameter-month rows, 27,768 point-month rows and 2,496 city-month rows. Annual summaries remain a separate interim output. Source: reports/pipeline_summary.json.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Ahmedabad January 2000 T2M values are 21.79 °C and eight values of 21.17 °C. Their arithmetic mean is 21.2389 °C, displayed here rounded to 21.24 °C. Source: data/interim/point_monthly_wide.csv; data/processed/by_city/ahmedabad_monthly.csv.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combined file is data/processed/city_monthly.csv. The same rows are also split into one CSV per city under data/processed/by_city/. Example record is Ahmedabad, January 2000, nine of nine points, average T2M 21.2389 °C. Sources: data/processed/city_monthly.csv; reports/pipeline_summary.json.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Eight checks passed: populated city, populated state, unique location-month, valid latitude, valid longitude, datetime date, no negative precipitation and temperature ordering. Source: reports/validation_checks.csv.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files contain monthly and annual summaries, not daily observations. The daily schema is empty rather than fabricated. District, relative humidity, AQI, PM2.5 and NDVI are unavailable in these files. PRECTOTCORR retains mm/day units as a monthly mean daily precipitation rate. Source: reports/cleaning_report.md; reports/data_dictionary.csv.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Historical disaster records and socioeconomic indicators are proposed future work. Neither source is included in the current dataset. Join only after confirming geographic and temporal compatibility. Source: original checkpoint deck and reports/cleaning_report.md.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ba40d35ea264cc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5efcec6c6bf4de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10990b0889f43d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58589ca946c4c6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32a297679e3442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d7eaa0c571e40b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7577BC6-F92C-46CC-B30A-37A13C0979E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1AC180F-E5C6-437C-BFA4-8D88D737CA0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02E3662-B254-4878-9D58-0592942091F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3C118CD-9715-4DFC-A6BE-4EA142B0C02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9B8328D-ED33-43D5-9FDF-48B409380F5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3A7DD5B-B399-4187-B8A9-B0212FEF571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BB1B6A9-3533-4F48-BD69-AF63B85F452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CCF1935-1D3A-48F8-96AD-6781FE2FA2C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B922FCD-3FF7-4449-9EDF-8135E9EE803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685D1D2-4063-4154-BE7E-B3989DE35A7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18d1f09b0ca4c5f" /><Relationship Type="http://schemas.openxmlformats.org/officeDocument/2006/relationships/slideLayout" Target="/ppt/slideLayouts/slideLayout1.xml" Id="Rf5471d16850e44a8" /><Relationship Type="http://schemas.openxmlformats.org/officeDocument/2006/relationships/slideLayout" Target="/ppt/slideLayouts/slideLayout2.xml" Id="R623b6dffb14b4798" /><Relationship Type="http://schemas.openxmlformats.org/officeDocument/2006/relationships/slideLayout" Target="/ppt/slideLayouts/slideLayout3.xml" Id="R422044279bb546d9" /><Relationship Type="http://schemas.openxmlformats.org/officeDocument/2006/relationships/slideLayout" Target="/ppt/slideLayouts/slideLayout4.xml" Id="R40302c0ab0c54f7a" /><Relationship Type="http://schemas.openxmlformats.org/officeDocument/2006/relationships/slideLayout" Target="/ppt/slideLayouts/slideLayout5.xml" Id="R080e3fa49d264983" /><Relationship Type="http://schemas.openxmlformats.org/officeDocument/2006/relationships/slideLayout" Target="/ppt/slideLayouts/slideLayout6.xml" Id="Rf5ba05fbb41e484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5471d16850e44a8"/>
    <p:sldLayoutId xmlns:r="http://schemas.openxmlformats.org/officeDocument/2006/relationships" id="2147483650" r:id="R623b6dffb14b4798"/>
    <p:sldLayoutId xmlns:r="http://schemas.openxmlformats.org/officeDocument/2006/relationships" id="2147483651" r:id="R422044279bb546d9"/>
    <p:sldLayoutId xmlns:r="http://schemas.openxmlformats.org/officeDocument/2006/relationships" id="2147483652" r:id="R40302c0ab0c54f7a"/>
    <p:sldLayoutId xmlns:r="http://schemas.openxmlformats.org/officeDocument/2006/relationships" id="2147483653" r:id="R080e3fa49d264983"/>
    <p:sldLayoutId xmlns:r="http://schemas.openxmlformats.org/officeDocument/2006/relationships" id="2147483654" r:id="Rf5ba05fbb41e484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d46b1ae47bf497b" /><Relationship Type="http://schemas.openxmlformats.org/officeDocument/2006/relationships/notesSlide" Target="/ppt/notesSlides/notesSlide1.xml" Id="R02b7ee7e49a0422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7bf90aaec8c4923" /><Relationship Type="http://schemas.openxmlformats.org/officeDocument/2006/relationships/notesSlide" Target="/ppt/notesSlides/notesSlide2.xml" Id="Rb61f9316509f412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cdb309d17764ffe" /><Relationship Type="http://schemas.openxmlformats.org/officeDocument/2006/relationships/notesSlide" Target="/ppt/notesSlides/notesSlide3.xml" Id="Ra780f851fa3c4de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2de07205efa409d" /><Relationship Type="http://schemas.openxmlformats.org/officeDocument/2006/relationships/notesSlide" Target="/ppt/notesSlides/notesSlide4.xml" Id="R94fa1f2966ba462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9e5e81f37974f20" /><Relationship Type="http://schemas.openxmlformats.org/officeDocument/2006/relationships/notesSlide" Target="/ppt/notesSlides/notesSlide5.xml" Id="Rea9575815e524f7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76604efb6214b62" /><Relationship Type="http://schemas.openxmlformats.org/officeDocument/2006/relationships/notesSlide" Target="/ppt/notesSlides/notesSlide6.xml" Id="R3bfeac28c814400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9e99798f6564089" /><Relationship Type="http://schemas.openxmlformats.org/officeDocument/2006/relationships/notesSlide" Target="/ppt/notesSlides/notesSlide7.xml" Id="R4e20245781ce405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80f6ac1078d4ea0" /><Relationship Type="http://schemas.openxmlformats.org/officeDocument/2006/relationships/notesSlide" Target="/ppt/notesSlides/notesSlide8.xml" Id="R742a165918f5480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402f13f0f01c4857" /><Relationship Type="http://schemas.openxmlformats.org/officeDocument/2006/relationships/notesSlide" Target="/ppt/notesSlides/notesSlide9.xml" Id="R33fbf55209ea499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fda9b2b5c3a41c4" /><Relationship Type="http://schemas.openxmlformats.org/officeDocument/2006/relationships/notesSlide" Target="/ppt/notesSlides/notesSlide10.xml" Id="Ra4b0b6535b4d458b" /></Relationships>
</file>

<file path=ppt/slides/slide1.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8" name="cover-accent">
            <a:extLst xmlns:a="http://schemas.openxmlformats.org/drawingml/2006/main">
              <a:ext uri="{FF2B5EF4-FFF2-40B4-BE49-F238E27FC236}">
                <a16:creationId xmlns:a16="http://schemas.microsoft.com/office/drawing/2014/main" id="{E5DC4F89-3A01-4715-A7DB-6DF28F1F86FB}"/>
              </a:ext>
            </a:extLst>
          </p:cNvPr>
          <p:cNvSpPr>
            <a:spLocks xmlns:a="http://schemas.openxmlformats.org/drawingml/2006/main" noGrp="1"/>
          </p:cNvSpPr>
          <p:nvPr/>
        </p:nvSpPr>
        <p:spPr>
          <a:xfrm xmlns:a="http://schemas.openxmlformats.org/drawingml/2006/main">
            <a:off x="742950" y="838200"/>
            <a:ext cx="57150" cy="895350"/>
          </a:xfrm>
          <a:prstGeom xmlns:a="http://schemas.openxmlformats.org/drawingml/2006/main" prst="rect">
            <a:avLst/>
          </a:prstGeom>
          <a:solidFill xmlns:a="http://schemas.openxmlformats.org/drawingml/2006/main">
            <a:srgbClr val="45665A"/>
          </a:solidFill>
          <a:ln xmlns:a="http://schemas.openxmlformats.org/drawingml/2006/main" w="0">
            <a:noFill/>
            <a:prstDash val="solid"/>
          </a:ln>
        </p:spPr>
      </p:sp>
      <p:sp>
        <p:nvSpPr>
          <p:cNvPr id="2" name="cover-label">
            <a:extLst xmlns:a="http://schemas.openxmlformats.org/drawingml/2006/main">
              <a:ext uri="{FF2B5EF4-FFF2-40B4-BE49-F238E27FC236}">
                <a16:creationId xmlns:a16="http://schemas.microsoft.com/office/drawing/2014/main" id="{E5941133-D757-4CD9-A3BF-C36BD807B5EA}"/>
              </a:ext>
            </a:extLst>
          </p:cNvPr>
          <p:cNvSpPr>
            <a:spLocks xmlns:a="http://schemas.openxmlformats.org/drawingml/2006/main" noGrp="1"/>
          </p:cNvSpPr>
          <p:nvPr/>
        </p:nvSpPr>
        <p:spPr>
          <a:xfrm xmlns:a="http://schemas.openxmlformats.org/drawingml/2006/main">
            <a:off x="1009650" y="87630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45665A"/>
                </a:solidFill>
                <a:latin typeface="Arial"/>
                <a:ea typeface="Arial"/>
                <a:cs typeface="Arial"/>
              </a:defRPr>
            </a:defPPr>
          </a:lstStyle>
          <a:p xmlns:a="http://schemas.openxmlformats.org/drawingml/2006/main">
            <a:pPr algn="l">
              <a:lnSpc>
                <a:spcPct val="105000"/>
              </a:lnSpc>
              <a:buNone/>
              <a:defRPr sz="1200" b="1">
                <a:solidFill>
                  <a:srgbClr val="45665A"/>
                </a:solidFill>
                <a:latin typeface="Arial"/>
                <a:ea typeface="Arial"/>
                <a:cs typeface="Arial"/>
              </a:defRPr>
            </a:pPr>
            <a:r>
              <a:rPr sz="1200" b="1">
                <a:solidFill>
                  <a:srgbClr val="45665A"/>
                </a:solidFill>
                <a:latin typeface="Arial"/>
                <a:ea typeface="Arial"/>
                <a:cs typeface="Arial"/>
              </a:rPr>
              <a:t>CLIMATE DATASET · INDIA</a:t>
            </a:r>
          </a:p>
        </p:txBody>
      </p:sp>
      <p:sp>
        <p:nvSpPr>
          <p:cNvPr id="3" name="cover-title">
            <a:extLst xmlns:a="http://schemas.openxmlformats.org/drawingml/2006/main">
              <a:ext uri="{FF2B5EF4-FFF2-40B4-BE49-F238E27FC236}">
                <a16:creationId xmlns:a16="http://schemas.microsoft.com/office/drawing/2014/main" id="{DDE17AF1-CA0A-4B00-92C0-9554777198C3}"/>
              </a:ext>
            </a:extLst>
          </p:cNvPr>
          <p:cNvSpPr>
            <a:spLocks xmlns:a="http://schemas.openxmlformats.org/drawingml/2006/main" noGrp="1"/>
          </p:cNvSpPr>
          <p:nvPr/>
        </p:nvSpPr>
        <p:spPr>
          <a:xfrm xmlns:a="http://schemas.openxmlformats.org/drawingml/2006/main">
            <a:off x="990600" y="1847850"/>
            <a:ext cx="8953500" cy="1581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950" b="1">
                <a:solidFill>
                  <a:srgbClr val="23352F"/>
                </a:solidFill>
                <a:latin typeface="Arial"/>
                <a:ea typeface="Arial"/>
                <a:cs typeface="Arial"/>
              </a:defRPr>
            </a:defPPr>
          </a:lstStyle>
          <a:p xmlns:a="http://schemas.openxmlformats.org/drawingml/2006/main">
            <a:pPr algn="l">
              <a:lnSpc>
                <a:spcPct val="96000"/>
              </a:lnSpc>
              <a:buNone/>
              <a:defRPr sz="4950" b="1">
                <a:solidFill>
                  <a:srgbClr val="23352F"/>
                </a:solidFill>
                <a:latin typeface="Arial"/>
                <a:ea typeface="Arial"/>
                <a:cs typeface="Arial"/>
              </a:defRPr>
            </a:pPr>
            <a:r>
              <a:rPr sz="4950" b="1">
                <a:solidFill>
                  <a:srgbClr val="23352F"/>
                </a:solidFill>
                <a:latin typeface="Arial"/>
                <a:ea typeface="Arial"/>
                <a:cs typeface="Arial"/>
              </a:rPr>
              <a:t>From point files</a:t>
            </a:r>
          </a:p>
          <a:p xmlns:a="http://schemas.openxmlformats.org/drawingml/2006/main">
            <a:pPr algn="l">
              <a:lnSpc>
                <a:spcPct val="96000"/>
              </a:lnSpc>
              <a:buNone/>
              <a:defRPr sz="4950" b="1">
                <a:solidFill>
                  <a:srgbClr val="23352F"/>
                </a:solidFill>
                <a:latin typeface="Arial"/>
                <a:ea typeface="Arial"/>
                <a:cs typeface="Arial"/>
              </a:defRPr>
            </a:pPr>
            <a:r>
              <a:rPr sz="4950" b="1">
                <a:solidFill>
                  <a:srgbClr val="23352F"/>
                </a:solidFill>
                <a:latin typeface="Arial"/>
                <a:ea typeface="Arial"/>
                <a:cs typeface="Arial"/>
              </a:rPr>
              <a:t>to city data</a:t>
            </a:r>
          </a:p>
        </p:txBody>
      </p:sp>
      <p:sp>
        <p:nvSpPr>
          <p:cNvPr id="4" name="cover-subtitle">
            <a:extLst xmlns:a="http://schemas.openxmlformats.org/drawingml/2006/main">
              <a:ext uri="{FF2B5EF4-FFF2-40B4-BE49-F238E27FC236}">
                <a16:creationId xmlns:a16="http://schemas.microsoft.com/office/drawing/2014/main" id="{195BBEBC-72D8-4EA0-97A9-D34B94883127}"/>
              </a:ext>
            </a:extLst>
          </p:cNvPr>
          <p:cNvSpPr>
            <a:spLocks xmlns:a="http://schemas.openxmlformats.org/drawingml/2006/main" noGrp="1"/>
          </p:cNvSpPr>
          <p:nvPr/>
        </p:nvSpPr>
        <p:spPr>
          <a:xfrm xmlns:a="http://schemas.openxmlformats.org/drawingml/2006/main">
            <a:off x="1028700" y="3714750"/>
            <a:ext cx="8763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00" b="0">
                <a:solidFill>
                  <a:srgbClr val="65766E"/>
                </a:solidFill>
                <a:latin typeface="Arial"/>
                <a:ea typeface="Arial"/>
                <a:cs typeface="Arial"/>
              </a:defRPr>
            </a:defPPr>
          </a:lstStyle>
          <a:p xmlns:a="http://schemas.openxmlformats.org/drawingml/2006/main">
            <a:pPr algn="l">
              <a:lnSpc>
                <a:spcPct val="105000"/>
              </a:lnSpc>
              <a:buNone/>
              <a:defRPr sz="2100" b="0">
                <a:solidFill>
                  <a:srgbClr val="65766E"/>
                </a:solidFill>
                <a:latin typeface="Arial"/>
                <a:ea typeface="Arial"/>
                <a:cs typeface="Arial"/>
              </a:defRPr>
            </a:pPr>
            <a:r>
              <a:rPr sz="2100" b="0">
                <a:solidFill>
                  <a:srgbClr val="65766E"/>
                </a:solidFill>
                <a:latin typeface="Arial"/>
                <a:ea typeface="Arial"/>
                <a:cs typeface="Arial"/>
              </a:rPr>
              <a:t>A simple view of the monthly climate data workflow</a:t>
            </a:r>
          </a:p>
        </p:txBody>
      </p:sp>
      <p:sp>
        <p:nvSpPr>
          <p:cNvPr id="5" name="cover-rule">
            <a:extLst xmlns:a="http://schemas.openxmlformats.org/drawingml/2006/main">
              <a:ext uri="{FF2B5EF4-FFF2-40B4-BE49-F238E27FC236}">
                <a16:creationId xmlns:a16="http://schemas.microsoft.com/office/drawing/2014/main" id="{31E9427B-F709-4B67-8924-7E18A4905AC1}"/>
              </a:ext>
            </a:extLst>
          </p:cNvPr>
          <p:cNvSpPr>
            <a:spLocks xmlns:a="http://schemas.openxmlformats.org/drawingml/2006/main" noGrp="1"/>
          </p:cNvSpPr>
          <p:nvPr/>
        </p:nvSpPr>
        <p:spPr>
          <a:xfrm xmlns:a="http://schemas.openxmlformats.org/drawingml/2006/main">
            <a:off x="1028700" y="4695825"/>
            <a:ext cx="10134600" cy="0"/>
          </a:xfrm>
          <a:prstGeom xmlns:a="http://schemas.openxmlformats.org/drawingml/2006/main" prst="line">
            <a:avLst/>
          </a:prstGeom>
          <a:noFill xmlns:a="http://schemas.openxmlformats.org/drawingml/2006/main"/>
          <a:ln xmlns:a="http://schemas.openxmlformats.org/drawingml/2006/main" w="13335">
            <a:solidFill>
              <a:srgbClr val="D7E0DA"/>
            </a:solidFill>
            <a:prstDash val="solid"/>
          </a:ln>
        </p:spPr>
      </p:sp>
      <p:sp>
        <p:nvSpPr>
          <p:cNvPr id="6" name="cover-context">
            <a:extLst xmlns:a="http://schemas.openxmlformats.org/drawingml/2006/main">
              <a:ext uri="{FF2B5EF4-FFF2-40B4-BE49-F238E27FC236}">
                <a16:creationId xmlns:a16="http://schemas.microsoft.com/office/drawing/2014/main" id="{6FDDB215-BACF-4321-9099-4441BA6CE046}"/>
              </a:ext>
            </a:extLst>
          </p:cNvPr>
          <p:cNvSpPr>
            <a:spLocks xmlns:a="http://schemas.openxmlformats.org/drawingml/2006/main" noGrp="1"/>
          </p:cNvSpPr>
          <p:nvPr/>
        </p:nvSpPr>
        <p:spPr>
          <a:xfrm xmlns:a="http://schemas.openxmlformats.org/drawingml/2006/main">
            <a:off x="1028700" y="4981575"/>
            <a:ext cx="857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45665A"/>
                </a:solidFill>
                <a:latin typeface="Arial"/>
                <a:ea typeface="Arial"/>
                <a:cs typeface="Arial"/>
              </a:defRPr>
            </a:defPPr>
          </a:lstStyle>
          <a:p xmlns:a="http://schemas.openxmlformats.org/drawingml/2006/main">
            <a:pPr algn="l">
              <a:lnSpc>
                <a:spcPct val="105000"/>
              </a:lnSpc>
              <a:buNone/>
              <a:defRPr sz="1725" b="1">
                <a:solidFill>
                  <a:srgbClr val="45665A"/>
                </a:solidFill>
                <a:latin typeface="Arial"/>
                <a:ea typeface="Arial"/>
                <a:cs typeface="Arial"/>
              </a:defRPr>
            </a:pPr>
            <a:r>
              <a:rPr sz="1725" b="1">
                <a:solidFill>
                  <a:srgbClr val="45665A"/>
                </a:solidFill>
                <a:latin typeface="Arial"/>
                <a:ea typeface="Arial"/>
                <a:cs typeface="Arial"/>
              </a:rPr>
              <a:t>NASA/POWER  •  8 cities  •  2000–2025</a:t>
            </a:r>
          </a:p>
        </p:txBody>
      </p:sp>
      <p:sp>
        <p:nvSpPr>
          <p:cNvPr id="7" name="cover-page">
            <a:extLst xmlns:a="http://schemas.openxmlformats.org/drawingml/2006/main">
              <a:ext uri="{FF2B5EF4-FFF2-40B4-BE49-F238E27FC236}">
                <a16:creationId xmlns:a16="http://schemas.microsoft.com/office/drawing/2014/main" id="{752837FA-8919-4801-8A51-B69F236F36F2}"/>
              </a:ext>
            </a:extLst>
          </p:cNvPr>
          <p:cNvSpPr>
            <a:spLocks xmlns:a="http://schemas.openxmlformats.org/drawingml/2006/main" noGrp="1"/>
          </p:cNvSpPr>
          <p:nvPr/>
        </p:nvSpPr>
        <p:spPr>
          <a:xfrm xmlns:a="http://schemas.openxmlformats.org/drawingml/2006/main">
            <a:off x="11049000" y="640080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9206"/>
          </a:bodyPr>
          <a:lstStyle xmlns:a="http://schemas.openxmlformats.org/drawingml/2006/main">
            <a:defPPr algn="r">
              <a:defRPr sz="1200" b="0">
                <a:solidFill>
                  <a:srgbClr val="65766E"/>
                </a:solidFill>
                <a:latin typeface="Arial"/>
                <a:ea typeface="Arial"/>
                <a:cs typeface="Arial"/>
              </a:defRPr>
            </a:defPPr>
          </a:lstStyle>
          <a:p xmlns:a="http://schemas.openxmlformats.org/drawingml/2006/main">
            <a:pPr algn="r">
              <a:lnSpc>
                <a:spcPct val="105000"/>
              </a:lnSpc>
              <a:buNone/>
              <a:defRPr sz="1200" b="0">
                <a:solidFill>
                  <a:srgbClr val="65766E"/>
                </a:solidFill>
                <a:latin typeface="Arial"/>
                <a:ea typeface="Arial"/>
                <a:cs typeface="Arial"/>
              </a:defRPr>
            </a:pPr>
            <a:r>
              <a:rPr sz="1200" b="0">
                <a:solidFill>
                  <a:srgbClr val="65766E"/>
                </a:solidFill>
                <a:latin typeface="Arial"/>
                <a:ea typeface="Arial"/>
                <a:cs typeface="Arial"/>
              </a:rPr>
              <a:t>01</a:t>
            </a:r>
          </a:p>
        </p:txBody>
      </p:sp>
    </p:spTree>
    <p:extLst>
      <p:ext uri="{BB962C8B-B14F-4D97-AF65-F5344CB8AC3E}">
        <p14:creationId xmlns:p14="http://schemas.microsoft.com/office/powerpoint/2010/main" val="1958858326"/>
      </p:ext>
    </p:extLst>
  </p:cSld>
</p:sld>
</file>

<file path=ppt/slides/slide2.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14" name="slide-title">
            <a:extLst xmlns:a="http://schemas.openxmlformats.org/drawingml/2006/main">
              <a:ext uri="{FF2B5EF4-FFF2-40B4-BE49-F238E27FC236}">
                <a16:creationId xmlns:a16="http://schemas.microsoft.com/office/drawing/2014/main" id="{DFB87874-E973-498E-A680-9B0EA26DDA66}"/>
              </a:ext>
            </a:extLst>
          </p:cNvPr>
          <p:cNvSpPr>
            <a:spLocks xmlns:a="http://schemas.openxmlformats.org/drawingml/2006/main" noGrp="1"/>
          </p:cNvSpPr>
          <p:nvPr/>
        </p:nvSpPr>
        <p:spPr>
          <a:xfrm xmlns:a="http://schemas.openxmlformats.org/drawingml/2006/main">
            <a:off x="723900" y="533400"/>
            <a:ext cx="10744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300" b="1">
                <a:solidFill>
                  <a:srgbClr val="23352F"/>
                </a:solidFill>
                <a:latin typeface="Arial"/>
                <a:ea typeface="Arial"/>
                <a:cs typeface="Arial"/>
              </a:defRPr>
            </a:defPPr>
          </a:lstStyle>
          <a:p xmlns:a="http://schemas.openxmlformats.org/drawingml/2006/main">
            <a:pPr algn="l">
              <a:lnSpc>
                <a:spcPct val="105000"/>
              </a:lnSpc>
              <a:buNone/>
              <a:defRPr sz="3300" b="1">
                <a:solidFill>
                  <a:srgbClr val="23352F"/>
                </a:solidFill>
                <a:latin typeface="Arial"/>
                <a:ea typeface="Arial"/>
                <a:cs typeface="Arial"/>
              </a:defRPr>
            </a:pPr>
            <a:r>
              <a:rPr sz="3300" b="1">
                <a:solidFill>
                  <a:srgbClr val="23352F"/>
                </a:solidFill>
                <a:latin typeface="Arial"/>
                <a:ea typeface="Arial"/>
                <a:cs typeface="Arial"/>
              </a:rPr>
              <a:t>The dataset at a glance</a:t>
            </a:r>
          </a:p>
        </p:txBody>
      </p:sp>
      <p:sp>
        <p:nvSpPr>
          <p:cNvPr id="2" name="slide-subtitle">
            <a:extLst xmlns:a="http://schemas.openxmlformats.org/drawingml/2006/main">
              <a:ext uri="{FF2B5EF4-FFF2-40B4-BE49-F238E27FC236}">
                <a16:creationId xmlns:a16="http://schemas.microsoft.com/office/drawing/2014/main" id="{BCE90D2C-A020-425A-9B7B-F6CAEC79D55B}"/>
              </a:ext>
            </a:extLst>
          </p:cNvPr>
          <p:cNvSpPr>
            <a:spLocks xmlns:a="http://schemas.openxmlformats.org/drawingml/2006/main" noGrp="1"/>
          </p:cNvSpPr>
          <p:nvPr/>
        </p:nvSpPr>
        <p:spPr>
          <a:xfrm xmlns:a="http://schemas.openxmlformats.org/drawingml/2006/main">
            <a:off x="742950" y="1200150"/>
            <a:ext cx="1047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65766E"/>
                </a:solidFill>
                <a:latin typeface="Arial"/>
                <a:ea typeface="Arial"/>
                <a:cs typeface="Arial"/>
              </a:defRPr>
            </a:defPPr>
          </a:lstStyle>
          <a:p xmlns:a="http://schemas.openxmlformats.org/drawingml/2006/main">
            <a:pPr algn="l">
              <a:lnSpc>
                <a:spcPct val="105000"/>
              </a:lnSpc>
              <a:buNone/>
              <a:defRPr sz="1725" b="0">
                <a:solidFill>
                  <a:srgbClr val="65766E"/>
                </a:solidFill>
                <a:latin typeface="Arial"/>
                <a:ea typeface="Arial"/>
                <a:cs typeface="Arial"/>
              </a:defRPr>
            </a:pPr>
            <a:r>
              <a:rPr sz="1725" b="0">
                <a:solidFill>
                  <a:srgbClr val="65766E"/>
                </a:solidFill>
                <a:latin typeface="Arial"/>
                <a:ea typeface="Arial"/>
                <a:cs typeface="Arial"/>
              </a:rPr>
              <a:t>A monthly point dataset for eight cities, covering 2000 to 2025.</a:t>
            </a:r>
          </a:p>
        </p:txBody>
      </p:sp>
      <p:sp>
        <p:nvSpPr>
          <p:cNvPr id="3" name="title-rule">
            <a:extLst xmlns:a="http://schemas.openxmlformats.org/drawingml/2006/main">
              <a:ext uri="{FF2B5EF4-FFF2-40B4-BE49-F238E27FC236}">
                <a16:creationId xmlns:a16="http://schemas.microsoft.com/office/drawing/2014/main" id="{3D7BFBD3-0A76-478A-A766-EF9644DFAF98}"/>
              </a:ext>
            </a:extLst>
          </p:cNvPr>
          <p:cNvSpPr>
            <a:spLocks xmlns:a="http://schemas.openxmlformats.org/drawingml/2006/main" noGrp="1"/>
          </p:cNvSpPr>
          <p:nvPr/>
        </p:nvSpPr>
        <p:spPr>
          <a:xfrm xmlns:a="http://schemas.openxmlformats.org/drawingml/2006/main">
            <a:off x="742950" y="1752600"/>
            <a:ext cx="10706100" cy="0"/>
          </a:xfrm>
          <a:prstGeom xmlns:a="http://schemas.openxmlformats.org/drawingml/2006/main" prst="line">
            <a:avLst/>
          </a:prstGeom>
          <a:noFill xmlns:a="http://schemas.openxmlformats.org/drawingml/2006/main"/>
          <a:ln xmlns:a="http://schemas.openxmlformats.org/drawingml/2006/main" w="12383">
            <a:solidFill>
              <a:srgbClr val="D7E0DA"/>
            </a:solidFill>
            <a:prstDash val="solid"/>
          </a:ln>
        </p:spPr>
      </p:sp>
      <p:sp>
        <p:nvSpPr>
          <p:cNvPr id="4" name="page-number">
            <a:extLst xmlns:a="http://schemas.openxmlformats.org/drawingml/2006/main">
              <a:ext uri="{FF2B5EF4-FFF2-40B4-BE49-F238E27FC236}">
                <a16:creationId xmlns:a16="http://schemas.microsoft.com/office/drawing/2014/main" id="{0EAAC509-5C17-49AB-99F3-65396C25E865}"/>
              </a:ext>
            </a:extLst>
          </p:cNvPr>
          <p:cNvSpPr>
            <a:spLocks xmlns:a="http://schemas.openxmlformats.org/drawingml/2006/main" noGrp="1"/>
          </p:cNvSpPr>
          <p:nvPr/>
        </p:nvSpPr>
        <p:spPr>
          <a:xfrm xmlns:a="http://schemas.openxmlformats.org/drawingml/2006/main">
            <a:off x="11049000" y="640080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9206"/>
          </a:bodyPr>
          <a:lstStyle xmlns:a="http://schemas.openxmlformats.org/drawingml/2006/main">
            <a:defPPr algn="r">
              <a:defRPr sz="1200" b="0">
                <a:solidFill>
                  <a:srgbClr val="65766E"/>
                </a:solidFill>
                <a:latin typeface="Arial"/>
                <a:ea typeface="Arial"/>
                <a:cs typeface="Arial"/>
              </a:defRPr>
            </a:defPPr>
          </a:lstStyle>
          <a:p xmlns:a="http://schemas.openxmlformats.org/drawingml/2006/main">
            <a:pPr algn="r">
              <a:lnSpc>
                <a:spcPct val="105000"/>
              </a:lnSpc>
              <a:buNone/>
              <a:defRPr sz="1200" b="0">
                <a:solidFill>
                  <a:srgbClr val="65766E"/>
                </a:solidFill>
                <a:latin typeface="Arial"/>
                <a:ea typeface="Arial"/>
                <a:cs typeface="Arial"/>
              </a:defRPr>
            </a:pPr>
            <a:r>
              <a:rPr sz="1200" b="0">
                <a:solidFill>
                  <a:srgbClr val="65766E"/>
                </a:solidFill>
                <a:latin typeface="Arial"/>
                <a:ea typeface="Arial"/>
                <a:cs typeface="Arial"/>
              </a:rPr>
              <a:t>02</a:t>
            </a:r>
          </a:p>
        </p:txBody>
      </p:sp>
      <p:sp>
        <p:nvSpPr>
          <p:cNvPr id="5" name="cities-value">
            <a:extLst xmlns:a="http://schemas.openxmlformats.org/drawingml/2006/main">
              <a:ext uri="{FF2B5EF4-FFF2-40B4-BE49-F238E27FC236}">
                <a16:creationId xmlns:a16="http://schemas.microsoft.com/office/drawing/2014/main" id="{15FBD14F-D8C9-43ED-899D-4535018B4959}"/>
              </a:ext>
            </a:extLst>
          </p:cNvPr>
          <p:cNvSpPr>
            <a:spLocks xmlns:a="http://schemas.openxmlformats.org/drawingml/2006/main" noGrp="1"/>
          </p:cNvSpPr>
          <p:nvPr/>
        </p:nvSpPr>
        <p:spPr>
          <a:xfrm xmlns:a="http://schemas.openxmlformats.org/drawingml/2006/main">
            <a:off x="742950" y="2266950"/>
            <a:ext cx="2762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8039"/>
          </a:bodyPr>
          <a:lstStyle xmlns:a="http://schemas.openxmlformats.org/drawingml/2006/main">
            <a:defPPr algn="l">
              <a:defRPr sz="5100" b="1">
                <a:solidFill>
                  <a:srgbClr val="45665A"/>
                </a:solidFill>
                <a:latin typeface="Arial"/>
                <a:ea typeface="Arial"/>
                <a:cs typeface="Arial"/>
              </a:defRPr>
            </a:defPPr>
          </a:lstStyle>
          <a:p xmlns:a="http://schemas.openxmlformats.org/drawingml/2006/main">
            <a:pPr algn="l">
              <a:lnSpc>
                <a:spcPct val="105000"/>
              </a:lnSpc>
              <a:buNone/>
              <a:defRPr sz="5100" b="1">
                <a:solidFill>
                  <a:srgbClr val="45665A"/>
                </a:solidFill>
                <a:latin typeface="Arial"/>
                <a:ea typeface="Arial"/>
                <a:cs typeface="Arial"/>
              </a:defRPr>
            </a:pPr>
            <a:r>
              <a:rPr sz="5100" b="1">
                <a:solidFill>
                  <a:srgbClr val="45665A"/>
                </a:solidFill>
                <a:latin typeface="Arial"/>
                <a:ea typeface="Arial"/>
                <a:cs typeface="Arial"/>
              </a:rPr>
              <a:t>8</a:t>
            </a:r>
          </a:p>
        </p:txBody>
      </p:sp>
      <p:sp>
        <p:nvSpPr>
          <p:cNvPr id="6" name="cities-caption">
            <a:extLst xmlns:a="http://schemas.openxmlformats.org/drawingml/2006/main">
              <a:ext uri="{FF2B5EF4-FFF2-40B4-BE49-F238E27FC236}">
                <a16:creationId xmlns:a16="http://schemas.microsoft.com/office/drawing/2014/main" id="{202C12A8-303D-4D69-ADD3-CA886F890022}"/>
              </a:ext>
            </a:extLst>
          </p:cNvPr>
          <p:cNvSpPr>
            <a:spLocks xmlns:a="http://schemas.openxmlformats.org/drawingml/2006/main" noGrp="1"/>
          </p:cNvSpPr>
          <p:nvPr/>
        </p:nvSpPr>
        <p:spPr>
          <a:xfrm xmlns:a="http://schemas.openxmlformats.org/drawingml/2006/main">
            <a:off x="742950" y="3133725"/>
            <a:ext cx="2762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65766E"/>
                </a:solidFill>
                <a:latin typeface="Arial"/>
                <a:ea typeface="Arial"/>
                <a:cs typeface="Arial"/>
              </a:defRPr>
            </a:defPPr>
          </a:lstStyle>
          <a:p xmlns:a="http://schemas.openxmlformats.org/drawingml/2006/main">
            <a:pPr algn="l">
              <a:lnSpc>
                <a:spcPct val="105000"/>
              </a:lnSpc>
              <a:buNone/>
              <a:defRPr sz="1800" b="0">
                <a:solidFill>
                  <a:srgbClr val="65766E"/>
                </a:solidFill>
                <a:latin typeface="Arial"/>
                <a:ea typeface="Arial"/>
                <a:cs typeface="Arial"/>
              </a:defRPr>
            </a:pPr>
            <a:r>
              <a:rPr sz="1800" b="0">
                <a:solidFill>
                  <a:srgbClr val="65766E"/>
                </a:solidFill>
                <a:latin typeface="Arial"/>
                <a:ea typeface="Arial"/>
                <a:cs typeface="Arial"/>
              </a:rPr>
              <a:t>cities in the current dataset</a:t>
            </a:r>
          </a:p>
        </p:txBody>
      </p:sp>
      <p:sp>
        <p:nvSpPr>
          <p:cNvPr id="7" name="metric-divider-1">
            <a:extLst xmlns:a="http://schemas.openxmlformats.org/drawingml/2006/main">
              <a:ext uri="{FF2B5EF4-FFF2-40B4-BE49-F238E27FC236}">
                <a16:creationId xmlns:a16="http://schemas.microsoft.com/office/drawing/2014/main" id="{E9E991E1-FABB-4E8F-A27D-B49E18E44634}"/>
              </a:ext>
            </a:extLst>
          </p:cNvPr>
          <p:cNvSpPr>
            <a:spLocks xmlns:a="http://schemas.openxmlformats.org/drawingml/2006/main" noGrp="1"/>
          </p:cNvSpPr>
          <p:nvPr/>
        </p:nvSpPr>
        <p:spPr>
          <a:xfrm xmlns:a="http://schemas.openxmlformats.org/drawingml/2006/main">
            <a:off x="3790950" y="2324100"/>
            <a:ext cx="0" cy="1609725"/>
          </a:xfrm>
          <a:prstGeom xmlns:a="http://schemas.openxmlformats.org/drawingml/2006/main" prst="line">
            <a:avLst/>
          </a:prstGeom>
          <a:noFill xmlns:a="http://schemas.openxmlformats.org/drawingml/2006/main"/>
          <a:ln xmlns:a="http://schemas.openxmlformats.org/drawingml/2006/main" w="13335">
            <a:solidFill>
              <a:srgbClr val="D7E0DA"/>
            </a:solidFill>
            <a:prstDash val="solid"/>
          </a:ln>
        </p:spPr>
      </p:sp>
      <p:sp>
        <p:nvSpPr>
          <p:cNvPr id="8" name="points-value">
            <a:extLst xmlns:a="http://schemas.openxmlformats.org/drawingml/2006/main">
              <a:ext uri="{FF2B5EF4-FFF2-40B4-BE49-F238E27FC236}">
                <a16:creationId xmlns:a16="http://schemas.microsoft.com/office/drawing/2014/main" id="{06C312D0-922C-44CC-8811-D33B12C7DA5C}"/>
              </a:ext>
            </a:extLst>
          </p:cNvPr>
          <p:cNvSpPr>
            <a:spLocks xmlns:a="http://schemas.openxmlformats.org/drawingml/2006/main" noGrp="1"/>
          </p:cNvSpPr>
          <p:nvPr/>
        </p:nvSpPr>
        <p:spPr>
          <a:xfrm xmlns:a="http://schemas.openxmlformats.org/drawingml/2006/main">
            <a:off x="4476750" y="2266950"/>
            <a:ext cx="2857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8039"/>
          </a:bodyPr>
          <a:lstStyle xmlns:a="http://schemas.openxmlformats.org/drawingml/2006/main">
            <a:defPPr algn="l">
              <a:defRPr sz="5100" b="1">
                <a:solidFill>
                  <a:srgbClr val="45665A"/>
                </a:solidFill>
                <a:latin typeface="Arial"/>
                <a:ea typeface="Arial"/>
                <a:cs typeface="Arial"/>
              </a:defRPr>
            </a:defPPr>
          </a:lstStyle>
          <a:p xmlns:a="http://schemas.openxmlformats.org/drawingml/2006/main">
            <a:pPr algn="l">
              <a:lnSpc>
                <a:spcPct val="105000"/>
              </a:lnSpc>
              <a:buNone/>
              <a:defRPr sz="5100" b="1">
                <a:solidFill>
                  <a:srgbClr val="45665A"/>
                </a:solidFill>
                <a:latin typeface="Arial"/>
                <a:ea typeface="Arial"/>
                <a:cs typeface="Arial"/>
              </a:defRPr>
            </a:pPr>
            <a:r>
              <a:rPr sz="5100" b="1">
                <a:solidFill>
                  <a:srgbClr val="45665A"/>
                </a:solidFill>
                <a:latin typeface="Arial"/>
                <a:ea typeface="Arial"/>
                <a:cs typeface="Arial"/>
              </a:rPr>
              <a:t>89</a:t>
            </a:r>
          </a:p>
        </p:txBody>
      </p:sp>
      <p:sp>
        <p:nvSpPr>
          <p:cNvPr id="9" name="points-caption">
            <a:extLst xmlns:a="http://schemas.openxmlformats.org/drawingml/2006/main">
              <a:ext uri="{FF2B5EF4-FFF2-40B4-BE49-F238E27FC236}">
                <a16:creationId xmlns:a16="http://schemas.microsoft.com/office/drawing/2014/main" id="{0E33438A-E282-42E8-9EE0-DA11BA53DF80}"/>
              </a:ext>
            </a:extLst>
          </p:cNvPr>
          <p:cNvSpPr>
            <a:spLocks xmlns:a="http://schemas.openxmlformats.org/drawingml/2006/main" noGrp="1"/>
          </p:cNvSpPr>
          <p:nvPr/>
        </p:nvSpPr>
        <p:spPr>
          <a:xfrm xmlns:a="http://schemas.openxmlformats.org/drawingml/2006/main">
            <a:off x="4476750" y="3133725"/>
            <a:ext cx="2857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65766E"/>
                </a:solidFill>
                <a:latin typeface="Arial"/>
                <a:ea typeface="Arial"/>
                <a:cs typeface="Arial"/>
              </a:defRPr>
            </a:defPPr>
          </a:lstStyle>
          <a:p xmlns:a="http://schemas.openxmlformats.org/drawingml/2006/main">
            <a:pPr algn="l">
              <a:lnSpc>
                <a:spcPct val="105000"/>
              </a:lnSpc>
              <a:buNone/>
              <a:defRPr sz="1800" b="0">
                <a:solidFill>
                  <a:srgbClr val="65766E"/>
                </a:solidFill>
                <a:latin typeface="Arial"/>
                <a:ea typeface="Arial"/>
                <a:cs typeface="Arial"/>
              </a:defRPr>
            </a:pPr>
            <a:r>
              <a:rPr sz="1800" b="0">
                <a:solidFill>
                  <a:srgbClr val="65766E"/>
                </a:solidFill>
                <a:latin typeface="Arial"/>
                <a:ea typeface="Arial"/>
                <a:cs typeface="Arial"/>
              </a:rPr>
              <a:t>measurement-point files</a:t>
            </a:r>
          </a:p>
        </p:txBody>
      </p:sp>
      <p:sp>
        <p:nvSpPr>
          <p:cNvPr id="10" name="metric-divider-2">
            <a:extLst xmlns:a="http://schemas.openxmlformats.org/drawingml/2006/main">
              <a:ext uri="{FF2B5EF4-FFF2-40B4-BE49-F238E27FC236}">
                <a16:creationId xmlns:a16="http://schemas.microsoft.com/office/drawing/2014/main" id="{E0C9A213-ACC7-401A-BE74-ABEEF0A7E2AA}"/>
              </a:ext>
            </a:extLst>
          </p:cNvPr>
          <p:cNvSpPr>
            <a:spLocks xmlns:a="http://schemas.openxmlformats.org/drawingml/2006/main" noGrp="1"/>
          </p:cNvSpPr>
          <p:nvPr/>
        </p:nvSpPr>
        <p:spPr>
          <a:xfrm xmlns:a="http://schemas.openxmlformats.org/drawingml/2006/main">
            <a:off x="7581900" y="2324100"/>
            <a:ext cx="0" cy="1609725"/>
          </a:xfrm>
          <a:prstGeom xmlns:a="http://schemas.openxmlformats.org/drawingml/2006/main" prst="line">
            <a:avLst/>
          </a:prstGeom>
          <a:noFill xmlns:a="http://schemas.openxmlformats.org/drawingml/2006/main"/>
          <a:ln xmlns:a="http://schemas.openxmlformats.org/drawingml/2006/main" w="13335">
            <a:solidFill>
              <a:srgbClr val="D7E0DA"/>
            </a:solidFill>
            <a:prstDash val="solid"/>
          </a:ln>
        </p:spPr>
      </p:sp>
      <p:sp>
        <p:nvSpPr>
          <p:cNvPr id="11" name="period-value">
            <a:extLst xmlns:a="http://schemas.openxmlformats.org/drawingml/2006/main">
              <a:ext uri="{FF2B5EF4-FFF2-40B4-BE49-F238E27FC236}">
                <a16:creationId xmlns:a16="http://schemas.microsoft.com/office/drawing/2014/main" id="{E1F2EE58-0EAA-4A9C-B317-D46B56518327}"/>
              </a:ext>
            </a:extLst>
          </p:cNvPr>
          <p:cNvSpPr>
            <a:spLocks xmlns:a="http://schemas.openxmlformats.org/drawingml/2006/main" noGrp="1"/>
          </p:cNvSpPr>
          <p:nvPr/>
        </p:nvSpPr>
        <p:spPr>
          <a:xfrm xmlns:a="http://schemas.openxmlformats.org/drawingml/2006/main">
            <a:off x="8267700" y="2266950"/>
            <a:ext cx="3143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8039"/>
          </a:bodyPr>
          <a:lstStyle xmlns:a="http://schemas.openxmlformats.org/drawingml/2006/main">
            <a:defPPr algn="l">
              <a:defRPr sz="5100" b="1">
                <a:solidFill>
                  <a:srgbClr val="45665A"/>
                </a:solidFill>
                <a:latin typeface="Arial"/>
                <a:ea typeface="Arial"/>
                <a:cs typeface="Arial"/>
              </a:defRPr>
            </a:defPPr>
          </a:lstStyle>
          <a:p xmlns:a="http://schemas.openxmlformats.org/drawingml/2006/main">
            <a:pPr algn="l">
              <a:lnSpc>
                <a:spcPct val="105000"/>
              </a:lnSpc>
              <a:buNone/>
              <a:defRPr sz="5100" b="1">
                <a:solidFill>
                  <a:srgbClr val="45665A"/>
                </a:solidFill>
                <a:latin typeface="Arial"/>
                <a:ea typeface="Arial"/>
                <a:cs typeface="Arial"/>
              </a:defRPr>
            </a:pPr>
            <a:r>
              <a:rPr sz="5100" b="1">
                <a:solidFill>
                  <a:srgbClr val="45665A"/>
                </a:solidFill>
                <a:latin typeface="Arial"/>
                <a:ea typeface="Arial"/>
                <a:cs typeface="Arial"/>
              </a:rPr>
              <a:t>26 years</a:t>
            </a:r>
          </a:p>
        </p:txBody>
      </p:sp>
      <p:sp>
        <p:nvSpPr>
          <p:cNvPr id="12" name="period-caption">
            <a:extLst xmlns:a="http://schemas.openxmlformats.org/drawingml/2006/main">
              <a:ext uri="{FF2B5EF4-FFF2-40B4-BE49-F238E27FC236}">
                <a16:creationId xmlns:a16="http://schemas.microsoft.com/office/drawing/2014/main" id="{E45F2724-3327-4AD8-891A-908C4DCA3F3B}"/>
              </a:ext>
            </a:extLst>
          </p:cNvPr>
          <p:cNvSpPr>
            <a:spLocks xmlns:a="http://schemas.openxmlformats.org/drawingml/2006/main" noGrp="1"/>
          </p:cNvSpPr>
          <p:nvPr/>
        </p:nvSpPr>
        <p:spPr>
          <a:xfrm xmlns:a="http://schemas.openxmlformats.org/drawingml/2006/main">
            <a:off x="8267700" y="3133725"/>
            <a:ext cx="3143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65766E"/>
                </a:solidFill>
                <a:latin typeface="Arial"/>
                <a:ea typeface="Arial"/>
                <a:cs typeface="Arial"/>
              </a:defRPr>
            </a:defPPr>
          </a:lstStyle>
          <a:p xmlns:a="http://schemas.openxmlformats.org/drawingml/2006/main">
            <a:pPr algn="l">
              <a:lnSpc>
                <a:spcPct val="105000"/>
              </a:lnSpc>
              <a:buNone/>
              <a:defRPr sz="1800" b="0">
                <a:solidFill>
                  <a:srgbClr val="65766E"/>
                </a:solidFill>
                <a:latin typeface="Arial"/>
                <a:ea typeface="Arial"/>
                <a:cs typeface="Arial"/>
              </a:defRPr>
            </a:pPr>
            <a:r>
              <a:rPr sz="1800" b="0">
                <a:solidFill>
                  <a:srgbClr val="65766E"/>
                </a:solidFill>
                <a:latin typeface="Arial"/>
                <a:ea typeface="Arial"/>
                <a:cs typeface="Arial"/>
              </a:rPr>
              <a:t>monthly coverage</a:t>
            </a:r>
          </a:p>
        </p:txBody>
      </p:sp>
      <p:sp>
        <p:nvSpPr>
          <p:cNvPr id="13" name="scope-note">
            <a:extLst xmlns:a="http://schemas.openxmlformats.org/drawingml/2006/main">
              <a:ext uri="{FF2B5EF4-FFF2-40B4-BE49-F238E27FC236}">
                <a16:creationId xmlns:a16="http://schemas.microsoft.com/office/drawing/2014/main" id="{245FC889-9348-4D1D-AFDB-44995891BF63}"/>
              </a:ext>
            </a:extLst>
          </p:cNvPr>
          <p:cNvSpPr>
            <a:spLocks xmlns:a="http://schemas.openxmlformats.org/drawingml/2006/main" noGrp="1"/>
          </p:cNvSpPr>
          <p:nvPr/>
        </p:nvSpPr>
        <p:spPr>
          <a:xfrm xmlns:a="http://schemas.openxmlformats.org/drawingml/2006/main">
            <a:off x="762000" y="4629150"/>
            <a:ext cx="10191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0">
                <a:solidFill>
                  <a:srgbClr val="23352F"/>
                </a:solidFill>
                <a:latin typeface="Arial"/>
                <a:ea typeface="Arial"/>
                <a:cs typeface="Arial"/>
              </a:defRPr>
            </a:defPPr>
          </a:lstStyle>
          <a:p xmlns:a="http://schemas.openxmlformats.org/drawingml/2006/main">
            <a:pPr algn="l">
              <a:lnSpc>
                <a:spcPct val="105000"/>
              </a:lnSpc>
              <a:buNone/>
              <a:defRPr sz="2025" b="0">
                <a:solidFill>
                  <a:srgbClr val="23352F"/>
                </a:solidFill>
                <a:latin typeface="Arial"/>
                <a:ea typeface="Arial"/>
                <a:cs typeface="Arial"/>
              </a:defRPr>
            </a:pPr>
            <a:r>
              <a:rPr sz="2025" b="0">
                <a:solidFill>
                  <a:srgbClr val="23352F"/>
                </a:solidFill>
                <a:latin typeface="Arial"/>
                <a:ea typeface="Arial"/>
                <a:cs typeface="Arial"/>
              </a:rPr>
              <a:t>Each city has multiple measurement points. The pipeline combines their monthly values into a city-level record.</a:t>
            </a:r>
          </a:p>
        </p:txBody>
      </p:sp>
    </p:spTree>
    <p:extLst>
      <p:ext uri="{BB962C8B-B14F-4D97-AF65-F5344CB8AC3E}">
        <p14:creationId xmlns:p14="http://schemas.microsoft.com/office/powerpoint/2010/main" val="1327881436"/>
      </p:ext>
    </p:extLst>
  </p:cSld>
</p:sld>
</file>

<file path=ppt/slides/slide3.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16" name="slide-title">
            <a:extLst xmlns:a="http://schemas.openxmlformats.org/drawingml/2006/main">
              <a:ext uri="{FF2B5EF4-FFF2-40B4-BE49-F238E27FC236}">
                <a16:creationId xmlns:a16="http://schemas.microsoft.com/office/drawing/2014/main" id="{F57E4F66-8206-47A1-9FAA-53A7FEBA103F}"/>
              </a:ext>
            </a:extLst>
          </p:cNvPr>
          <p:cNvSpPr>
            <a:spLocks xmlns:a="http://schemas.openxmlformats.org/drawingml/2006/main" noGrp="1"/>
          </p:cNvSpPr>
          <p:nvPr/>
        </p:nvSpPr>
        <p:spPr>
          <a:xfrm xmlns:a="http://schemas.openxmlformats.org/drawingml/2006/main">
            <a:off x="723900" y="533400"/>
            <a:ext cx="10744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300" b="1">
                <a:solidFill>
                  <a:srgbClr val="23352F"/>
                </a:solidFill>
                <a:latin typeface="Arial"/>
                <a:ea typeface="Arial"/>
                <a:cs typeface="Arial"/>
              </a:defRPr>
            </a:defPPr>
          </a:lstStyle>
          <a:p xmlns:a="http://schemas.openxmlformats.org/drawingml/2006/main">
            <a:pPr algn="l">
              <a:lnSpc>
                <a:spcPct val="105000"/>
              </a:lnSpc>
              <a:buNone/>
              <a:defRPr sz="3300" b="1">
                <a:solidFill>
                  <a:srgbClr val="23352F"/>
                </a:solidFill>
                <a:latin typeface="Arial"/>
                <a:ea typeface="Arial"/>
                <a:cs typeface="Arial"/>
              </a:defRPr>
            </a:pPr>
            <a:r>
              <a:rPr sz="3300" b="1">
                <a:solidFill>
                  <a:srgbClr val="23352F"/>
                </a:solidFill>
                <a:latin typeface="Arial"/>
                <a:ea typeface="Arial"/>
                <a:cs typeface="Arial"/>
              </a:rPr>
              <a:t>Profile before cleaning</a:t>
            </a:r>
          </a:p>
        </p:txBody>
      </p:sp>
      <p:sp>
        <p:nvSpPr>
          <p:cNvPr id="2" name="slide-subtitle">
            <a:extLst xmlns:a="http://schemas.openxmlformats.org/drawingml/2006/main">
              <a:ext uri="{FF2B5EF4-FFF2-40B4-BE49-F238E27FC236}">
                <a16:creationId xmlns:a16="http://schemas.microsoft.com/office/drawing/2014/main" id="{39637F3D-7E69-43AB-B8DB-409A87EA23F3}"/>
              </a:ext>
            </a:extLst>
          </p:cNvPr>
          <p:cNvSpPr>
            <a:spLocks xmlns:a="http://schemas.openxmlformats.org/drawingml/2006/main" noGrp="1"/>
          </p:cNvSpPr>
          <p:nvPr/>
        </p:nvSpPr>
        <p:spPr>
          <a:xfrm xmlns:a="http://schemas.openxmlformats.org/drawingml/2006/main">
            <a:off x="742950" y="1200150"/>
            <a:ext cx="1047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65766E"/>
                </a:solidFill>
                <a:latin typeface="Arial"/>
                <a:ea typeface="Arial"/>
                <a:cs typeface="Arial"/>
              </a:defRPr>
            </a:defPPr>
          </a:lstStyle>
          <a:p xmlns:a="http://schemas.openxmlformats.org/drawingml/2006/main">
            <a:pPr algn="l">
              <a:lnSpc>
                <a:spcPct val="105000"/>
              </a:lnSpc>
              <a:buNone/>
              <a:defRPr sz="1725" b="0">
                <a:solidFill>
                  <a:srgbClr val="65766E"/>
                </a:solidFill>
                <a:latin typeface="Arial"/>
                <a:ea typeface="Arial"/>
                <a:cs typeface="Arial"/>
              </a:defRPr>
            </a:pPr>
            <a:r>
              <a:rPr sz="1725" b="0">
                <a:solidFill>
                  <a:srgbClr val="65766E"/>
                </a:solidFill>
                <a:latin typeface="Arial"/>
                <a:ea typeface="Arial"/>
                <a:cs typeface="Arial"/>
              </a:rPr>
              <a:t>First, record what the source files contain.</a:t>
            </a:r>
          </a:p>
        </p:txBody>
      </p:sp>
      <p:sp>
        <p:nvSpPr>
          <p:cNvPr id="3" name="title-rule">
            <a:extLst xmlns:a="http://schemas.openxmlformats.org/drawingml/2006/main">
              <a:ext uri="{FF2B5EF4-FFF2-40B4-BE49-F238E27FC236}">
                <a16:creationId xmlns:a16="http://schemas.microsoft.com/office/drawing/2014/main" id="{5D5FD58A-F966-43F2-B945-7F20ED4FC1A8}"/>
              </a:ext>
            </a:extLst>
          </p:cNvPr>
          <p:cNvSpPr>
            <a:spLocks xmlns:a="http://schemas.openxmlformats.org/drawingml/2006/main" noGrp="1"/>
          </p:cNvSpPr>
          <p:nvPr/>
        </p:nvSpPr>
        <p:spPr>
          <a:xfrm xmlns:a="http://schemas.openxmlformats.org/drawingml/2006/main">
            <a:off x="742950" y="1752600"/>
            <a:ext cx="10706100" cy="0"/>
          </a:xfrm>
          <a:prstGeom xmlns:a="http://schemas.openxmlformats.org/drawingml/2006/main" prst="line">
            <a:avLst/>
          </a:prstGeom>
          <a:noFill xmlns:a="http://schemas.openxmlformats.org/drawingml/2006/main"/>
          <a:ln xmlns:a="http://schemas.openxmlformats.org/drawingml/2006/main" w="12383">
            <a:solidFill>
              <a:srgbClr val="D7E0DA"/>
            </a:solidFill>
            <a:prstDash val="solid"/>
          </a:ln>
        </p:spPr>
      </p:sp>
      <p:sp>
        <p:nvSpPr>
          <p:cNvPr id="4" name="page-number">
            <a:extLst xmlns:a="http://schemas.openxmlformats.org/drawingml/2006/main">
              <a:ext uri="{FF2B5EF4-FFF2-40B4-BE49-F238E27FC236}">
                <a16:creationId xmlns:a16="http://schemas.microsoft.com/office/drawing/2014/main" id="{16594DEA-6F5B-45E3-BEAE-03A8531A3E3B}"/>
              </a:ext>
            </a:extLst>
          </p:cNvPr>
          <p:cNvSpPr>
            <a:spLocks xmlns:a="http://schemas.openxmlformats.org/drawingml/2006/main" noGrp="1"/>
          </p:cNvSpPr>
          <p:nvPr/>
        </p:nvSpPr>
        <p:spPr>
          <a:xfrm xmlns:a="http://schemas.openxmlformats.org/drawingml/2006/main">
            <a:off x="11049000" y="640080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9206"/>
          </a:bodyPr>
          <a:lstStyle xmlns:a="http://schemas.openxmlformats.org/drawingml/2006/main">
            <a:defPPr algn="r">
              <a:defRPr sz="1200" b="0">
                <a:solidFill>
                  <a:srgbClr val="65766E"/>
                </a:solidFill>
                <a:latin typeface="Arial"/>
                <a:ea typeface="Arial"/>
                <a:cs typeface="Arial"/>
              </a:defRPr>
            </a:defPPr>
          </a:lstStyle>
          <a:p xmlns:a="http://schemas.openxmlformats.org/drawingml/2006/main">
            <a:pPr algn="r">
              <a:lnSpc>
                <a:spcPct val="105000"/>
              </a:lnSpc>
              <a:buNone/>
              <a:defRPr sz="1200" b="0">
                <a:solidFill>
                  <a:srgbClr val="65766E"/>
                </a:solidFill>
                <a:latin typeface="Arial"/>
                <a:ea typeface="Arial"/>
                <a:cs typeface="Arial"/>
              </a:defRPr>
            </a:pPr>
            <a:r>
              <a:rPr sz="1200" b="0">
                <a:solidFill>
                  <a:srgbClr val="65766E"/>
                </a:solidFill>
                <a:latin typeface="Arial"/>
                <a:ea typeface="Arial"/>
                <a:cs typeface="Arial"/>
              </a:rPr>
              <a:t>03</a:t>
            </a:r>
          </a:p>
        </p:txBody>
      </p:sp>
      <p:sp>
        <p:nvSpPr>
          <p:cNvPr id="5" name="profile-0-label">
            <a:extLst xmlns:a="http://schemas.openxmlformats.org/drawingml/2006/main">
              <a:ext uri="{FF2B5EF4-FFF2-40B4-BE49-F238E27FC236}">
                <a16:creationId xmlns:a16="http://schemas.microsoft.com/office/drawing/2014/main" id="{081ACCF7-5290-452F-B300-53C942999997}"/>
              </a:ext>
            </a:extLst>
          </p:cNvPr>
          <p:cNvSpPr>
            <a:spLocks xmlns:a="http://schemas.openxmlformats.org/drawingml/2006/main" noGrp="1"/>
          </p:cNvSpPr>
          <p:nvPr/>
        </p:nvSpPr>
        <p:spPr>
          <a:xfrm xmlns:a="http://schemas.openxmlformats.org/drawingml/2006/main">
            <a:off x="781050" y="21526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1">
                <a:solidFill>
                  <a:srgbClr val="45665A"/>
                </a:solidFill>
                <a:latin typeface="Arial"/>
                <a:ea typeface="Arial"/>
                <a:cs typeface="Arial"/>
              </a:defRPr>
            </a:defPPr>
          </a:lstStyle>
          <a:p xmlns:a="http://schemas.openxmlformats.org/drawingml/2006/main">
            <a:pPr algn="l">
              <a:lnSpc>
                <a:spcPct val="105000"/>
              </a:lnSpc>
              <a:buNone/>
              <a:defRPr sz="1800" b="1">
                <a:solidFill>
                  <a:srgbClr val="45665A"/>
                </a:solidFill>
                <a:latin typeface="Arial"/>
                <a:ea typeface="Arial"/>
                <a:cs typeface="Arial"/>
              </a:defRPr>
            </a:pPr>
            <a:r>
              <a:rPr sz="1800" b="1">
                <a:solidFill>
                  <a:srgbClr val="45665A"/>
                </a:solidFill>
                <a:latin typeface="Arial"/>
                <a:ea typeface="Arial"/>
                <a:cs typeface="Arial"/>
              </a:rPr>
              <a:t>Structure</a:t>
            </a:r>
          </a:p>
        </p:txBody>
      </p:sp>
      <p:sp>
        <p:nvSpPr>
          <p:cNvPr id="6" name="profile-0-text">
            <a:extLst xmlns:a="http://schemas.openxmlformats.org/drawingml/2006/main">
              <a:ext uri="{FF2B5EF4-FFF2-40B4-BE49-F238E27FC236}">
                <a16:creationId xmlns:a16="http://schemas.microsoft.com/office/drawing/2014/main" id="{ECC49C27-D6D0-481C-B630-978389DA7A34}"/>
              </a:ext>
            </a:extLst>
          </p:cNvPr>
          <p:cNvSpPr>
            <a:spLocks xmlns:a="http://schemas.openxmlformats.org/drawingml/2006/main" noGrp="1"/>
          </p:cNvSpPr>
          <p:nvPr/>
        </p:nvSpPr>
        <p:spPr>
          <a:xfrm xmlns:a="http://schemas.openxmlformats.org/drawingml/2006/main">
            <a:off x="3257550" y="2152650"/>
            <a:ext cx="7810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0">
                <a:solidFill>
                  <a:srgbClr val="23352F"/>
                </a:solidFill>
                <a:latin typeface="Arial"/>
                <a:ea typeface="Arial"/>
                <a:cs typeface="Arial"/>
              </a:defRPr>
            </a:defPPr>
          </a:lstStyle>
          <a:p xmlns:a="http://schemas.openxmlformats.org/drawingml/2006/main">
            <a:pPr algn="l">
              <a:lnSpc>
                <a:spcPct val="105000"/>
              </a:lnSpc>
              <a:buNone/>
              <a:defRPr sz="1800" b="0">
                <a:solidFill>
                  <a:srgbClr val="23352F"/>
                </a:solidFill>
                <a:latin typeface="Arial"/>
                <a:ea typeface="Arial"/>
                <a:cs typeface="Arial"/>
              </a:defRPr>
            </a:pPr>
            <a:r>
              <a:rPr sz="1800" b="0">
                <a:solidFill>
                  <a:srgbClr val="23352F"/>
                </a:solidFill>
                <a:latin typeface="Arial"/>
                <a:ea typeface="Arial"/>
                <a:cs typeface="Arial"/>
              </a:rPr>
              <a:t>Parameter, year, month columns, and a separate annual summary</a:t>
            </a:r>
          </a:p>
        </p:txBody>
      </p:sp>
      <p:sp>
        <p:nvSpPr>
          <p:cNvPr id="7" name="profile-rule-0">
            <a:extLst xmlns:a="http://schemas.openxmlformats.org/drawingml/2006/main">
              <a:ext uri="{FF2B5EF4-FFF2-40B4-BE49-F238E27FC236}">
                <a16:creationId xmlns:a16="http://schemas.microsoft.com/office/drawing/2014/main" id="{FCE177DE-0344-4D92-9D6A-3D672010A744}"/>
              </a:ext>
            </a:extLst>
          </p:cNvPr>
          <p:cNvSpPr>
            <a:spLocks xmlns:a="http://schemas.openxmlformats.org/drawingml/2006/main" noGrp="1"/>
          </p:cNvSpPr>
          <p:nvPr/>
        </p:nvSpPr>
        <p:spPr>
          <a:xfrm xmlns:a="http://schemas.openxmlformats.org/drawingml/2006/main">
            <a:off x="781050" y="2743200"/>
            <a:ext cx="10610850" cy="0"/>
          </a:xfrm>
          <a:prstGeom xmlns:a="http://schemas.openxmlformats.org/drawingml/2006/main" prst="line">
            <a:avLst/>
          </a:prstGeom>
          <a:noFill xmlns:a="http://schemas.openxmlformats.org/drawingml/2006/main"/>
          <a:ln xmlns:a="http://schemas.openxmlformats.org/drawingml/2006/main" w="9525">
            <a:solidFill>
              <a:srgbClr val="D7E0DA"/>
            </a:solidFill>
            <a:prstDash val="solid"/>
          </a:ln>
        </p:spPr>
      </p:sp>
      <p:sp>
        <p:nvSpPr>
          <p:cNvPr id="8" name="profile-1-label">
            <a:extLst xmlns:a="http://schemas.openxmlformats.org/drawingml/2006/main">
              <a:ext uri="{FF2B5EF4-FFF2-40B4-BE49-F238E27FC236}">
                <a16:creationId xmlns:a16="http://schemas.microsoft.com/office/drawing/2014/main" id="{16088332-2F35-44B2-9A10-4D253FFE65B6}"/>
              </a:ext>
            </a:extLst>
          </p:cNvPr>
          <p:cNvSpPr>
            <a:spLocks xmlns:a="http://schemas.openxmlformats.org/drawingml/2006/main" noGrp="1"/>
          </p:cNvSpPr>
          <p:nvPr/>
        </p:nvSpPr>
        <p:spPr>
          <a:xfrm xmlns:a="http://schemas.openxmlformats.org/drawingml/2006/main">
            <a:off x="781050" y="3019425"/>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1">
                <a:solidFill>
                  <a:srgbClr val="45665A"/>
                </a:solidFill>
                <a:latin typeface="Arial"/>
                <a:ea typeface="Arial"/>
                <a:cs typeface="Arial"/>
              </a:defRPr>
            </a:defPPr>
          </a:lstStyle>
          <a:p xmlns:a="http://schemas.openxmlformats.org/drawingml/2006/main">
            <a:pPr algn="l">
              <a:lnSpc>
                <a:spcPct val="105000"/>
              </a:lnSpc>
              <a:buNone/>
              <a:defRPr sz="1800" b="1">
                <a:solidFill>
                  <a:srgbClr val="45665A"/>
                </a:solidFill>
                <a:latin typeface="Arial"/>
                <a:ea typeface="Arial"/>
                <a:cs typeface="Arial"/>
              </a:defRPr>
            </a:pPr>
            <a:r>
              <a:rPr sz="1800" b="1">
                <a:solidFill>
                  <a:srgbClr val="45665A"/>
                </a:solidFill>
                <a:latin typeface="Arial"/>
                <a:ea typeface="Arial"/>
                <a:cs typeface="Arial"/>
              </a:rPr>
              <a:t>Coverage</a:t>
            </a:r>
          </a:p>
        </p:txBody>
      </p:sp>
      <p:sp>
        <p:nvSpPr>
          <p:cNvPr id="9" name="profile-1-text">
            <a:extLst xmlns:a="http://schemas.openxmlformats.org/drawingml/2006/main">
              <a:ext uri="{FF2B5EF4-FFF2-40B4-BE49-F238E27FC236}">
                <a16:creationId xmlns:a16="http://schemas.microsoft.com/office/drawing/2014/main" id="{0AAF2400-FBFA-4EFD-ACA6-1D2DC987A36C}"/>
              </a:ext>
            </a:extLst>
          </p:cNvPr>
          <p:cNvSpPr>
            <a:spLocks xmlns:a="http://schemas.openxmlformats.org/drawingml/2006/main" noGrp="1"/>
          </p:cNvSpPr>
          <p:nvPr/>
        </p:nvSpPr>
        <p:spPr>
          <a:xfrm xmlns:a="http://schemas.openxmlformats.org/drawingml/2006/main">
            <a:off x="3257550" y="3019425"/>
            <a:ext cx="7810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0">
                <a:solidFill>
                  <a:srgbClr val="23352F"/>
                </a:solidFill>
                <a:latin typeface="Arial"/>
                <a:ea typeface="Arial"/>
                <a:cs typeface="Arial"/>
              </a:defRPr>
            </a:defPPr>
          </a:lstStyle>
          <a:p xmlns:a="http://schemas.openxmlformats.org/drawingml/2006/main">
            <a:pPr algn="l">
              <a:lnSpc>
                <a:spcPct val="105000"/>
              </a:lnSpc>
              <a:buNone/>
              <a:defRPr sz="1800" b="0">
                <a:solidFill>
                  <a:srgbClr val="23352F"/>
                </a:solidFill>
                <a:latin typeface="Arial"/>
                <a:ea typeface="Arial"/>
                <a:cs typeface="Arial"/>
              </a:defRPr>
            </a:pPr>
            <a:r>
              <a:rPr sz="1800" b="0">
                <a:solidFill>
                  <a:srgbClr val="23352F"/>
                </a:solidFill>
                <a:latin typeface="Arial"/>
                <a:ea typeface="Arial"/>
                <a:cs typeface="Arial"/>
              </a:rPr>
              <a:t>City, measurement point, coordinates, and date range</a:t>
            </a:r>
          </a:p>
        </p:txBody>
      </p:sp>
      <p:sp>
        <p:nvSpPr>
          <p:cNvPr id="10" name="profile-rule-1">
            <a:extLst xmlns:a="http://schemas.openxmlformats.org/drawingml/2006/main">
              <a:ext uri="{FF2B5EF4-FFF2-40B4-BE49-F238E27FC236}">
                <a16:creationId xmlns:a16="http://schemas.microsoft.com/office/drawing/2014/main" id="{7A430939-2141-49DA-BA94-CDA4B8FDB2D0}"/>
              </a:ext>
            </a:extLst>
          </p:cNvPr>
          <p:cNvSpPr>
            <a:spLocks xmlns:a="http://schemas.openxmlformats.org/drawingml/2006/main" noGrp="1"/>
          </p:cNvSpPr>
          <p:nvPr/>
        </p:nvSpPr>
        <p:spPr>
          <a:xfrm xmlns:a="http://schemas.openxmlformats.org/drawingml/2006/main">
            <a:off x="781050" y="3609975"/>
            <a:ext cx="10610850" cy="0"/>
          </a:xfrm>
          <a:prstGeom xmlns:a="http://schemas.openxmlformats.org/drawingml/2006/main" prst="line">
            <a:avLst/>
          </a:prstGeom>
          <a:noFill xmlns:a="http://schemas.openxmlformats.org/drawingml/2006/main"/>
          <a:ln xmlns:a="http://schemas.openxmlformats.org/drawingml/2006/main" w="9525">
            <a:solidFill>
              <a:srgbClr val="D7E0DA"/>
            </a:solidFill>
            <a:prstDash val="solid"/>
          </a:ln>
        </p:spPr>
      </p:sp>
      <p:sp>
        <p:nvSpPr>
          <p:cNvPr id="11" name="profile-2-label">
            <a:extLst xmlns:a="http://schemas.openxmlformats.org/drawingml/2006/main">
              <a:ext uri="{FF2B5EF4-FFF2-40B4-BE49-F238E27FC236}">
                <a16:creationId xmlns:a16="http://schemas.microsoft.com/office/drawing/2014/main" id="{A368630C-3A76-4D65-B89B-3E863EC821B7}"/>
              </a:ext>
            </a:extLst>
          </p:cNvPr>
          <p:cNvSpPr>
            <a:spLocks xmlns:a="http://schemas.openxmlformats.org/drawingml/2006/main" noGrp="1"/>
          </p:cNvSpPr>
          <p:nvPr/>
        </p:nvSpPr>
        <p:spPr>
          <a:xfrm xmlns:a="http://schemas.openxmlformats.org/drawingml/2006/main">
            <a:off x="781050" y="388620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1">
                <a:solidFill>
                  <a:srgbClr val="45665A"/>
                </a:solidFill>
                <a:latin typeface="Arial"/>
                <a:ea typeface="Arial"/>
                <a:cs typeface="Arial"/>
              </a:defRPr>
            </a:defPPr>
          </a:lstStyle>
          <a:p xmlns:a="http://schemas.openxmlformats.org/drawingml/2006/main">
            <a:pPr algn="l">
              <a:lnSpc>
                <a:spcPct val="105000"/>
              </a:lnSpc>
              <a:buNone/>
              <a:defRPr sz="1800" b="1">
                <a:solidFill>
                  <a:srgbClr val="45665A"/>
                </a:solidFill>
                <a:latin typeface="Arial"/>
                <a:ea typeface="Arial"/>
                <a:cs typeface="Arial"/>
              </a:defRPr>
            </a:pPr>
            <a:r>
              <a:rPr sz="1800" b="1">
                <a:solidFill>
                  <a:srgbClr val="45665A"/>
                </a:solidFill>
                <a:latin typeface="Arial"/>
                <a:ea typeface="Arial"/>
                <a:cs typeface="Arial"/>
              </a:rPr>
              <a:t>Variables</a:t>
            </a:r>
          </a:p>
        </p:txBody>
      </p:sp>
      <p:sp>
        <p:nvSpPr>
          <p:cNvPr id="12" name="profile-2-text">
            <a:extLst xmlns:a="http://schemas.openxmlformats.org/drawingml/2006/main">
              <a:ext uri="{FF2B5EF4-FFF2-40B4-BE49-F238E27FC236}">
                <a16:creationId xmlns:a16="http://schemas.microsoft.com/office/drawing/2014/main" id="{ECE4D57B-1F7A-493E-A650-1398067D4182}"/>
              </a:ext>
            </a:extLst>
          </p:cNvPr>
          <p:cNvSpPr>
            <a:spLocks xmlns:a="http://schemas.openxmlformats.org/drawingml/2006/main" noGrp="1"/>
          </p:cNvSpPr>
          <p:nvPr/>
        </p:nvSpPr>
        <p:spPr>
          <a:xfrm xmlns:a="http://schemas.openxmlformats.org/drawingml/2006/main">
            <a:off x="3257550" y="3886200"/>
            <a:ext cx="7810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0">
                <a:solidFill>
                  <a:srgbClr val="23352F"/>
                </a:solidFill>
                <a:latin typeface="Arial"/>
                <a:ea typeface="Arial"/>
                <a:cs typeface="Arial"/>
              </a:defRPr>
            </a:defPPr>
          </a:lstStyle>
          <a:p xmlns:a="http://schemas.openxmlformats.org/drawingml/2006/main">
            <a:pPr algn="l">
              <a:lnSpc>
                <a:spcPct val="105000"/>
              </a:lnSpc>
              <a:buNone/>
              <a:defRPr sz="1800" b="0">
                <a:solidFill>
                  <a:srgbClr val="23352F"/>
                </a:solidFill>
                <a:latin typeface="Arial"/>
                <a:ea typeface="Arial"/>
                <a:cs typeface="Arial"/>
              </a:defRPr>
            </a:pPr>
            <a:r>
              <a:rPr sz="1800" b="0">
                <a:solidFill>
                  <a:srgbClr val="23352F"/>
                </a:solidFill>
                <a:latin typeface="Arial"/>
                <a:ea typeface="Arial"/>
                <a:cs typeface="Arial"/>
              </a:rPr>
              <a:t>15 climate parameters in the current source files</a:t>
            </a:r>
          </a:p>
        </p:txBody>
      </p:sp>
      <p:sp>
        <p:nvSpPr>
          <p:cNvPr id="13" name="profile-rule-2">
            <a:extLst xmlns:a="http://schemas.openxmlformats.org/drawingml/2006/main">
              <a:ext uri="{FF2B5EF4-FFF2-40B4-BE49-F238E27FC236}">
                <a16:creationId xmlns:a16="http://schemas.microsoft.com/office/drawing/2014/main" id="{D996F486-7DDC-4119-B234-9D9F0C52A880}"/>
              </a:ext>
            </a:extLst>
          </p:cNvPr>
          <p:cNvSpPr>
            <a:spLocks xmlns:a="http://schemas.openxmlformats.org/drawingml/2006/main" noGrp="1"/>
          </p:cNvSpPr>
          <p:nvPr/>
        </p:nvSpPr>
        <p:spPr>
          <a:xfrm xmlns:a="http://schemas.openxmlformats.org/drawingml/2006/main">
            <a:off x="781050" y="4476750"/>
            <a:ext cx="10610850" cy="0"/>
          </a:xfrm>
          <a:prstGeom xmlns:a="http://schemas.openxmlformats.org/drawingml/2006/main" prst="line">
            <a:avLst/>
          </a:prstGeom>
          <a:noFill xmlns:a="http://schemas.openxmlformats.org/drawingml/2006/main"/>
          <a:ln xmlns:a="http://schemas.openxmlformats.org/drawingml/2006/main" w="9525">
            <a:solidFill>
              <a:srgbClr val="D7E0DA"/>
            </a:solidFill>
            <a:prstDash val="solid"/>
          </a:ln>
        </p:spPr>
      </p:sp>
      <p:sp>
        <p:nvSpPr>
          <p:cNvPr id="14" name="profile-3-label">
            <a:extLst xmlns:a="http://schemas.openxmlformats.org/drawingml/2006/main">
              <a:ext uri="{FF2B5EF4-FFF2-40B4-BE49-F238E27FC236}">
                <a16:creationId xmlns:a16="http://schemas.microsoft.com/office/drawing/2014/main" id="{3085A5D9-E870-4A8A-9BF0-062786A4C01F}"/>
              </a:ext>
            </a:extLst>
          </p:cNvPr>
          <p:cNvSpPr>
            <a:spLocks xmlns:a="http://schemas.openxmlformats.org/drawingml/2006/main" noGrp="1"/>
          </p:cNvSpPr>
          <p:nvPr/>
        </p:nvSpPr>
        <p:spPr>
          <a:xfrm xmlns:a="http://schemas.openxmlformats.org/drawingml/2006/main">
            <a:off x="781050" y="4752975"/>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1">
                <a:solidFill>
                  <a:srgbClr val="45665A"/>
                </a:solidFill>
                <a:latin typeface="Arial"/>
                <a:ea typeface="Arial"/>
                <a:cs typeface="Arial"/>
              </a:defRPr>
            </a:defPPr>
          </a:lstStyle>
          <a:p xmlns:a="http://schemas.openxmlformats.org/drawingml/2006/main">
            <a:pPr algn="l">
              <a:lnSpc>
                <a:spcPct val="105000"/>
              </a:lnSpc>
              <a:buNone/>
              <a:defRPr sz="1800" b="1">
                <a:solidFill>
                  <a:srgbClr val="45665A"/>
                </a:solidFill>
                <a:latin typeface="Arial"/>
                <a:ea typeface="Arial"/>
                <a:cs typeface="Arial"/>
              </a:defRPr>
            </a:pPr>
            <a:r>
              <a:rPr sz="1800" b="1">
                <a:solidFill>
                  <a:srgbClr val="45665A"/>
                </a:solidFill>
                <a:latin typeface="Arial"/>
                <a:ea typeface="Arial"/>
                <a:cs typeface="Arial"/>
              </a:rPr>
              <a:t>Quality</a:t>
            </a:r>
          </a:p>
        </p:txBody>
      </p:sp>
      <p:sp>
        <p:nvSpPr>
          <p:cNvPr id="15" name="profile-3-text">
            <a:extLst xmlns:a="http://schemas.openxmlformats.org/drawingml/2006/main">
              <a:ext uri="{FF2B5EF4-FFF2-40B4-BE49-F238E27FC236}">
                <a16:creationId xmlns:a16="http://schemas.microsoft.com/office/drawing/2014/main" id="{E6C5E6D2-52B6-412A-88E6-2B6335DC36EF}"/>
              </a:ext>
            </a:extLst>
          </p:cNvPr>
          <p:cNvSpPr>
            <a:spLocks xmlns:a="http://schemas.openxmlformats.org/drawingml/2006/main" noGrp="1"/>
          </p:cNvSpPr>
          <p:nvPr/>
        </p:nvSpPr>
        <p:spPr>
          <a:xfrm xmlns:a="http://schemas.openxmlformats.org/drawingml/2006/main">
            <a:off x="3257550" y="4752975"/>
            <a:ext cx="7810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0">
                <a:solidFill>
                  <a:srgbClr val="23352F"/>
                </a:solidFill>
                <a:latin typeface="Arial"/>
                <a:ea typeface="Arial"/>
                <a:cs typeface="Arial"/>
              </a:defRPr>
            </a:defPPr>
          </a:lstStyle>
          <a:p xmlns:a="http://schemas.openxmlformats.org/drawingml/2006/main">
            <a:pPr algn="l">
              <a:lnSpc>
                <a:spcPct val="105000"/>
              </a:lnSpc>
              <a:buNone/>
              <a:defRPr sz="1800" b="0">
                <a:solidFill>
                  <a:srgbClr val="23352F"/>
                </a:solidFill>
                <a:latin typeface="Arial"/>
                <a:ea typeface="Arial"/>
                <a:cs typeface="Arial"/>
              </a:defRPr>
            </a:pPr>
            <a:r>
              <a:rPr sz="1800" b="0">
                <a:solidFill>
                  <a:srgbClr val="23352F"/>
                </a:solidFill>
                <a:latin typeface="Arial"/>
                <a:ea typeface="Arial"/>
                <a:cs typeface="Arial"/>
              </a:rPr>
              <a:t>Missing markers, duplicate keys, and available point coverage</a:t>
            </a:r>
          </a:p>
        </p:txBody>
      </p:sp>
    </p:spTree>
    <p:extLst>
      <p:ext uri="{BB962C8B-B14F-4D97-AF65-F5344CB8AC3E}">
        <p14:creationId xmlns:p14="http://schemas.microsoft.com/office/powerpoint/2010/main" val="1694894524"/>
      </p:ext>
    </p:extLst>
  </p:cSld>
</p:sld>
</file>

<file path=ppt/slides/slide4.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18" name="slide-title">
            <a:extLst xmlns:a="http://schemas.openxmlformats.org/drawingml/2006/main">
              <a:ext uri="{FF2B5EF4-FFF2-40B4-BE49-F238E27FC236}">
                <a16:creationId xmlns:a16="http://schemas.microsoft.com/office/drawing/2014/main" id="{766F0248-F214-4B15-A66A-1D850697266A}"/>
              </a:ext>
            </a:extLst>
          </p:cNvPr>
          <p:cNvSpPr>
            <a:spLocks xmlns:a="http://schemas.openxmlformats.org/drawingml/2006/main" noGrp="1"/>
          </p:cNvSpPr>
          <p:nvPr/>
        </p:nvSpPr>
        <p:spPr>
          <a:xfrm xmlns:a="http://schemas.openxmlformats.org/drawingml/2006/main">
            <a:off x="723900" y="533400"/>
            <a:ext cx="10744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300" b="1">
                <a:solidFill>
                  <a:srgbClr val="23352F"/>
                </a:solidFill>
                <a:latin typeface="Arial"/>
                <a:ea typeface="Arial"/>
                <a:cs typeface="Arial"/>
              </a:defRPr>
            </a:defPPr>
          </a:lstStyle>
          <a:p xmlns:a="http://schemas.openxmlformats.org/drawingml/2006/main">
            <a:pPr algn="l">
              <a:lnSpc>
                <a:spcPct val="105000"/>
              </a:lnSpc>
              <a:buNone/>
              <a:defRPr sz="3300" b="1">
                <a:solidFill>
                  <a:srgbClr val="23352F"/>
                </a:solidFill>
                <a:latin typeface="Arial"/>
                <a:ea typeface="Arial"/>
                <a:cs typeface="Arial"/>
              </a:defRPr>
            </a:pPr>
            <a:r>
              <a:rPr sz="3300" b="1">
                <a:solidFill>
                  <a:srgbClr val="23352F"/>
                </a:solidFill>
                <a:latin typeface="Arial"/>
                <a:ea typeface="Arial"/>
                <a:cs typeface="Arial"/>
              </a:rPr>
              <a:t>Clean with clear rules</a:t>
            </a:r>
          </a:p>
        </p:txBody>
      </p:sp>
      <p:sp>
        <p:nvSpPr>
          <p:cNvPr id="2" name="slide-subtitle">
            <a:extLst xmlns:a="http://schemas.openxmlformats.org/drawingml/2006/main">
              <a:ext uri="{FF2B5EF4-FFF2-40B4-BE49-F238E27FC236}">
                <a16:creationId xmlns:a16="http://schemas.microsoft.com/office/drawing/2014/main" id="{A935843B-FC55-445D-A5A9-1FA7CBF275E2}"/>
              </a:ext>
            </a:extLst>
          </p:cNvPr>
          <p:cNvSpPr>
            <a:spLocks xmlns:a="http://schemas.openxmlformats.org/drawingml/2006/main" noGrp="1"/>
          </p:cNvSpPr>
          <p:nvPr/>
        </p:nvSpPr>
        <p:spPr>
          <a:xfrm xmlns:a="http://schemas.openxmlformats.org/drawingml/2006/main">
            <a:off x="742950" y="1200150"/>
            <a:ext cx="1047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65766E"/>
                </a:solidFill>
                <a:latin typeface="Arial"/>
                <a:ea typeface="Arial"/>
                <a:cs typeface="Arial"/>
              </a:defRPr>
            </a:defPPr>
          </a:lstStyle>
          <a:p xmlns:a="http://schemas.openxmlformats.org/drawingml/2006/main">
            <a:pPr algn="l">
              <a:lnSpc>
                <a:spcPct val="105000"/>
              </a:lnSpc>
              <a:buNone/>
              <a:defRPr sz="1725" b="0">
                <a:solidFill>
                  <a:srgbClr val="65766E"/>
                </a:solidFill>
                <a:latin typeface="Arial"/>
                <a:ea typeface="Arial"/>
                <a:cs typeface="Arial"/>
              </a:defRPr>
            </a:pPr>
            <a:r>
              <a:rPr sz="1725" b="0">
                <a:solidFill>
                  <a:srgbClr val="65766E"/>
                </a:solidFill>
                <a:latin typeface="Arial"/>
                <a:ea typeface="Arial"/>
                <a:cs typeface="Arial"/>
              </a:rPr>
              <a:t>Correct known source issues and keep real gaps visible.</a:t>
            </a:r>
          </a:p>
        </p:txBody>
      </p:sp>
      <p:sp>
        <p:nvSpPr>
          <p:cNvPr id="3" name="title-rule">
            <a:extLst xmlns:a="http://schemas.openxmlformats.org/drawingml/2006/main">
              <a:ext uri="{FF2B5EF4-FFF2-40B4-BE49-F238E27FC236}">
                <a16:creationId xmlns:a16="http://schemas.microsoft.com/office/drawing/2014/main" id="{C3466117-4FB7-4517-A024-DA9F908D2122}"/>
              </a:ext>
            </a:extLst>
          </p:cNvPr>
          <p:cNvSpPr>
            <a:spLocks xmlns:a="http://schemas.openxmlformats.org/drawingml/2006/main" noGrp="1"/>
          </p:cNvSpPr>
          <p:nvPr/>
        </p:nvSpPr>
        <p:spPr>
          <a:xfrm xmlns:a="http://schemas.openxmlformats.org/drawingml/2006/main">
            <a:off x="742950" y="1752600"/>
            <a:ext cx="10706100" cy="0"/>
          </a:xfrm>
          <a:prstGeom xmlns:a="http://schemas.openxmlformats.org/drawingml/2006/main" prst="line">
            <a:avLst/>
          </a:prstGeom>
          <a:noFill xmlns:a="http://schemas.openxmlformats.org/drawingml/2006/main"/>
          <a:ln xmlns:a="http://schemas.openxmlformats.org/drawingml/2006/main" w="12383">
            <a:solidFill>
              <a:srgbClr val="D7E0DA"/>
            </a:solidFill>
            <a:prstDash val="solid"/>
          </a:ln>
        </p:spPr>
      </p:sp>
      <p:sp>
        <p:nvSpPr>
          <p:cNvPr id="4" name="page-number">
            <a:extLst xmlns:a="http://schemas.openxmlformats.org/drawingml/2006/main">
              <a:ext uri="{FF2B5EF4-FFF2-40B4-BE49-F238E27FC236}">
                <a16:creationId xmlns:a16="http://schemas.microsoft.com/office/drawing/2014/main" id="{1B2142E1-B66A-449E-8B9E-86F9A562D937}"/>
              </a:ext>
            </a:extLst>
          </p:cNvPr>
          <p:cNvSpPr>
            <a:spLocks xmlns:a="http://schemas.openxmlformats.org/drawingml/2006/main" noGrp="1"/>
          </p:cNvSpPr>
          <p:nvPr/>
        </p:nvSpPr>
        <p:spPr>
          <a:xfrm xmlns:a="http://schemas.openxmlformats.org/drawingml/2006/main">
            <a:off x="11049000" y="640080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9206"/>
          </a:bodyPr>
          <a:lstStyle xmlns:a="http://schemas.openxmlformats.org/drawingml/2006/main">
            <a:defPPr algn="r">
              <a:defRPr sz="1200" b="0">
                <a:solidFill>
                  <a:srgbClr val="65766E"/>
                </a:solidFill>
                <a:latin typeface="Arial"/>
                <a:ea typeface="Arial"/>
                <a:cs typeface="Arial"/>
              </a:defRPr>
            </a:defPPr>
          </a:lstStyle>
          <a:p xmlns:a="http://schemas.openxmlformats.org/drawingml/2006/main">
            <a:pPr algn="r">
              <a:lnSpc>
                <a:spcPct val="105000"/>
              </a:lnSpc>
              <a:buNone/>
              <a:defRPr sz="1200" b="0">
                <a:solidFill>
                  <a:srgbClr val="65766E"/>
                </a:solidFill>
                <a:latin typeface="Arial"/>
                <a:ea typeface="Arial"/>
                <a:cs typeface="Arial"/>
              </a:defRPr>
            </a:pPr>
            <a:r>
              <a:rPr sz="1200" b="0">
                <a:solidFill>
                  <a:srgbClr val="65766E"/>
                </a:solidFill>
                <a:latin typeface="Arial"/>
                <a:ea typeface="Arial"/>
                <a:cs typeface="Arial"/>
              </a:rPr>
              <a:t>04</a:t>
            </a:r>
          </a:p>
        </p:txBody>
      </p:sp>
      <p:sp>
        <p:nvSpPr>
          <p:cNvPr id="5" name="clean-step-1">
            <a:extLst xmlns:a="http://schemas.openxmlformats.org/drawingml/2006/main">
              <a:ext uri="{FF2B5EF4-FFF2-40B4-BE49-F238E27FC236}">
                <a16:creationId xmlns:a16="http://schemas.microsoft.com/office/drawing/2014/main" id="{9D9DD4FF-B7F7-49A3-B015-19FBD053369E}"/>
              </a:ext>
            </a:extLst>
          </p:cNvPr>
          <p:cNvSpPr>
            <a:spLocks xmlns:a="http://schemas.openxmlformats.org/drawingml/2006/main" noGrp="1"/>
          </p:cNvSpPr>
          <p:nvPr/>
        </p:nvSpPr>
        <p:spPr>
          <a:xfrm xmlns:a="http://schemas.openxmlformats.org/drawingml/2006/main">
            <a:off x="781050" y="2266950"/>
            <a:ext cx="476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B47A50"/>
                </a:solidFill>
                <a:latin typeface="Arial"/>
                <a:ea typeface="Arial"/>
                <a:cs typeface="Arial"/>
              </a:defRPr>
            </a:defPPr>
          </a:lstStyle>
          <a:p xmlns:a="http://schemas.openxmlformats.org/drawingml/2006/main">
            <a:pPr algn="l">
              <a:lnSpc>
                <a:spcPct val="105000"/>
              </a:lnSpc>
              <a:buNone/>
              <a:defRPr sz="1500" b="1">
                <a:solidFill>
                  <a:srgbClr val="B47A50"/>
                </a:solidFill>
                <a:latin typeface="Arial"/>
                <a:ea typeface="Arial"/>
                <a:cs typeface="Arial"/>
              </a:defRPr>
            </a:pPr>
            <a:r>
              <a:rPr sz="1500" b="1">
                <a:solidFill>
                  <a:srgbClr val="B47A50"/>
                </a:solidFill>
                <a:latin typeface="Arial"/>
                <a:ea typeface="Arial"/>
                <a:cs typeface="Arial"/>
              </a:rPr>
              <a:t>01</a:t>
            </a:r>
          </a:p>
        </p:txBody>
      </p:sp>
      <p:sp>
        <p:nvSpPr>
          <p:cNvPr id="6" name="clean-title-1">
            <a:extLst xmlns:a="http://schemas.openxmlformats.org/drawingml/2006/main">
              <a:ext uri="{FF2B5EF4-FFF2-40B4-BE49-F238E27FC236}">
                <a16:creationId xmlns:a16="http://schemas.microsoft.com/office/drawing/2014/main" id="{F02D0B26-477F-4095-9D6C-E76C0FEBC8FC}"/>
              </a:ext>
            </a:extLst>
          </p:cNvPr>
          <p:cNvSpPr>
            <a:spLocks xmlns:a="http://schemas.openxmlformats.org/drawingml/2006/main" noGrp="1"/>
          </p:cNvSpPr>
          <p:nvPr/>
        </p:nvSpPr>
        <p:spPr>
          <a:xfrm xmlns:a="http://schemas.openxmlformats.org/drawingml/2006/main">
            <a:off x="1352550" y="2266950"/>
            <a:ext cx="4191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025" b="1">
                <a:solidFill>
                  <a:srgbClr val="23352F"/>
                </a:solidFill>
                <a:latin typeface="Arial"/>
                <a:ea typeface="Arial"/>
                <a:cs typeface="Arial"/>
              </a:defRPr>
            </a:defPPr>
          </a:lstStyle>
          <a:p xmlns:a="http://schemas.openxmlformats.org/drawingml/2006/main">
            <a:pPr algn="l">
              <a:lnSpc>
                <a:spcPct val="105000"/>
              </a:lnSpc>
              <a:buNone/>
              <a:defRPr sz="2025" b="1">
                <a:solidFill>
                  <a:srgbClr val="23352F"/>
                </a:solidFill>
                <a:latin typeface="Arial"/>
                <a:ea typeface="Arial"/>
                <a:cs typeface="Arial"/>
              </a:defRPr>
            </a:pPr>
            <a:r>
              <a:rPr sz="2025" b="1">
                <a:solidFill>
                  <a:srgbClr val="23352F"/>
                </a:solidFill>
                <a:latin typeface="Arial"/>
                <a:ea typeface="Arial"/>
                <a:cs typeface="Arial"/>
              </a:rPr>
              <a:t>Standardize names</a:t>
            </a:r>
          </a:p>
        </p:txBody>
      </p:sp>
      <p:sp>
        <p:nvSpPr>
          <p:cNvPr id="7" name="clean-description-1">
            <a:extLst xmlns:a="http://schemas.openxmlformats.org/drawingml/2006/main">
              <a:ext uri="{FF2B5EF4-FFF2-40B4-BE49-F238E27FC236}">
                <a16:creationId xmlns:a16="http://schemas.microsoft.com/office/drawing/2014/main" id="{40560FD9-8B7B-4C11-BFE9-E37EE1DEEF23}"/>
              </a:ext>
            </a:extLst>
          </p:cNvPr>
          <p:cNvSpPr>
            <a:spLocks xmlns:a="http://schemas.openxmlformats.org/drawingml/2006/main" noGrp="1"/>
          </p:cNvSpPr>
          <p:nvPr/>
        </p:nvSpPr>
        <p:spPr>
          <a:xfrm xmlns:a="http://schemas.openxmlformats.org/drawingml/2006/main">
            <a:off x="1352550" y="2762250"/>
            <a:ext cx="4286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65766E"/>
                </a:solidFill>
                <a:latin typeface="Arial"/>
                <a:ea typeface="Arial"/>
                <a:cs typeface="Arial"/>
              </a:defRPr>
            </a:defPPr>
          </a:lstStyle>
          <a:p xmlns:a="http://schemas.openxmlformats.org/drawingml/2006/main">
            <a:pPr algn="l">
              <a:lnSpc>
                <a:spcPct val="105000"/>
              </a:lnSpc>
              <a:buNone/>
              <a:defRPr sz="1725" b="0">
                <a:solidFill>
                  <a:srgbClr val="65766E"/>
                </a:solidFill>
                <a:latin typeface="Arial"/>
                <a:ea typeface="Arial"/>
                <a:cs typeface="Arial"/>
              </a:defRPr>
            </a:pPr>
            <a:r>
              <a:rPr sz="1725" b="0">
                <a:solidFill>
                  <a:srgbClr val="65766E"/>
                </a:solidFill>
                <a:latin typeface="Arial"/>
                <a:ea typeface="Arial"/>
                <a:cs typeface="Arial"/>
              </a:rPr>
              <a:t>Normalize known city spelling variants and parameter labels.</a:t>
            </a:r>
          </a:p>
        </p:txBody>
      </p:sp>
      <p:sp>
        <p:nvSpPr>
          <p:cNvPr id="8" name="clean-step-2">
            <a:extLst xmlns:a="http://schemas.openxmlformats.org/drawingml/2006/main">
              <a:ext uri="{FF2B5EF4-FFF2-40B4-BE49-F238E27FC236}">
                <a16:creationId xmlns:a16="http://schemas.microsoft.com/office/drawing/2014/main" id="{43EDEADA-8DCE-4764-BA49-6BBA9FC93C9C}"/>
              </a:ext>
            </a:extLst>
          </p:cNvPr>
          <p:cNvSpPr>
            <a:spLocks xmlns:a="http://schemas.openxmlformats.org/drawingml/2006/main" noGrp="1"/>
          </p:cNvSpPr>
          <p:nvPr/>
        </p:nvSpPr>
        <p:spPr>
          <a:xfrm xmlns:a="http://schemas.openxmlformats.org/drawingml/2006/main">
            <a:off x="6172200" y="2266950"/>
            <a:ext cx="476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B47A50"/>
                </a:solidFill>
                <a:latin typeface="Arial"/>
                <a:ea typeface="Arial"/>
                <a:cs typeface="Arial"/>
              </a:defRPr>
            </a:defPPr>
          </a:lstStyle>
          <a:p xmlns:a="http://schemas.openxmlformats.org/drawingml/2006/main">
            <a:pPr algn="l">
              <a:lnSpc>
                <a:spcPct val="105000"/>
              </a:lnSpc>
              <a:buNone/>
              <a:defRPr sz="1500" b="1">
                <a:solidFill>
                  <a:srgbClr val="B47A50"/>
                </a:solidFill>
                <a:latin typeface="Arial"/>
                <a:ea typeface="Arial"/>
                <a:cs typeface="Arial"/>
              </a:defRPr>
            </a:pPr>
            <a:r>
              <a:rPr sz="1500" b="1">
                <a:solidFill>
                  <a:srgbClr val="B47A50"/>
                </a:solidFill>
                <a:latin typeface="Arial"/>
                <a:ea typeface="Arial"/>
                <a:cs typeface="Arial"/>
              </a:rPr>
              <a:t>02</a:t>
            </a:r>
          </a:p>
        </p:txBody>
      </p:sp>
      <p:sp>
        <p:nvSpPr>
          <p:cNvPr id="9" name="clean-title-2">
            <a:extLst xmlns:a="http://schemas.openxmlformats.org/drawingml/2006/main">
              <a:ext uri="{FF2B5EF4-FFF2-40B4-BE49-F238E27FC236}">
                <a16:creationId xmlns:a16="http://schemas.microsoft.com/office/drawing/2014/main" id="{DE62E21F-C22E-4ABF-B0BA-312CA951E4FF}"/>
              </a:ext>
            </a:extLst>
          </p:cNvPr>
          <p:cNvSpPr>
            <a:spLocks xmlns:a="http://schemas.openxmlformats.org/drawingml/2006/main" noGrp="1"/>
          </p:cNvSpPr>
          <p:nvPr/>
        </p:nvSpPr>
        <p:spPr>
          <a:xfrm xmlns:a="http://schemas.openxmlformats.org/drawingml/2006/main">
            <a:off x="6743700" y="2266950"/>
            <a:ext cx="4191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025" b="1">
                <a:solidFill>
                  <a:srgbClr val="23352F"/>
                </a:solidFill>
                <a:latin typeface="Arial"/>
                <a:ea typeface="Arial"/>
                <a:cs typeface="Arial"/>
              </a:defRPr>
            </a:defPPr>
          </a:lstStyle>
          <a:p xmlns:a="http://schemas.openxmlformats.org/drawingml/2006/main">
            <a:pPr algn="l">
              <a:lnSpc>
                <a:spcPct val="105000"/>
              </a:lnSpc>
              <a:buNone/>
              <a:defRPr sz="2025" b="1">
                <a:solidFill>
                  <a:srgbClr val="23352F"/>
                </a:solidFill>
                <a:latin typeface="Arial"/>
                <a:ea typeface="Arial"/>
                <a:cs typeface="Arial"/>
              </a:defRPr>
            </a:pPr>
            <a:r>
              <a:rPr sz="2025" b="1">
                <a:solidFill>
                  <a:srgbClr val="23352F"/>
                </a:solidFill>
                <a:latin typeface="Arial"/>
                <a:ea typeface="Arial"/>
                <a:cs typeface="Arial"/>
              </a:rPr>
              <a:t>Set types</a:t>
            </a:r>
          </a:p>
        </p:txBody>
      </p:sp>
      <p:sp>
        <p:nvSpPr>
          <p:cNvPr id="10" name="clean-description-2">
            <a:extLst xmlns:a="http://schemas.openxmlformats.org/drawingml/2006/main">
              <a:ext uri="{FF2B5EF4-FFF2-40B4-BE49-F238E27FC236}">
                <a16:creationId xmlns:a16="http://schemas.microsoft.com/office/drawing/2014/main" id="{401DF771-3257-4640-AF1D-72ED824555DF}"/>
              </a:ext>
            </a:extLst>
          </p:cNvPr>
          <p:cNvSpPr>
            <a:spLocks xmlns:a="http://schemas.openxmlformats.org/drawingml/2006/main" noGrp="1"/>
          </p:cNvSpPr>
          <p:nvPr/>
        </p:nvSpPr>
        <p:spPr>
          <a:xfrm xmlns:a="http://schemas.openxmlformats.org/drawingml/2006/main">
            <a:off x="6743700" y="2762250"/>
            <a:ext cx="4286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65766E"/>
                </a:solidFill>
                <a:latin typeface="Arial"/>
                <a:ea typeface="Arial"/>
                <a:cs typeface="Arial"/>
              </a:defRPr>
            </a:defPPr>
          </a:lstStyle>
          <a:p xmlns:a="http://schemas.openxmlformats.org/drawingml/2006/main">
            <a:pPr algn="l">
              <a:lnSpc>
                <a:spcPct val="105000"/>
              </a:lnSpc>
              <a:buNone/>
              <a:defRPr sz="1725" b="0">
                <a:solidFill>
                  <a:srgbClr val="65766E"/>
                </a:solidFill>
                <a:latin typeface="Arial"/>
                <a:ea typeface="Arial"/>
                <a:cs typeface="Arial"/>
              </a:defRPr>
            </a:pPr>
            <a:r>
              <a:rPr sz="1725" b="0">
                <a:solidFill>
                  <a:srgbClr val="65766E"/>
                </a:solidFill>
                <a:latin typeface="Arial"/>
                <a:ea typeface="Arial"/>
                <a:cs typeface="Arial"/>
              </a:rPr>
              <a:t>Convert year and month values to numeric dates.</a:t>
            </a:r>
          </a:p>
        </p:txBody>
      </p:sp>
      <p:sp>
        <p:nvSpPr>
          <p:cNvPr id="11" name="clean-step-3">
            <a:extLst xmlns:a="http://schemas.openxmlformats.org/drawingml/2006/main">
              <a:ext uri="{FF2B5EF4-FFF2-40B4-BE49-F238E27FC236}">
                <a16:creationId xmlns:a16="http://schemas.microsoft.com/office/drawing/2014/main" id="{D32F0F14-7E4A-4D97-A628-35889BE6F4A9}"/>
              </a:ext>
            </a:extLst>
          </p:cNvPr>
          <p:cNvSpPr>
            <a:spLocks xmlns:a="http://schemas.openxmlformats.org/drawingml/2006/main" noGrp="1"/>
          </p:cNvSpPr>
          <p:nvPr/>
        </p:nvSpPr>
        <p:spPr>
          <a:xfrm xmlns:a="http://schemas.openxmlformats.org/drawingml/2006/main">
            <a:off x="781050" y="3962400"/>
            <a:ext cx="476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B47A50"/>
                </a:solidFill>
                <a:latin typeface="Arial"/>
                <a:ea typeface="Arial"/>
                <a:cs typeface="Arial"/>
              </a:defRPr>
            </a:defPPr>
          </a:lstStyle>
          <a:p xmlns:a="http://schemas.openxmlformats.org/drawingml/2006/main">
            <a:pPr algn="l">
              <a:lnSpc>
                <a:spcPct val="105000"/>
              </a:lnSpc>
              <a:buNone/>
              <a:defRPr sz="1500" b="1">
                <a:solidFill>
                  <a:srgbClr val="B47A50"/>
                </a:solidFill>
                <a:latin typeface="Arial"/>
                <a:ea typeface="Arial"/>
                <a:cs typeface="Arial"/>
              </a:defRPr>
            </a:pPr>
            <a:r>
              <a:rPr sz="1500" b="1">
                <a:solidFill>
                  <a:srgbClr val="B47A50"/>
                </a:solidFill>
                <a:latin typeface="Arial"/>
                <a:ea typeface="Arial"/>
                <a:cs typeface="Arial"/>
              </a:rPr>
              <a:t>03</a:t>
            </a:r>
          </a:p>
        </p:txBody>
      </p:sp>
      <p:sp>
        <p:nvSpPr>
          <p:cNvPr id="12" name="clean-title-3">
            <a:extLst xmlns:a="http://schemas.openxmlformats.org/drawingml/2006/main">
              <a:ext uri="{FF2B5EF4-FFF2-40B4-BE49-F238E27FC236}">
                <a16:creationId xmlns:a16="http://schemas.microsoft.com/office/drawing/2014/main" id="{98084C71-39D0-4397-BBA8-59CE39A86750}"/>
              </a:ext>
            </a:extLst>
          </p:cNvPr>
          <p:cNvSpPr>
            <a:spLocks xmlns:a="http://schemas.openxmlformats.org/drawingml/2006/main" noGrp="1"/>
          </p:cNvSpPr>
          <p:nvPr/>
        </p:nvSpPr>
        <p:spPr>
          <a:xfrm xmlns:a="http://schemas.openxmlformats.org/drawingml/2006/main">
            <a:off x="1352550" y="3962400"/>
            <a:ext cx="4191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025" b="1">
                <a:solidFill>
                  <a:srgbClr val="23352F"/>
                </a:solidFill>
                <a:latin typeface="Arial"/>
                <a:ea typeface="Arial"/>
                <a:cs typeface="Arial"/>
              </a:defRPr>
            </a:defPPr>
          </a:lstStyle>
          <a:p xmlns:a="http://schemas.openxmlformats.org/drawingml/2006/main">
            <a:pPr algn="l">
              <a:lnSpc>
                <a:spcPct val="105000"/>
              </a:lnSpc>
              <a:buNone/>
              <a:defRPr sz="2025" b="1">
                <a:solidFill>
                  <a:srgbClr val="23352F"/>
                </a:solidFill>
                <a:latin typeface="Arial"/>
                <a:ea typeface="Arial"/>
                <a:cs typeface="Arial"/>
              </a:defRPr>
            </a:pPr>
            <a:r>
              <a:rPr sz="2025" b="1">
                <a:solidFill>
                  <a:srgbClr val="23352F"/>
                </a:solidFill>
                <a:latin typeface="Arial"/>
                <a:ea typeface="Arial"/>
                <a:cs typeface="Arial"/>
              </a:rPr>
              <a:t>Handle missing values</a:t>
            </a:r>
          </a:p>
        </p:txBody>
      </p:sp>
      <p:sp>
        <p:nvSpPr>
          <p:cNvPr id="13" name="clean-description-3">
            <a:extLst xmlns:a="http://schemas.openxmlformats.org/drawingml/2006/main">
              <a:ext uri="{FF2B5EF4-FFF2-40B4-BE49-F238E27FC236}">
                <a16:creationId xmlns:a16="http://schemas.microsoft.com/office/drawing/2014/main" id="{E34BEFD8-3F6D-4242-9B8A-D8C2A6099A3C}"/>
              </a:ext>
            </a:extLst>
          </p:cNvPr>
          <p:cNvSpPr>
            <a:spLocks xmlns:a="http://schemas.openxmlformats.org/drawingml/2006/main" noGrp="1"/>
          </p:cNvSpPr>
          <p:nvPr/>
        </p:nvSpPr>
        <p:spPr>
          <a:xfrm xmlns:a="http://schemas.openxmlformats.org/drawingml/2006/main">
            <a:off x="1352550" y="4457700"/>
            <a:ext cx="4286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65766E"/>
                </a:solidFill>
                <a:latin typeface="Arial"/>
                <a:ea typeface="Arial"/>
                <a:cs typeface="Arial"/>
              </a:defRPr>
            </a:defPPr>
          </a:lstStyle>
          <a:p xmlns:a="http://schemas.openxmlformats.org/drawingml/2006/main">
            <a:pPr algn="l">
              <a:lnSpc>
                <a:spcPct val="105000"/>
              </a:lnSpc>
              <a:buNone/>
              <a:defRPr sz="1725" b="0">
                <a:solidFill>
                  <a:srgbClr val="65766E"/>
                </a:solidFill>
                <a:latin typeface="Arial"/>
                <a:ea typeface="Arial"/>
                <a:cs typeface="Arial"/>
              </a:defRPr>
            </a:pPr>
            <a:r>
              <a:rPr sz="1725" b="0">
                <a:solidFill>
                  <a:srgbClr val="65766E"/>
                </a:solidFill>
                <a:latin typeface="Arial"/>
                <a:ea typeface="Arial"/>
                <a:cs typeface="Arial"/>
              </a:rPr>
              <a:t>Convert the documented -999 sentinel to null.</a:t>
            </a:r>
          </a:p>
        </p:txBody>
      </p:sp>
      <p:sp>
        <p:nvSpPr>
          <p:cNvPr id="14" name="clean-step-4">
            <a:extLst xmlns:a="http://schemas.openxmlformats.org/drawingml/2006/main">
              <a:ext uri="{FF2B5EF4-FFF2-40B4-BE49-F238E27FC236}">
                <a16:creationId xmlns:a16="http://schemas.microsoft.com/office/drawing/2014/main" id="{15C11B96-C517-4775-B180-741589D68F39}"/>
              </a:ext>
            </a:extLst>
          </p:cNvPr>
          <p:cNvSpPr>
            <a:spLocks xmlns:a="http://schemas.openxmlformats.org/drawingml/2006/main" noGrp="1"/>
          </p:cNvSpPr>
          <p:nvPr/>
        </p:nvSpPr>
        <p:spPr>
          <a:xfrm xmlns:a="http://schemas.openxmlformats.org/drawingml/2006/main">
            <a:off x="6172200" y="3962400"/>
            <a:ext cx="476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B47A50"/>
                </a:solidFill>
                <a:latin typeface="Arial"/>
                <a:ea typeface="Arial"/>
                <a:cs typeface="Arial"/>
              </a:defRPr>
            </a:defPPr>
          </a:lstStyle>
          <a:p xmlns:a="http://schemas.openxmlformats.org/drawingml/2006/main">
            <a:pPr algn="l">
              <a:lnSpc>
                <a:spcPct val="105000"/>
              </a:lnSpc>
              <a:buNone/>
              <a:defRPr sz="1500" b="1">
                <a:solidFill>
                  <a:srgbClr val="B47A50"/>
                </a:solidFill>
                <a:latin typeface="Arial"/>
                <a:ea typeface="Arial"/>
                <a:cs typeface="Arial"/>
              </a:defRPr>
            </a:pPr>
            <a:r>
              <a:rPr sz="1500" b="1">
                <a:solidFill>
                  <a:srgbClr val="B47A50"/>
                </a:solidFill>
                <a:latin typeface="Arial"/>
                <a:ea typeface="Arial"/>
                <a:cs typeface="Arial"/>
              </a:rPr>
              <a:t>04</a:t>
            </a:r>
          </a:p>
        </p:txBody>
      </p:sp>
      <p:sp>
        <p:nvSpPr>
          <p:cNvPr id="15" name="clean-title-4">
            <a:extLst xmlns:a="http://schemas.openxmlformats.org/drawingml/2006/main">
              <a:ext uri="{FF2B5EF4-FFF2-40B4-BE49-F238E27FC236}">
                <a16:creationId xmlns:a16="http://schemas.microsoft.com/office/drawing/2014/main" id="{36686DA4-DD64-40D8-943F-ABCD7B83B26B}"/>
              </a:ext>
            </a:extLst>
          </p:cNvPr>
          <p:cNvSpPr>
            <a:spLocks xmlns:a="http://schemas.openxmlformats.org/drawingml/2006/main" noGrp="1"/>
          </p:cNvSpPr>
          <p:nvPr/>
        </p:nvSpPr>
        <p:spPr>
          <a:xfrm xmlns:a="http://schemas.openxmlformats.org/drawingml/2006/main">
            <a:off x="6743700" y="3962400"/>
            <a:ext cx="4191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025" b="1">
                <a:solidFill>
                  <a:srgbClr val="23352F"/>
                </a:solidFill>
                <a:latin typeface="Arial"/>
                <a:ea typeface="Arial"/>
                <a:cs typeface="Arial"/>
              </a:defRPr>
            </a:defPPr>
          </a:lstStyle>
          <a:p xmlns:a="http://schemas.openxmlformats.org/drawingml/2006/main">
            <a:pPr algn="l">
              <a:lnSpc>
                <a:spcPct val="105000"/>
              </a:lnSpc>
              <a:buNone/>
              <a:defRPr sz="2025" b="1">
                <a:solidFill>
                  <a:srgbClr val="23352F"/>
                </a:solidFill>
                <a:latin typeface="Arial"/>
                <a:ea typeface="Arial"/>
                <a:cs typeface="Arial"/>
              </a:defRPr>
            </a:pPr>
            <a:r>
              <a:rPr sz="2025" b="1">
                <a:solidFill>
                  <a:srgbClr val="23352F"/>
                </a:solidFill>
                <a:latin typeface="Arial"/>
                <a:ea typeface="Arial"/>
                <a:cs typeface="Arial"/>
              </a:rPr>
              <a:t>Check duplicates</a:t>
            </a:r>
          </a:p>
        </p:txBody>
      </p:sp>
      <p:sp>
        <p:nvSpPr>
          <p:cNvPr id="16" name="clean-description-4">
            <a:extLst xmlns:a="http://schemas.openxmlformats.org/drawingml/2006/main">
              <a:ext uri="{FF2B5EF4-FFF2-40B4-BE49-F238E27FC236}">
                <a16:creationId xmlns:a16="http://schemas.microsoft.com/office/drawing/2014/main" id="{E2CDFB08-9939-4233-8F70-14EAB7921B69}"/>
              </a:ext>
            </a:extLst>
          </p:cNvPr>
          <p:cNvSpPr>
            <a:spLocks xmlns:a="http://schemas.openxmlformats.org/drawingml/2006/main" noGrp="1"/>
          </p:cNvSpPr>
          <p:nvPr/>
        </p:nvSpPr>
        <p:spPr>
          <a:xfrm xmlns:a="http://schemas.openxmlformats.org/drawingml/2006/main">
            <a:off x="6743700" y="4457700"/>
            <a:ext cx="4286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65766E"/>
                </a:solidFill>
                <a:latin typeface="Arial"/>
                <a:ea typeface="Arial"/>
                <a:cs typeface="Arial"/>
              </a:defRPr>
            </a:defPPr>
          </a:lstStyle>
          <a:p xmlns:a="http://schemas.openxmlformats.org/drawingml/2006/main">
            <a:pPr algn="l">
              <a:lnSpc>
                <a:spcPct val="105000"/>
              </a:lnSpc>
              <a:buNone/>
              <a:defRPr sz="1725" b="0">
                <a:solidFill>
                  <a:srgbClr val="65766E"/>
                </a:solidFill>
                <a:latin typeface="Arial"/>
                <a:ea typeface="Arial"/>
                <a:cs typeface="Arial"/>
              </a:defRPr>
            </a:pPr>
            <a:r>
              <a:rPr sz="1725" b="0">
                <a:solidFill>
                  <a:srgbClr val="65766E"/>
                </a:solidFill>
                <a:latin typeface="Arial"/>
                <a:ea typeface="Arial"/>
                <a:cs typeface="Arial"/>
              </a:rPr>
              <a:t>Deduplicate by city, point, period, and parameter.</a:t>
            </a:r>
          </a:p>
        </p:txBody>
      </p:sp>
      <p:sp>
        <p:nvSpPr>
          <p:cNvPr id="17" name="clean-principle">
            <a:extLst xmlns:a="http://schemas.openxmlformats.org/drawingml/2006/main">
              <a:ext uri="{FF2B5EF4-FFF2-40B4-BE49-F238E27FC236}">
                <a16:creationId xmlns:a16="http://schemas.microsoft.com/office/drawing/2014/main" id="{A365F7CF-9F92-4724-BD2B-8AB84F02D3EA}"/>
              </a:ext>
            </a:extLst>
          </p:cNvPr>
          <p:cNvSpPr>
            <a:spLocks xmlns:a="http://schemas.openxmlformats.org/drawingml/2006/main" noGrp="1"/>
          </p:cNvSpPr>
          <p:nvPr/>
        </p:nvSpPr>
        <p:spPr>
          <a:xfrm xmlns:a="http://schemas.openxmlformats.org/drawingml/2006/main">
            <a:off x="781050" y="5791200"/>
            <a:ext cx="8096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45665A"/>
                </a:solidFill>
                <a:latin typeface="Arial"/>
                <a:ea typeface="Arial"/>
                <a:cs typeface="Arial"/>
              </a:defRPr>
            </a:defPPr>
          </a:lstStyle>
          <a:p xmlns:a="http://schemas.openxmlformats.org/drawingml/2006/main">
            <a:pPr algn="l">
              <a:lnSpc>
                <a:spcPct val="105000"/>
              </a:lnSpc>
              <a:buNone/>
              <a:defRPr sz="1650" b="1">
                <a:solidFill>
                  <a:srgbClr val="45665A"/>
                </a:solidFill>
                <a:latin typeface="Arial"/>
                <a:ea typeface="Arial"/>
                <a:cs typeface="Arial"/>
              </a:defRPr>
            </a:pPr>
            <a:r>
              <a:rPr sz="1650" b="1">
                <a:solidFill>
                  <a:srgbClr val="45665A"/>
                </a:solidFill>
                <a:latin typeface="Arial"/>
                <a:ea typeface="Arial"/>
                <a:cs typeface="Arial"/>
              </a:rPr>
              <a:t>No imputation or statistical outlier removal.</a:t>
            </a:r>
          </a:p>
        </p:txBody>
      </p:sp>
    </p:spTree>
    <p:extLst>
      <p:ext uri="{BB962C8B-B14F-4D97-AF65-F5344CB8AC3E}">
        <p14:creationId xmlns:p14="http://schemas.microsoft.com/office/powerpoint/2010/main" val="854689329"/>
      </p:ext>
    </p:extLst>
  </p:cSld>
</p:sld>
</file>

<file path=ppt/slides/slide5.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17" name="slide-title">
            <a:extLst xmlns:a="http://schemas.openxmlformats.org/drawingml/2006/main">
              <a:ext uri="{FF2B5EF4-FFF2-40B4-BE49-F238E27FC236}">
                <a16:creationId xmlns:a16="http://schemas.microsoft.com/office/drawing/2014/main" id="{C0C43845-83CD-42F4-88C5-24B3CCBBC3FB}"/>
              </a:ext>
            </a:extLst>
          </p:cNvPr>
          <p:cNvSpPr>
            <a:spLocks xmlns:a="http://schemas.openxmlformats.org/drawingml/2006/main" noGrp="1"/>
          </p:cNvSpPr>
          <p:nvPr/>
        </p:nvSpPr>
        <p:spPr>
          <a:xfrm xmlns:a="http://schemas.openxmlformats.org/drawingml/2006/main">
            <a:off x="723900" y="533400"/>
            <a:ext cx="10744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300" b="1">
                <a:solidFill>
                  <a:srgbClr val="23352F"/>
                </a:solidFill>
                <a:latin typeface="Arial"/>
                <a:ea typeface="Arial"/>
                <a:cs typeface="Arial"/>
              </a:defRPr>
            </a:defPPr>
          </a:lstStyle>
          <a:p xmlns:a="http://schemas.openxmlformats.org/drawingml/2006/main">
            <a:pPr algn="l">
              <a:lnSpc>
                <a:spcPct val="105000"/>
              </a:lnSpc>
              <a:buNone/>
              <a:defRPr sz="3300" b="1">
                <a:solidFill>
                  <a:srgbClr val="23352F"/>
                </a:solidFill>
                <a:latin typeface="Arial"/>
                <a:ea typeface="Arial"/>
                <a:cs typeface="Arial"/>
              </a:defRPr>
            </a:pPr>
            <a:r>
              <a:rPr sz="3300" b="1">
                <a:solidFill>
                  <a:srgbClr val="23352F"/>
                </a:solidFill>
                <a:latin typeface="Arial"/>
                <a:ea typeface="Arial"/>
                <a:cs typeface="Arial"/>
              </a:rPr>
              <a:t>Reshape for analysis</a:t>
            </a:r>
          </a:p>
        </p:txBody>
      </p:sp>
      <p:sp>
        <p:nvSpPr>
          <p:cNvPr id="2" name="slide-subtitle">
            <a:extLst xmlns:a="http://schemas.openxmlformats.org/drawingml/2006/main">
              <a:ext uri="{FF2B5EF4-FFF2-40B4-BE49-F238E27FC236}">
                <a16:creationId xmlns:a16="http://schemas.microsoft.com/office/drawing/2014/main" id="{D6F7B7CA-4BAF-440F-892C-AA82DFFC917B}"/>
              </a:ext>
            </a:extLst>
          </p:cNvPr>
          <p:cNvSpPr>
            <a:spLocks xmlns:a="http://schemas.openxmlformats.org/drawingml/2006/main" noGrp="1"/>
          </p:cNvSpPr>
          <p:nvPr/>
        </p:nvSpPr>
        <p:spPr>
          <a:xfrm xmlns:a="http://schemas.openxmlformats.org/drawingml/2006/main">
            <a:off x="742950" y="1200150"/>
            <a:ext cx="1047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65766E"/>
                </a:solidFill>
                <a:latin typeface="Arial"/>
                <a:ea typeface="Arial"/>
                <a:cs typeface="Arial"/>
              </a:defRPr>
            </a:defPPr>
          </a:lstStyle>
          <a:p xmlns:a="http://schemas.openxmlformats.org/drawingml/2006/main">
            <a:pPr algn="l">
              <a:lnSpc>
                <a:spcPct val="105000"/>
              </a:lnSpc>
              <a:buNone/>
              <a:defRPr sz="1725" b="0">
                <a:solidFill>
                  <a:srgbClr val="65766E"/>
                </a:solidFill>
                <a:latin typeface="Arial"/>
                <a:ea typeface="Arial"/>
                <a:cs typeface="Arial"/>
              </a:defRPr>
            </a:pPr>
            <a:r>
              <a:rPr sz="1725" b="0">
                <a:solidFill>
                  <a:srgbClr val="65766E"/>
                </a:solidFill>
                <a:latin typeface="Arial"/>
                <a:ea typeface="Arial"/>
                <a:cs typeface="Arial"/>
              </a:rPr>
              <a:t>Keep the annual summaries separate; use monthly rows for city aggregation.</a:t>
            </a:r>
          </a:p>
        </p:txBody>
      </p:sp>
      <p:sp>
        <p:nvSpPr>
          <p:cNvPr id="3" name="title-rule">
            <a:extLst xmlns:a="http://schemas.openxmlformats.org/drawingml/2006/main">
              <a:ext uri="{FF2B5EF4-FFF2-40B4-BE49-F238E27FC236}">
                <a16:creationId xmlns:a16="http://schemas.microsoft.com/office/drawing/2014/main" id="{A425C4C5-BFD7-4A6C-9EF8-1F4C588EB649}"/>
              </a:ext>
            </a:extLst>
          </p:cNvPr>
          <p:cNvSpPr>
            <a:spLocks xmlns:a="http://schemas.openxmlformats.org/drawingml/2006/main" noGrp="1"/>
          </p:cNvSpPr>
          <p:nvPr/>
        </p:nvSpPr>
        <p:spPr>
          <a:xfrm xmlns:a="http://schemas.openxmlformats.org/drawingml/2006/main">
            <a:off x="742950" y="1752600"/>
            <a:ext cx="10706100" cy="0"/>
          </a:xfrm>
          <a:prstGeom xmlns:a="http://schemas.openxmlformats.org/drawingml/2006/main" prst="line">
            <a:avLst/>
          </a:prstGeom>
          <a:noFill xmlns:a="http://schemas.openxmlformats.org/drawingml/2006/main"/>
          <a:ln xmlns:a="http://schemas.openxmlformats.org/drawingml/2006/main" w="12383">
            <a:solidFill>
              <a:srgbClr val="D7E0DA"/>
            </a:solidFill>
            <a:prstDash val="solid"/>
          </a:ln>
        </p:spPr>
      </p:sp>
      <p:sp>
        <p:nvSpPr>
          <p:cNvPr id="4" name="page-number">
            <a:extLst xmlns:a="http://schemas.openxmlformats.org/drawingml/2006/main">
              <a:ext uri="{FF2B5EF4-FFF2-40B4-BE49-F238E27FC236}">
                <a16:creationId xmlns:a16="http://schemas.microsoft.com/office/drawing/2014/main" id="{28B2304F-A4F3-41E6-8317-E8245DDC74AA}"/>
              </a:ext>
            </a:extLst>
          </p:cNvPr>
          <p:cNvSpPr>
            <a:spLocks xmlns:a="http://schemas.openxmlformats.org/drawingml/2006/main" noGrp="1"/>
          </p:cNvSpPr>
          <p:nvPr/>
        </p:nvSpPr>
        <p:spPr>
          <a:xfrm xmlns:a="http://schemas.openxmlformats.org/drawingml/2006/main">
            <a:off x="11049000" y="640080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9206"/>
          </a:bodyPr>
          <a:lstStyle xmlns:a="http://schemas.openxmlformats.org/drawingml/2006/main">
            <a:defPPr algn="r">
              <a:defRPr sz="1200" b="0">
                <a:solidFill>
                  <a:srgbClr val="65766E"/>
                </a:solidFill>
                <a:latin typeface="Arial"/>
                <a:ea typeface="Arial"/>
                <a:cs typeface="Arial"/>
              </a:defRPr>
            </a:defPPr>
          </a:lstStyle>
          <a:p xmlns:a="http://schemas.openxmlformats.org/drawingml/2006/main">
            <a:pPr algn="r">
              <a:lnSpc>
                <a:spcPct val="105000"/>
              </a:lnSpc>
              <a:buNone/>
              <a:defRPr sz="1200" b="0">
                <a:solidFill>
                  <a:srgbClr val="65766E"/>
                </a:solidFill>
                <a:latin typeface="Arial"/>
                <a:ea typeface="Arial"/>
                <a:cs typeface="Arial"/>
              </a:defRPr>
            </a:pPr>
            <a:r>
              <a:rPr sz="1200" b="0">
                <a:solidFill>
                  <a:srgbClr val="65766E"/>
                </a:solidFill>
                <a:latin typeface="Arial"/>
                <a:ea typeface="Arial"/>
                <a:cs typeface="Arial"/>
              </a:rPr>
              <a:t>05</a:t>
            </a:r>
          </a:p>
        </p:txBody>
      </p:sp>
      <p:sp>
        <p:nvSpPr>
          <p:cNvPr id="5" name="transform-value-0">
            <a:extLst xmlns:a="http://schemas.openxmlformats.org/drawingml/2006/main">
              <a:ext uri="{FF2B5EF4-FFF2-40B4-BE49-F238E27FC236}">
                <a16:creationId xmlns:a16="http://schemas.microsoft.com/office/drawing/2014/main" id="{1F0D7233-F7D6-4D2C-AE1A-BFAFDB92A650}"/>
              </a:ext>
            </a:extLst>
          </p:cNvPr>
          <p:cNvSpPr>
            <a:spLocks xmlns:a="http://schemas.openxmlformats.org/drawingml/2006/main" noGrp="1"/>
          </p:cNvSpPr>
          <p:nvPr/>
        </p:nvSpPr>
        <p:spPr>
          <a:xfrm xmlns:a="http://schemas.openxmlformats.org/drawingml/2006/main">
            <a:off x="781050" y="2724150"/>
            <a:ext cx="23241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300" b="1">
                <a:solidFill>
                  <a:srgbClr val="23352F"/>
                </a:solidFill>
                <a:latin typeface="Arial"/>
                <a:ea typeface="Arial"/>
                <a:cs typeface="Arial"/>
              </a:defRPr>
            </a:defPPr>
          </a:lstStyle>
          <a:p xmlns:a="http://schemas.openxmlformats.org/drawingml/2006/main">
            <a:pPr algn="l">
              <a:lnSpc>
                <a:spcPct val="105000"/>
              </a:lnSpc>
              <a:buNone/>
              <a:defRPr sz="3300" b="1">
                <a:solidFill>
                  <a:srgbClr val="23352F"/>
                </a:solidFill>
                <a:latin typeface="Arial"/>
                <a:ea typeface="Arial"/>
                <a:cs typeface="Arial"/>
              </a:defRPr>
            </a:pPr>
            <a:r>
              <a:rPr sz="3300" b="1">
                <a:solidFill>
                  <a:srgbClr val="23352F"/>
                </a:solidFill>
                <a:latin typeface="Arial"/>
                <a:ea typeface="Arial"/>
                <a:cs typeface="Arial"/>
              </a:rPr>
              <a:t>34,710</a:t>
            </a:r>
          </a:p>
        </p:txBody>
      </p:sp>
      <p:sp>
        <p:nvSpPr>
          <p:cNvPr id="6" name="transform-label-0">
            <a:extLst xmlns:a="http://schemas.openxmlformats.org/drawingml/2006/main">
              <a:ext uri="{FF2B5EF4-FFF2-40B4-BE49-F238E27FC236}">
                <a16:creationId xmlns:a16="http://schemas.microsoft.com/office/drawing/2014/main" id="{B4964AAD-206B-45C4-8BD3-F1547705B0E7}"/>
              </a:ext>
            </a:extLst>
          </p:cNvPr>
          <p:cNvSpPr>
            <a:spLocks xmlns:a="http://schemas.openxmlformats.org/drawingml/2006/main" noGrp="1"/>
          </p:cNvSpPr>
          <p:nvPr/>
        </p:nvSpPr>
        <p:spPr>
          <a:xfrm xmlns:a="http://schemas.openxmlformats.org/drawingml/2006/main">
            <a:off x="781050" y="3448050"/>
            <a:ext cx="22288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65766E"/>
                </a:solidFill>
                <a:latin typeface="Arial"/>
                <a:ea typeface="Arial"/>
                <a:cs typeface="Arial"/>
              </a:defRPr>
            </a:defPPr>
          </a:lstStyle>
          <a:p xmlns:a="http://schemas.openxmlformats.org/drawingml/2006/main">
            <a:pPr algn="l">
              <a:lnSpc>
                <a:spcPct val="105000"/>
              </a:lnSpc>
              <a:buNone/>
              <a:defRPr sz="1575" b="0">
                <a:solidFill>
                  <a:srgbClr val="65766E"/>
                </a:solidFill>
                <a:latin typeface="Arial"/>
                <a:ea typeface="Arial"/>
                <a:cs typeface="Arial"/>
              </a:defRPr>
            </a:pPr>
            <a:r>
              <a:rPr sz="1575" b="0">
                <a:solidFill>
                  <a:srgbClr val="65766E"/>
                </a:solidFill>
                <a:latin typeface="Arial"/>
                <a:ea typeface="Arial"/>
                <a:cs typeface="Arial"/>
              </a:rPr>
              <a:t>source parameter-year rows</a:t>
            </a:r>
          </a:p>
        </p:txBody>
      </p:sp>
      <p:sp>
        <p:nvSpPr>
          <p:cNvPr id="7" name="transform-connector-0">
            <a:extLst xmlns:a="http://schemas.openxmlformats.org/drawingml/2006/main">
              <a:ext uri="{FF2B5EF4-FFF2-40B4-BE49-F238E27FC236}">
                <a16:creationId xmlns:a16="http://schemas.microsoft.com/office/drawing/2014/main" id="{BF2D6EF3-D65E-41ED-B2F8-9F1601D0943A}"/>
              </a:ext>
            </a:extLst>
          </p:cNvPr>
          <p:cNvSpPr>
            <a:spLocks xmlns:a="http://schemas.openxmlformats.org/drawingml/2006/main" noGrp="1"/>
          </p:cNvSpPr>
          <p:nvPr/>
        </p:nvSpPr>
        <p:spPr>
          <a:xfrm xmlns:a="http://schemas.openxmlformats.org/drawingml/2006/main">
            <a:off x="3086100" y="3076575"/>
            <a:ext cx="247650" cy="0"/>
          </a:xfrm>
          <a:prstGeom xmlns:a="http://schemas.openxmlformats.org/drawingml/2006/main" prst="line">
            <a:avLst/>
          </a:prstGeom>
          <a:noFill xmlns:a="http://schemas.openxmlformats.org/drawingml/2006/main"/>
          <a:ln xmlns:a="http://schemas.openxmlformats.org/drawingml/2006/main" w="19050">
            <a:solidFill>
              <a:srgbClr val="A9BBAF"/>
            </a:solidFill>
            <a:prstDash val="solid"/>
          </a:ln>
        </p:spPr>
      </p:sp>
      <p:sp>
        <p:nvSpPr>
          <p:cNvPr id="8" name="transform-value-1">
            <a:extLst xmlns:a="http://schemas.openxmlformats.org/drawingml/2006/main">
              <a:ext uri="{FF2B5EF4-FFF2-40B4-BE49-F238E27FC236}">
                <a16:creationId xmlns:a16="http://schemas.microsoft.com/office/drawing/2014/main" id="{F760BE62-0A1D-4DF3-98E3-A86B1451FD02}"/>
              </a:ext>
            </a:extLst>
          </p:cNvPr>
          <p:cNvSpPr>
            <a:spLocks xmlns:a="http://schemas.openxmlformats.org/drawingml/2006/main" noGrp="1"/>
          </p:cNvSpPr>
          <p:nvPr/>
        </p:nvSpPr>
        <p:spPr>
          <a:xfrm xmlns:a="http://schemas.openxmlformats.org/drawingml/2006/main">
            <a:off x="3524250" y="2724150"/>
            <a:ext cx="23241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300" b="1">
                <a:solidFill>
                  <a:srgbClr val="23352F"/>
                </a:solidFill>
                <a:latin typeface="Arial"/>
                <a:ea typeface="Arial"/>
                <a:cs typeface="Arial"/>
              </a:defRPr>
            </a:defPPr>
          </a:lstStyle>
          <a:p xmlns:a="http://schemas.openxmlformats.org/drawingml/2006/main">
            <a:pPr algn="l">
              <a:lnSpc>
                <a:spcPct val="105000"/>
              </a:lnSpc>
              <a:buNone/>
              <a:defRPr sz="3300" b="1">
                <a:solidFill>
                  <a:srgbClr val="23352F"/>
                </a:solidFill>
                <a:latin typeface="Arial"/>
                <a:ea typeface="Arial"/>
                <a:cs typeface="Arial"/>
              </a:defRPr>
            </a:pPr>
            <a:r>
              <a:rPr sz="3300" b="1">
                <a:solidFill>
                  <a:srgbClr val="23352F"/>
                </a:solidFill>
                <a:latin typeface="Arial"/>
                <a:ea typeface="Arial"/>
                <a:cs typeface="Arial"/>
              </a:rPr>
              <a:t>416,520</a:t>
            </a:r>
          </a:p>
        </p:txBody>
      </p:sp>
      <p:sp>
        <p:nvSpPr>
          <p:cNvPr id="9" name="transform-label-1">
            <a:extLst xmlns:a="http://schemas.openxmlformats.org/drawingml/2006/main">
              <a:ext uri="{FF2B5EF4-FFF2-40B4-BE49-F238E27FC236}">
                <a16:creationId xmlns:a16="http://schemas.microsoft.com/office/drawing/2014/main" id="{305731D4-AA91-4330-90B8-09DBA9AE872C}"/>
              </a:ext>
            </a:extLst>
          </p:cNvPr>
          <p:cNvSpPr>
            <a:spLocks xmlns:a="http://schemas.openxmlformats.org/drawingml/2006/main" noGrp="1"/>
          </p:cNvSpPr>
          <p:nvPr/>
        </p:nvSpPr>
        <p:spPr>
          <a:xfrm xmlns:a="http://schemas.openxmlformats.org/drawingml/2006/main">
            <a:off x="3524250" y="3448050"/>
            <a:ext cx="22288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65766E"/>
                </a:solidFill>
                <a:latin typeface="Arial"/>
                <a:ea typeface="Arial"/>
                <a:cs typeface="Arial"/>
              </a:defRPr>
            </a:defPPr>
          </a:lstStyle>
          <a:p xmlns:a="http://schemas.openxmlformats.org/drawingml/2006/main">
            <a:pPr algn="l">
              <a:lnSpc>
                <a:spcPct val="105000"/>
              </a:lnSpc>
              <a:buNone/>
              <a:defRPr sz="1575" b="0">
                <a:solidFill>
                  <a:srgbClr val="65766E"/>
                </a:solidFill>
                <a:latin typeface="Arial"/>
                <a:ea typeface="Arial"/>
                <a:cs typeface="Arial"/>
              </a:defRPr>
            </a:pPr>
            <a:r>
              <a:rPr sz="1575" b="0">
                <a:solidFill>
                  <a:srgbClr val="65766E"/>
                </a:solidFill>
                <a:latin typeface="Arial"/>
                <a:ea typeface="Arial"/>
                <a:cs typeface="Arial"/>
              </a:rPr>
              <a:t>point-parameter-month rows</a:t>
            </a:r>
          </a:p>
        </p:txBody>
      </p:sp>
      <p:sp>
        <p:nvSpPr>
          <p:cNvPr id="10" name="transform-connector-1">
            <a:extLst xmlns:a="http://schemas.openxmlformats.org/drawingml/2006/main">
              <a:ext uri="{FF2B5EF4-FFF2-40B4-BE49-F238E27FC236}">
                <a16:creationId xmlns:a16="http://schemas.microsoft.com/office/drawing/2014/main" id="{6F853DE9-8966-4D92-8128-8DBBD29AA22F}"/>
              </a:ext>
            </a:extLst>
          </p:cNvPr>
          <p:cNvSpPr>
            <a:spLocks xmlns:a="http://schemas.openxmlformats.org/drawingml/2006/main" noGrp="1"/>
          </p:cNvSpPr>
          <p:nvPr/>
        </p:nvSpPr>
        <p:spPr>
          <a:xfrm xmlns:a="http://schemas.openxmlformats.org/drawingml/2006/main">
            <a:off x="5829300" y="3076575"/>
            <a:ext cx="247650" cy="0"/>
          </a:xfrm>
          <a:prstGeom xmlns:a="http://schemas.openxmlformats.org/drawingml/2006/main" prst="line">
            <a:avLst/>
          </a:prstGeom>
          <a:noFill xmlns:a="http://schemas.openxmlformats.org/drawingml/2006/main"/>
          <a:ln xmlns:a="http://schemas.openxmlformats.org/drawingml/2006/main" w="19050">
            <a:solidFill>
              <a:srgbClr val="A9BBAF"/>
            </a:solidFill>
            <a:prstDash val="solid"/>
          </a:ln>
        </p:spPr>
      </p:sp>
      <p:sp>
        <p:nvSpPr>
          <p:cNvPr id="11" name="transform-value-2">
            <a:extLst xmlns:a="http://schemas.openxmlformats.org/drawingml/2006/main">
              <a:ext uri="{FF2B5EF4-FFF2-40B4-BE49-F238E27FC236}">
                <a16:creationId xmlns:a16="http://schemas.microsoft.com/office/drawing/2014/main" id="{99051EB3-9144-4DAA-B36C-1A23C2620DB7}"/>
              </a:ext>
            </a:extLst>
          </p:cNvPr>
          <p:cNvSpPr>
            <a:spLocks xmlns:a="http://schemas.openxmlformats.org/drawingml/2006/main" noGrp="1"/>
          </p:cNvSpPr>
          <p:nvPr/>
        </p:nvSpPr>
        <p:spPr>
          <a:xfrm xmlns:a="http://schemas.openxmlformats.org/drawingml/2006/main">
            <a:off x="6267450" y="2724150"/>
            <a:ext cx="23241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300" b="1">
                <a:solidFill>
                  <a:srgbClr val="23352F"/>
                </a:solidFill>
                <a:latin typeface="Arial"/>
                <a:ea typeface="Arial"/>
                <a:cs typeface="Arial"/>
              </a:defRPr>
            </a:defPPr>
          </a:lstStyle>
          <a:p xmlns:a="http://schemas.openxmlformats.org/drawingml/2006/main">
            <a:pPr algn="l">
              <a:lnSpc>
                <a:spcPct val="105000"/>
              </a:lnSpc>
              <a:buNone/>
              <a:defRPr sz="3300" b="1">
                <a:solidFill>
                  <a:srgbClr val="23352F"/>
                </a:solidFill>
                <a:latin typeface="Arial"/>
                <a:ea typeface="Arial"/>
                <a:cs typeface="Arial"/>
              </a:defRPr>
            </a:pPr>
            <a:r>
              <a:rPr sz="3300" b="1">
                <a:solidFill>
                  <a:srgbClr val="23352F"/>
                </a:solidFill>
                <a:latin typeface="Arial"/>
                <a:ea typeface="Arial"/>
                <a:cs typeface="Arial"/>
              </a:rPr>
              <a:t>27,768</a:t>
            </a:r>
          </a:p>
        </p:txBody>
      </p:sp>
      <p:sp>
        <p:nvSpPr>
          <p:cNvPr id="12" name="transform-label-2">
            <a:extLst xmlns:a="http://schemas.openxmlformats.org/drawingml/2006/main">
              <a:ext uri="{FF2B5EF4-FFF2-40B4-BE49-F238E27FC236}">
                <a16:creationId xmlns:a16="http://schemas.microsoft.com/office/drawing/2014/main" id="{0D6F0C4B-1D2B-45B1-85A9-BA24F638FF07}"/>
              </a:ext>
            </a:extLst>
          </p:cNvPr>
          <p:cNvSpPr>
            <a:spLocks xmlns:a="http://schemas.openxmlformats.org/drawingml/2006/main" noGrp="1"/>
          </p:cNvSpPr>
          <p:nvPr/>
        </p:nvSpPr>
        <p:spPr>
          <a:xfrm xmlns:a="http://schemas.openxmlformats.org/drawingml/2006/main">
            <a:off x="6267450" y="3448050"/>
            <a:ext cx="22288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65766E"/>
                </a:solidFill>
                <a:latin typeface="Arial"/>
                <a:ea typeface="Arial"/>
                <a:cs typeface="Arial"/>
              </a:defRPr>
            </a:defPPr>
          </a:lstStyle>
          <a:p xmlns:a="http://schemas.openxmlformats.org/drawingml/2006/main">
            <a:pPr algn="l">
              <a:lnSpc>
                <a:spcPct val="105000"/>
              </a:lnSpc>
              <a:buNone/>
              <a:defRPr sz="1575" b="0">
                <a:solidFill>
                  <a:srgbClr val="65766E"/>
                </a:solidFill>
                <a:latin typeface="Arial"/>
                <a:ea typeface="Arial"/>
                <a:cs typeface="Arial"/>
              </a:defRPr>
            </a:pPr>
            <a:r>
              <a:rPr sz="1575" b="0">
                <a:solidFill>
                  <a:srgbClr val="65766E"/>
                </a:solidFill>
                <a:latin typeface="Arial"/>
                <a:ea typeface="Arial"/>
                <a:cs typeface="Arial"/>
              </a:rPr>
              <a:t>point-month rows</a:t>
            </a:r>
          </a:p>
        </p:txBody>
      </p:sp>
      <p:sp>
        <p:nvSpPr>
          <p:cNvPr id="13" name="transform-connector-2">
            <a:extLst xmlns:a="http://schemas.openxmlformats.org/drawingml/2006/main">
              <a:ext uri="{FF2B5EF4-FFF2-40B4-BE49-F238E27FC236}">
                <a16:creationId xmlns:a16="http://schemas.microsoft.com/office/drawing/2014/main" id="{BD45DE97-7918-4A0E-8F5D-D0FD0A6F2E97}"/>
              </a:ext>
            </a:extLst>
          </p:cNvPr>
          <p:cNvSpPr>
            <a:spLocks xmlns:a="http://schemas.openxmlformats.org/drawingml/2006/main" noGrp="1"/>
          </p:cNvSpPr>
          <p:nvPr/>
        </p:nvSpPr>
        <p:spPr>
          <a:xfrm xmlns:a="http://schemas.openxmlformats.org/drawingml/2006/main">
            <a:off x="8572500" y="3076575"/>
            <a:ext cx="247650" cy="0"/>
          </a:xfrm>
          <a:prstGeom xmlns:a="http://schemas.openxmlformats.org/drawingml/2006/main" prst="line">
            <a:avLst/>
          </a:prstGeom>
          <a:noFill xmlns:a="http://schemas.openxmlformats.org/drawingml/2006/main"/>
          <a:ln xmlns:a="http://schemas.openxmlformats.org/drawingml/2006/main" w="19050">
            <a:solidFill>
              <a:srgbClr val="A9BBAF"/>
            </a:solidFill>
            <a:prstDash val="solid"/>
          </a:ln>
        </p:spPr>
      </p:sp>
      <p:sp>
        <p:nvSpPr>
          <p:cNvPr id="14" name="transform-value-3">
            <a:extLst xmlns:a="http://schemas.openxmlformats.org/drawingml/2006/main">
              <a:ext uri="{FF2B5EF4-FFF2-40B4-BE49-F238E27FC236}">
                <a16:creationId xmlns:a16="http://schemas.microsoft.com/office/drawing/2014/main" id="{37C6971D-B0F4-40A3-88F5-3E5D4367EE43}"/>
              </a:ext>
            </a:extLst>
          </p:cNvPr>
          <p:cNvSpPr>
            <a:spLocks xmlns:a="http://schemas.openxmlformats.org/drawingml/2006/main" noGrp="1"/>
          </p:cNvSpPr>
          <p:nvPr/>
        </p:nvSpPr>
        <p:spPr>
          <a:xfrm xmlns:a="http://schemas.openxmlformats.org/drawingml/2006/main">
            <a:off x="9010650" y="2724150"/>
            <a:ext cx="23241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300" b="1">
                <a:solidFill>
                  <a:srgbClr val="45665A"/>
                </a:solidFill>
                <a:latin typeface="Arial"/>
                <a:ea typeface="Arial"/>
                <a:cs typeface="Arial"/>
              </a:defRPr>
            </a:defPPr>
          </a:lstStyle>
          <a:p xmlns:a="http://schemas.openxmlformats.org/drawingml/2006/main">
            <a:pPr algn="l">
              <a:lnSpc>
                <a:spcPct val="105000"/>
              </a:lnSpc>
              <a:buNone/>
              <a:defRPr sz="3300" b="1">
                <a:solidFill>
                  <a:srgbClr val="45665A"/>
                </a:solidFill>
                <a:latin typeface="Arial"/>
                <a:ea typeface="Arial"/>
                <a:cs typeface="Arial"/>
              </a:defRPr>
            </a:pPr>
            <a:r>
              <a:rPr sz="3300" b="1">
                <a:solidFill>
                  <a:srgbClr val="45665A"/>
                </a:solidFill>
                <a:latin typeface="Arial"/>
                <a:ea typeface="Arial"/>
                <a:cs typeface="Arial"/>
              </a:rPr>
              <a:t>2,496</a:t>
            </a:r>
          </a:p>
        </p:txBody>
      </p:sp>
      <p:sp>
        <p:nvSpPr>
          <p:cNvPr id="15" name="transform-label-3">
            <a:extLst xmlns:a="http://schemas.openxmlformats.org/drawingml/2006/main">
              <a:ext uri="{FF2B5EF4-FFF2-40B4-BE49-F238E27FC236}">
                <a16:creationId xmlns:a16="http://schemas.microsoft.com/office/drawing/2014/main" id="{4D4DA1E2-9B31-47F7-BD82-D5B5F0B039FE}"/>
              </a:ext>
            </a:extLst>
          </p:cNvPr>
          <p:cNvSpPr>
            <a:spLocks xmlns:a="http://schemas.openxmlformats.org/drawingml/2006/main" noGrp="1"/>
          </p:cNvSpPr>
          <p:nvPr/>
        </p:nvSpPr>
        <p:spPr>
          <a:xfrm xmlns:a="http://schemas.openxmlformats.org/drawingml/2006/main">
            <a:off x="9010650" y="3448050"/>
            <a:ext cx="22288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65766E"/>
                </a:solidFill>
                <a:latin typeface="Arial"/>
                <a:ea typeface="Arial"/>
                <a:cs typeface="Arial"/>
              </a:defRPr>
            </a:defPPr>
          </a:lstStyle>
          <a:p xmlns:a="http://schemas.openxmlformats.org/drawingml/2006/main">
            <a:pPr algn="l">
              <a:lnSpc>
                <a:spcPct val="105000"/>
              </a:lnSpc>
              <a:buNone/>
              <a:defRPr sz="1575" b="0">
                <a:solidFill>
                  <a:srgbClr val="65766E"/>
                </a:solidFill>
                <a:latin typeface="Arial"/>
                <a:ea typeface="Arial"/>
                <a:cs typeface="Arial"/>
              </a:defRPr>
            </a:pPr>
            <a:r>
              <a:rPr sz="1575" b="0">
                <a:solidFill>
                  <a:srgbClr val="65766E"/>
                </a:solidFill>
                <a:latin typeface="Arial"/>
                <a:ea typeface="Arial"/>
                <a:cs typeface="Arial"/>
              </a:rPr>
              <a:t>city-month rows</a:t>
            </a:r>
          </a:p>
        </p:txBody>
      </p:sp>
      <p:sp>
        <p:nvSpPr>
          <p:cNvPr id="16" name="transform-grain">
            <a:extLst xmlns:a="http://schemas.openxmlformats.org/drawingml/2006/main">
              <a:ext uri="{FF2B5EF4-FFF2-40B4-BE49-F238E27FC236}">
                <a16:creationId xmlns:a16="http://schemas.microsoft.com/office/drawing/2014/main" id="{F25E83D0-B19E-474B-8240-97A07FDEE3E3}"/>
              </a:ext>
            </a:extLst>
          </p:cNvPr>
          <p:cNvSpPr>
            <a:spLocks xmlns:a="http://schemas.openxmlformats.org/drawingml/2006/main" noGrp="1"/>
          </p:cNvSpPr>
          <p:nvPr/>
        </p:nvSpPr>
        <p:spPr>
          <a:xfrm xmlns:a="http://schemas.openxmlformats.org/drawingml/2006/main">
            <a:off x="781050" y="4800600"/>
            <a:ext cx="9525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00" b="1">
                <a:solidFill>
                  <a:srgbClr val="23352F"/>
                </a:solidFill>
                <a:latin typeface="Arial"/>
                <a:ea typeface="Arial"/>
                <a:cs typeface="Arial"/>
              </a:defRPr>
            </a:defPPr>
          </a:lstStyle>
          <a:p xmlns:a="http://schemas.openxmlformats.org/drawingml/2006/main">
            <a:pPr algn="l">
              <a:lnSpc>
                <a:spcPct val="105000"/>
              </a:lnSpc>
              <a:buNone/>
              <a:defRPr sz="2100" b="1">
                <a:solidFill>
                  <a:srgbClr val="23352F"/>
                </a:solidFill>
                <a:latin typeface="Arial"/>
                <a:ea typeface="Arial"/>
                <a:cs typeface="Arial"/>
              </a:defRPr>
            </a:pPr>
            <a:r>
              <a:rPr sz="2100" b="1">
                <a:solidFill>
                  <a:srgbClr val="23352F"/>
                </a:solidFill>
                <a:latin typeface="Arial"/>
                <a:ea typeface="Arial"/>
                <a:cs typeface="Arial"/>
              </a:rPr>
              <a:t>The final row grain is one city and one month.</a:t>
            </a:r>
          </a:p>
        </p:txBody>
      </p:sp>
    </p:spTree>
    <p:extLst>
      <p:ext uri="{BB962C8B-B14F-4D97-AF65-F5344CB8AC3E}">
        <p14:creationId xmlns:p14="http://schemas.microsoft.com/office/powerpoint/2010/main" val="796879600"/>
      </p:ext>
    </p:extLst>
  </p:cSld>
</p:sld>
</file>

<file path=ppt/slides/slide6.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D9B2EEF0-EBD3-4F82-87BE-3D9B7043488D}"/>
              </a:ext>
            </a:extLst>
          </p:cNvPr>
          <p:cNvSpPr>
            <a:spLocks xmlns:a="http://schemas.openxmlformats.org/drawingml/2006/main" noGrp="1"/>
          </p:cNvSpPr>
          <p:nvPr/>
        </p:nvSpPr>
        <p:spPr>
          <a:xfrm xmlns:a="http://schemas.openxmlformats.org/drawingml/2006/main">
            <a:off x="723900" y="533400"/>
            <a:ext cx="10744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300" b="1">
                <a:solidFill>
                  <a:srgbClr val="23352F"/>
                </a:solidFill>
                <a:latin typeface="Arial"/>
                <a:ea typeface="Arial"/>
                <a:cs typeface="Arial"/>
              </a:defRPr>
            </a:defPPr>
          </a:lstStyle>
          <a:p xmlns:a="http://schemas.openxmlformats.org/drawingml/2006/main">
            <a:pPr algn="l">
              <a:lnSpc>
                <a:spcPct val="105000"/>
              </a:lnSpc>
              <a:buNone/>
              <a:defRPr sz="3300" b="1">
                <a:solidFill>
                  <a:srgbClr val="23352F"/>
                </a:solidFill>
                <a:latin typeface="Arial"/>
                <a:ea typeface="Arial"/>
                <a:cs typeface="Arial"/>
              </a:defRPr>
            </a:pPr>
            <a:r>
              <a:rPr sz="3300" b="1">
                <a:solidFill>
                  <a:srgbClr val="23352F"/>
                </a:solidFill>
                <a:latin typeface="Arial"/>
                <a:ea typeface="Arial"/>
                <a:cs typeface="Arial"/>
              </a:rPr>
              <a:t>Many points become one city value</a:t>
            </a:r>
          </a:p>
        </p:txBody>
      </p:sp>
      <p:sp>
        <p:nvSpPr>
          <p:cNvPr id="2" name="slide-subtitle">
            <a:extLst xmlns:a="http://schemas.openxmlformats.org/drawingml/2006/main">
              <a:ext uri="{FF2B5EF4-FFF2-40B4-BE49-F238E27FC236}">
                <a16:creationId xmlns:a16="http://schemas.microsoft.com/office/drawing/2014/main" id="{9BA1FD2F-5B47-4C35-A400-93D376C3A1B8}"/>
              </a:ext>
            </a:extLst>
          </p:cNvPr>
          <p:cNvSpPr>
            <a:spLocks xmlns:a="http://schemas.openxmlformats.org/drawingml/2006/main" noGrp="1"/>
          </p:cNvSpPr>
          <p:nvPr/>
        </p:nvSpPr>
        <p:spPr>
          <a:xfrm xmlns:a="http://schemas.openxmlformats.org/drawingml/2006/main">
            <a:off x="742950" y="1200150"/>
            <a:ext cx="1047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65766E"/>
                </a:solidFill>
                <a:latin typeface="Arial"/>
                <a:ea typeface="Arial"/>
                <a:cs typeface="Arial"/>
              </a:defRPr>
            </a:defPPr>
          </a:lstStyle>
          <a:p xmlns:a="http://schemas.openxmlformats.org/drawingml/2006/main">
            <a:pPr algn="l">
              <a:lnSpc>
                <a:spcPct val="105000"/>
              </a:lnSpc>
              <a:buNone/>
              <a:defRPr sz="1725" b="0">
                <a:solidFill>
                  <a:srgbClr val="65766E"/>
                </a:solidFill>
                <a:latin typeface="Arial"/>
                <a:ea typeface="Arial"/>
                <a:cs typeface="Arial"/>
              </a:defRPr>
            </a:pPr>
            <a:r>
              <a:rPr sz="1725" b="0">
                <a:solidFill>
                  <a:srgbClr val="65766E"/>
                </a:solidFill>
                <a:latin typeface="Arial"/>
                <a:ea typeface="Arial"/>
                <a:cs typeface="Arial"/>
              </a:rPr>
              <a:t>The pipeline gives each available point equal weight for the same month.</a:t>
            </a:r>
          </a:p>
        </p:txBody>
      </p:sp>
      <p:sp>
        <p:nvSpPr>
          <p:cNvPr id="3" name="title-rule">
            <a:extLst xmlns:a="http://schemas.openxmlformats.org/drawingml/2006/main">
              <a:ext uri="{FF2B5EF4-FFF2-40B4-BE49-F238E27FC236}">
                <a16:creationId xmlns:a16="http://schemas.microsoft.com/office/drawing/2014/main" id="{9A6DA2BA-18A4-4C24-A20D-5B30E5334722}"/>
              </a:ext>
            </a:extLst>
          </p:cNvPr>
          <p:cNvSpPr>
            <a:spLocks xmlns:a="http://schemas.openxmlformats.org/drawingml/2006/main" noGrp="1"/>
          </p:cNvSpPr>
          <p:nvPr/>
        </p:nvSpPr>
        <p:spPr>
          <a:xfrm xmlns:a="http://schemas.openxmlformats.org/drawingml/2006/main">
            <a:off x="742950" y="1752600"/>
            <a:ext cx="10706100" cy="0"/>
          </a:xfrm>
          <a:prstGeom xmlns:a="http://schemas.openxmlformats.org/drawingml/2006/main" prst="line">
            <a:avLst/>
          </a:prstGeom>
          <a:noFill xmlns:a="http://schemas.openxmlformats.org/drawingml/2006/main"/>
          <a:ln xmlns:a="http://schemas.openxmlformats.org/drawingml/2006/main" w="12383">
            <a:solidFill>
              <a:srgbClr val="D7E0DA"/>
            </a:solidFill>
            <a:prstDash val="solid"/>
          </a:ln>
        </p:spPr>
      </p:sp>
      <p:sp>
        <p:nvSpPr>
          <p:cNvPr id="4" name="page-number">
            <a:extLst xmlns:a="http://schemas.openxmlformats.org/drawingml/2006/main">
              <a:ext uri="{FF2B5EF4-FFF2-40B4-BE49-F238E27FC236}">
                <a16:creationId xmlns:a16="http://schemas.microsoft.com/office/drawing/2014/main" id="{07E5B3C7-941A-4DFC-911C-3FE65BA03437}"/>
              </a:ext>
            </a:extLst>
          </p:cNvPr>
          <p:cNvSpPr>
            <a:spLocks xmlns:a="http://schemas.openxmlformats.org/drawingml/2006/main" noGrp="1"/>
          </p:cNvSpPr>
          <p:nvPr/>
        </p:nvSpPr>
        <p:spPr>
          <a:xfrm xmlns:a="http://schemas.openxmlformats.org/drawingml/2006/main">
            <a:off x="11049000" y="640080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9206"/>
          </a:bodyPr>
          <a:lstStyle xmlns:a="http://schemas.openxmlformats.org/drawingml/2006/main">
            <a:defPPr algn="r">
              <a:defRPr sz="1200" b="0">
                <a:solidFill>
                  <a:srgbClr val="65766E"/>
                </a:solidFill>
                <a:latin typeface="Arial"/>
                <a:ea typeface="Arial"/>
                <a:cs typeface="Arial"/>
              </a:defRPr>
            </a:defPPr>
          </a:lstStyle>
          <a:p xmlns:a="http://schemas.openxmlformats.org/drawingml/2006/main">
            <a:pPr algn="r">
              <a:lnSpc>
                <a:spcPct val="105000"/>
              </a:lnSpc>
              <a:buNone/>
              <a:defRPr sz="1200" b="0">
                <a:solidFill>
                  <a:srgbClr val="65766E"/>
                </a:solidFill>
                <a:latin typeface="Arial"/>
                <a:ea typeface="Arial"/>
                <a:cs typeface="Arial"/>
              </a:defRPr>
            </a:pPr>
            <a:r>
              <a:rPr sz="1200" b="0">
                <a:solidFill>
                  <a:srgbClr val="65766E"/>
                </a:solidFill>
                <a:latin typeface="Arial"/>
                <a:ea typeface="Arial"/>
                <a:cs typeface="Arial"/>
              </a:rPr>
              <a:t>06</a:t>
            </a:r>
          </a:p>
        </p:txBody>
      </p:sp>
      <p:sp>
        <p:nvSpPr>
          <p:cNvPr id="5" name="aggregation-example-label">
            <a:extLst xmlns:a="http://schemas.openxmlformats.org/drawingml/2006/main">
              <a:ext uri="{FF2B5EF4-FFF2-40B4-BE49-F238E27FC236}">
                <a16:creationId xmlns:a16="http://schemas.microsoft.com/office/drawing/2014/main" id="{801FFBAB-1A5A-480E-8BAC-A24C7D34D2C9}"/>
              </a:ext>
            </a:extLst>
          </p:cNvPr>
          <p:cNvSpPr>
            <a:spLocks xmlns:a="http://schemas.openxmlformats.org/drawingml/2006/main" noGrp="1"/>
          </p:cNvSpPr>
          <p:nvPr/>
        </p:nvSpPr>
        <p:spPr>
          <a:xfrm xmlns:a="http://schemas.openxmlformats.org/drawingml/2006/main">
            <a:off x="781050" y="220980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45665A"/>
                </a:solidFill>
                <a:latin typeface="Arial"/>
                <a:ea typeface="Arial"/>
                <a:cs typeface="Arial"/>
              </a:defRPr>
            </a:defPPr>
          </a:lstStyle>
          <a:p xmlns:a="http://schemas.openxmlformats.org/drawingml/2006/main">
            <a:pPr algn="l">
              <a:lnSpc>
                <a:spcPct val="105000"/>
              </a:lnSpc>
              <a:buNone/>
              <a:defRPr sz="1200" b="1">
                <a:solidFill>
                  <a:srgbClr val="45665A"/>
                </a:solidFill>
                <a:latin typeface="Arial"/>
                <a:ea typeface="Arial"/>
                <a:cs typeface="Arial"/>
              </a:defRPr>
            </a:pPr>
            <a:r>
              <a:rPr sz="1200" b="1">
                <a:solidFill>
                  <a:srgbClr val="45665A"/>
                </a:solidFill>
                <a:latin typeface="Arial"/>
                <a:ea typeface="Arial"/>
                <a:cs typeface="Arial"/>
              </a:rPr>
              <a:t>AHMEDABAD · JANUARY 2000</a:t>
            </a:r>
          </a:p>
        </p:txBody>
      </p:sp>
      <p:sp>
        <p:nvSpPr>
          <p:cNvPr id="6" name="aggregation-points">
            <a:extLst xmlns:a="http://schemas.openxmlformats.org/drawingml/2006/main">
              <a:ext uri="{FF2B5EF4-FFF2-40B4-BE49-F238E27FC236}">
                <a16:creationId xmlns:a16="http://schemas.microsoft.com/office/drawing/2014/main" id="{1A99F7F1-D8F6-49B7-BF16-3682763F085C}"/>
              </a:ext>
            </a:extLst>
          </p:cNvPr>
          <p:cNvSpPr>
            <a:spLocks xmlns:a="http://schemas.openxmlformats.org/drawingml/2006/main" noGrp="1"/>
          </p:cNvSpPr>
          <p:nvPr/>
        </p:nvSpPr>
        <p:spPr>
          <a:xfrm xmlns:a="http://schemas.openxmlformats.org/drawingml/2006/main">
            <a:off x="781050" y="2714625"/>
            <a:ext cx="4953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225" b="1">
                <a:solidFill>
                  <a:srgbClr val="23352F"/>
                </a:solidFill>
                <a:latin typeface="Arial"/>
                <a:ea typeface="Arial"/>
                <a:cs typeface="Arial"/>
              </a:defRPr>
            </a:defPPr>
          </a:lstStyle>
          <a:p xmlns:a="http://schemas.openxmlformats.org/drawingml/2006/main">
            <a:pPr algn="l">
              <a:lnSpc>
                <a:spcPct val="105000"/>
              </a:lnSpc>
              <a:buNone/>
              <a:defRPr sz="3225" b="1">
                <a:solidFill>
                  <a:srgbClr val="23352F"/>
                </a:solidFill>
                <a:latin typeface="Arial"/>
                <a:ea typeface="Arial"/>
                <a:cs typeface="Arial"/>
              </a:defRPr>
            </a:pPr>
            <a:r>
              <a:rPr sz="3225" b="1">
                <a:solidFill>
                  <a:srgbClr val="23352F"/>
                </a:solidFill>
                <a:latin typeface="Arial"/>
                <a:ea typeface="Arial"/>
                <a:cs typeface="Arial"/>
              </a:rPr>
              <a:t>9 measurement points</a:t>
            </a:r>
          </a:p>
        </p:txBody>
      </p:sp>
      <p:sp>
        <p:nvSpPr>
          <p:cNvPr id="7" name="aggregation-arrow">
            <a:extLst xmlns:a="http://schemas.openxmlformats.org/drawingml/2006/main">
              <a:ext uri="{FF2B5EF4-FFF2-40B4-BE49-F238E27FC236}">
                <a16:creationId xmlns:a16="http://schemas.microsoft.com/office/drawing/2014/main" id="{5A41CED0-75CD-4950-A834-4D5B440CB24E}"/>
              </a:ext>
            </a:extLst>
          </p:cNvPr>
          <p:cNvSpPr>
            <a:spLocks xmlns:a="http://schemas.openxmlformats.org/drawingml/2006/main" noGrp="1"/>
          </p:cNvSpPr>
          <p:nvPr/>
        </p:nvSpPr>
        <p:spPr>
          <a:xfrm xmlns:a="http://schemas.openxmlformats.org/drawingml/2006/main">
            <a:off x="781050" y="3619500"/>
            <a:ext cx="4457700" cy="0"/>
          </a:xfrm>
          <a:prstGeom xmlns:a="http://schemas.openxmlformats.org/drawingml/2006/main" prst="line">
            <a:avLst/>
          </a:prstGeom>
          <a:noFill xmlns:a="http://schemas.openxmlformats.org/drawingml/2006/main"/>
          <a:ln xmlns:a="http://schemas.openxmlformats.org/drawingml/2006/main" w="19050">
            <a:solidFill>
              <a:srgbClr val="A9BBAF"/>
            </a:solidFill>
            <a:prstDash val="solid"/>
          </a:ln>
        </p:spPr>
      </p:sp>
      <p:sp>
        <p:nvSpPr>
          <p:cNvPr id="8" name="aggregation-mean">
            <a:extLst xmlns:a="http://schemas.openxmlformats.org/drawingml/2006/main">
              <a:ext uri="{FF2B5EF4-FFF2-40B4-BE49-F238E27FC236}">
                <a16:creationId xmlns:a16="http://schemas.microsoft.com/office/drawing/2014/main" id="{A8F9BAB3-A069-4577-81DE-4219A3E0EEF4}"/>
              </a:ext>
            </a:extLst>
          </p:cNvPr>
          <p:cNvSpPr>
            <a:spLocks xmlns:a="http://schemas.openxmlformats.org/drawingml/2006/main" noGrp="1"/>
          </p:cNvSpPr>
          <p:nvPr/>
        </p:nvSpPr>
        <p:spPr>
          <a:xfrm xmlns:a="http://schemas.openxmlformats.org/drawingml/2006/main">
            <a:off x="781050" y="3924300"/>
            <a:ext cx="723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700" b="1">
                <a:solidFill>
                  <a:srgbClr val="45665A"/>
                </a:solidFill>
                <a:latin typeface="Arial"/>
                <a:ea typeface="Arial"/>
                <a:cs typeface="Arial"/>
              </a:defRPr>
            </a:defPPr>
          </a:lstStyle>
          <a:p xmlns:a="http://schemas.openxmlformats.org/drawingml/2006/main">
            <a:pPr algn="l">
              <a:lnSpc>
                <a:spcPct val="105000"/>
              </a:lnSpc>
              <a:buNone/>
              <a:defRPr sz="2700" b="1">
                <a:solidFill>
                  <a:srgbClr val="45665A"/>
                </a:solidFill>
                <a:latin typeface="Arial"/>
                <a:ea typeface="Arial"/>
                <a:cs typeface="Arial"/>
              </a:defRPr>
            </a:pPr>
            <a:r>
              <a:rPr sz="2700" b="1">
                <a:solidFill>
                  <a:srgbClr val="45665A"/>
                </a:solidFill>
                <a:latin typeface="Arial"/>
                <a:ea typeface="Arial"/>
                <a:cs typeface="Arial"/>
              </a:rPr>
              <a:t>Mean temperature  =  21.24 °C</a:t>
            </a:r>
          </a:p>
        </p:txBody>
      </p:sp>
      <p:sp>
        <p:nvSpPr>
          <p:cNvPr id="9" name="aggregation-coverage">
            <a:extLst xmlns:a="http://schemas.openxmlformats.org/drawingml/2006/main">
              <a:ext uri="{FF2B5EF4-FFF2-40B4-BE49-F238E27FC236}">
                <a16:creationId xmlns:a16="http://schemas.microsoft.com/office/drawing/2014/main" id="{A613D7FC-89B2-46C9-B0C9-03C3B82289DA}"/>
              </a:ext>
            </a:extLst>
          </p:cNvPr>
          <p:cNvSpPr>
            <a:spLocks xmlns:a="http://schemas.openxmlformats.org/drawingml/2006/main" noGrp="1"/>
          </p:cNvSpPr>
          <p:nvPr/>
        </p:nvSpPr>
        <p:spPr>
          <a:xfrm xmlns:a="http://schemas.openxmlformats.org/drawingml/2006/main">
            <a:off x="800100" y="4743450"/>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65766E"/>
                </a:solidFill>
                <a:latin typeface="Arial"/>
                <a:ea typeface="Arial"/>
                <a:cs typeface="Arial"/>
              </a:defRPr>
            </a:defPPr>
          </a:lstStyle>
          <a:p xmlns:a="http://schemas.openxmlformats.org/drawingml/2006/main">
            <a:pPr algn="l">
              <a:lnSpc>
                <a:spcPct val="105000"/>
              </a:lnSpc>
              <a:buNone/>
              <a:defRPr sz="1725" b="0">
                <a:solidFill>
                  <a:srgbClr val="65766E"/>
                </a:solidFill>
                <a:latin typeface="Arial"/>
                <a:ea typeface="Arial"/>
                <a:cs typeface="Arial"/>
              </a:defRPr>
            </a:pPr>
            <a:r>
              <a:rPr sz="1725" b="0">
                <a:solidFill>
                  <a:srgbClr val="65766E"/>
                </a:solidFill>
                <a:latin typeface="Arial"/>
                <a:ea typeface="Arial"/>
                <a:cs typeface="Arial"/>
              </a:rPr>
              <a:t>Coverage: 9 of 9 points</a:t>
            </a:r>
          </a:p>
        </p:txBody>
      </p:sp>
      <p:sp>
        <p:nvSpPr>
          <p:cNvPr id="10" name="aggregation-formula">
            <a:extLst xmlns:a="http://schemas.openxmlformats.org/drawingml/2006/main">
              <a:ext uri="{FF2B5EF4-FFF2-40B4-BE49-F238E27FC236}">
                <a16:creationId xmlns:a16="http://schemas.microsoft.com/office/drawing/2014/main" id="{4921C22F-59FD-4574-BF7B-71C98B5032B6}"/>
              </a:ext>
            </a:extLst>
          </p:cNvPr>
          <p:cNvSpPr>
            <a:spLocks xmlns:a="http://schemas.openxmlformats.org/drawingml/2006/main" noGrp="1"/>
          </p:cNvSpPr>
          <p:nvPr/>
        </p:nvSpPr>
        <p:spPr>
          <a:xfrm xmlns:a="http://schemas.openxmlformats.org/drawingml/2006/main">
            <a:off x="781050" y="542925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23352F"/>
                </a:solidFill>
                <a:latin typeface="Arial"/>
                <a:ea typeface="Arial"/>
                <a:cs typeface="Arial"/>
              </a:defRPr>
            </a:defPPr>
          </a:lstStyle>
          <a:p xmlns:a="http://schemas.openxmlformats.org/drawingml/2006/main">
            <a:pPr algn="l">
              <a:lnSpc>
                <a:spcPct val="105000"/>
              </a:lnSpc>
              <a:buNone/>
              <a:defRPr sz="1800" b="0">
                <a:solidFill>
                  <a:srgbClr val="23352F"/>
                </a:solidFill>
                <a:latin typeface="Arial"/>
                <a:ea typeface="Arial"/>
                <a:cs typeface="Arial"/>
              </a:defRPr>
            </a:pPr>
            <a:r>
              <a:rPr sz="1800" b="0">
                <a:solidFill>
                  <a:srgbClr val="23352F"/>
                </a:solidFill>
                <a:latin typeface="Arial"/>
                <a:ea typeface="Arial"/>
                <a:cs typeface="Arial"/>
              </a:rPr>
              <a:t>The monthly point values are averaged to create one city-month record.</a:t>
            </a:r>
          </a:p>
        </p:txBody>
      </p:sp>
    </p:spTree>
    <p:extLst>
      <p:ext uri="{BB962C8B-B14F-4D97-AF65-F5344CB8AC3E}">
        <p14:creationId xmlns:p14="http://schemas.microsoft.com/office/powerpoint/2010/main" val="1580819590"/>
      </p:ext>
    </p:extLst>
  </p:cSld>
</p:sld>
</file>

<file path=ppt/slides/slide7.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7E843355-29A7-4C45-BF20-4D5901D2183E}"/>
              </a:ext>
            </a:extLst>
          </p:cNvPr>
          <p:cNvSpPr>
            <a:spLocks xmlns:a="http://schemas.openxmlformats.org/drawingml/2006/main" noGrp="1"/>
          </p:cNvSpPr>
          <p:nvPr/>
        </p:nvSpPr>
        <p:spPr>
          <a:xfrm xmlns:a="http://schemas.openxmlformats.org/drawingml/2006/main">
            <a:off x="723900" y="533400"/>
            <a:ext cx="10744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300" b="1">
                <a:solidFill>
                  <a:srgbClr val="23352F"/>
                </a:solidFill>
                <a:latin typeface="Arial"/>
                <a:ea typeface="Arial"/>
                <a:cs typeface="Arial"/>
              </a:defRPr>
            </a:defPPr>
          </a:lstStyle>
          <a:p xmlns:a="http://schemas.openxmlformats.org/drawingml/2006/main">
            <a:pPr algn="l">
              <a:lnSpc>
                <a:spcPct val="105000"/>
              </a:lnSpc>
              <a:buNone/>
              <a:defRPr sz="3300" b="1">
                <a:solidFill>
                  <a:srgbClr val="23352F"/>
                </a:solidFill>
                <a:latin typeface="Arial"/>
                <a:ea typeface="Arial"/>
                <a:cs typeface="Arial"/>
              </a:defRPr>
            </a:pPr>
            <a:r>
              <a:rPr sz="3300" b="1">
                <a:solidFill>
                  <a:srgbClr val="23352F"/>
                </a:solidFill>
                <a:latin typeface="Arial"/>
                <a:ea typeface="Arial"/>
                <a:cs typeface="Arial"/>
              </a:rPr>
              <a:t>The merged city-month dataset</a:t>
            </a:r>
          </a:p>
        </p:txBody>
      </p:sp>
      <p:sp>
        <p:nvSpPr>
          <p:cNvPr id="2" name="slide-subtitle">
            <a:extLst xmlns:a="http://schemas.openxmlformats.org/drawingml/2006/main">
              <a:ext uri="{FF2B5EF4-FFF2-40B4-BE49-F238E27FC236}">
                <a16:creationId xmlns:a16="http://schemas.microsoft.com/office/drawing/2014/main" id="{09837E95-CDC2-467D-954F-9FC6603103CB}"/>
              </a:ext>
            </a:extLst>
          </p:cNvPr>
          <p:cNvSpPr>
            <a:spLocks xmlns:a="http://schemas.openxmlformats.org/drawingml/2006/main" noGrp="1"/>
          </p:cNvSpPr>
          <p:nvPr/>
        </p:nvSpPr>
        <p:spPr>
          <a:xfrm xmlns:a="http://schemas.openxmlformats.org/drawingml/2006/main">
            <a:off x="742950" y="1200150"/>
            <a:ext cx="1047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65766E"/>
                </a:solidFill>
                <a:latin typeface="Arial"/>
                <a:ea typeface="Arial"/>
                <a:cs typeface="Arial"/>
              </a:defRPr>
            </a:defPPr>
          </a:lstStyle>
          <a:p xmlns:a="http://schemas.openxmlformats.org/drawingml/2006/main">
            <a:pPr algn="l">
              <a:lnSpc>
                <a:spcPct val="105000"/>
              </a:lnSpc>
              <a:buNone/>
              <a:defRPr sz="1725" b="0">
                <a:solidFill>
                  <a:srgbClr val="65766E"/>
                </a:solidFill>
                <a:latin typeface="Arial"/>
                <a:ea typeface="Arial"/>
                <a:cs typeface="Arial"/>
              </a:defRPr>
            </a:pPr>
            <a:r>
              <a:rPr sz="1725" b="0">
                <a:solidFill>
                  <a:srgbClr val="65766E"/>
                </a:solidFill>
                <a:latin typeface="Arial"/>
                <a:ea typeface="Arial"/>
                <a:cs typeface="Arial"/>
              </a:rPr>
              <a:t>One row for each city and month.</a:t>
            </a:r>
          </a:p>
        </p:txBody>
      </p:sp>
      <p:sp>
        <p:nvSpPr>
          <p:cNvPr id="3" name="title-rule">
            <a:extLst xmlns:a="http://schemas.openxmlformats.org/drawingml/2006/main">
              <a:ext uri="{FF2B5EF4-FFF2-40B4-BE49-F238E27FC236}">
                <a16:creationId xmlns:a16="http://schemas.microsoft.com/office/drawing/2014/main" id="{D8685FEE-61AC-4217-ADE7-B25BD7386F8D}"/>
              </a:ext>
            </a:extLst>
          </p:cNvPr>
          <p:cNvSpPr>
            <a:spLocks xmlns:a="http://schemas.openxmlformats.org/drawingml/2006/main" noGrp="1"/>
          </p:cNvSpPr>
          <p:nvPr/>
        </p:nvSpPr>
        <p:spPr>
          <a:xfrm xmlns:a="http://schemas.openxmlformats.org/drawingml/2006/main">
            <a:off x="742950" y="1752600"/>
            <a:ext cx="10706100" cy="0"/>
          </a:xfrm>
          <a:prstGeom xmlns:a="http://schemas.openxmlformats.org/drawingml/2006/main" prst="line">
            <a:avLst/>
          </a:prstGeom>
          <a:noFill xmlns:a="http://schemas.openxmlformats.org/drawingml/2006/main"/>
          <a:ln xmlns:a="http://schemas.openxmlformats.org/drawingml/2006/main" w="12383">
            <a:solidFill>
              <a:srgbClr val="D7E0DA"/>
            </a:solidFill>
            <a:prstDash val="solid"/>
          </a:ln>
        </p:spPr>
      </p:sp>
      <p:sp>
        <p:nvSpPr>
          <p:cNvPr id="4" name="page-number">
            <a:extLst xmlns:a="http://schemas.openxmlformats.org/drawingml/2006/main">
              <a:ext uri="{FF2B5EF4-FFF2-40B4-BE49-F238E27FC236}">
                <a16:creationId xmlns:a16="http://schemas.microsoft.com/office/drawing/2014/main" id="{D0442947-770A-4D3A-9232-35F0231297B3}"/>
              </a:ext>
            </a:extLst>
          </p:cNvPr>
          <p:cNvSpPr>
            <a:spLocks xmlns:a="http://schemas.openxmlformats.org/drawingml/2006/main" noGrp="1"/>
          </p:cNvSpPr>
          <p:nvPr/>
        </p:nvSpPr>
        <p:spPr>
          <a:xfrm xmlns:a="http://schemas.openxmlformats.org/drawingml/2006/main">
            <a:off x="11049000" y="640080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9206"/>
          </a:bodyPr>
          <a:lstStyle xmlns:a="http://schemas.openxmlformats.org/drawingml/2006/main">
            <a:defPPr algn="r">
              <a:defRPr sz="1200" b="0">
                <a:solidFill>
                  <a:srgbClr val="65766E"/>
                </a:solidFill>
                <a:latin typeface="Arial"/>
                <a:ea typeface="Arial"/>
                <a:cs typeface="Arial"/>
              </a:defRPr>
            </a:defPPr>
          </a:lstStyle>
          <a:p xmlns:a="http://schemas.openxmlformats.org/drawingml/2006/main">
            <a:pPr algn="r">
              <a:lnSpc>
                <a:spcPct val="105000"/>
              </a:lnSpc>
              <a:buNone/>
              <a:defRPr sz="1200" b="0">
                <a:solidFill>
                  <a:srgbClr val="65766E"/>
                </a:solidFill>
                <a:latin typeface="Arial"/>
                <a:ea typeface="Arial"/>
                <a:cs typeface="Arial"/>
              </a:defRPr>
            </a:pPr>
            <a:r>
              <a:rPr sz="1200" b="0">
                <a:solidFill>
                  <a:srgbClr val="65766E"/>
                </a:solidFill>
                <a:latin typeface="Arial"/>
                <a:ea typeface="Arial"/>
                <a:cs typeface="Arial"/>
              </a:rPr>
              <a:t>07</a:t>
            </a:r>
          </a:p>
        </p:txBody>
      </p:sp>
      <p:sp>
        <p:nvSpPr>
          <p:cNvPr id="5" name="dataset-size">
            <a:extLst xmlns:a="http://schemas.openxmlformats.org/drawingml/2006/main">
              <a:ext uri="{FF2B5EF4-FFF2-40B4-BE49-F238E27FC236}">
                <a16:creationId xmlns:a16="http://schemas.microsoft.com/office/drawing/2014/main" id="{FFFC44D9-D3D9-4CD4-9997-3B879CE48A23}"/>
              </a:ext>
            </a:extLst>
          </p:cNvPr>
          <p:cNvSpPr>
            <a:spLocks xmlns:a="http://schemas.openxmlformats.org/drawingml/2006/main" noGrp="1"/>
          </p:cNvSpPr>
          <p:nvPr/>
        </p:nvSpPr>
        <p:spPr>
          <a:xfrm xmlns:a="http://schemas.openxmlformats.org/drawingml/2006/main">
            <a:off x="781050" y="2133600"/>
            <a:ext cx="4191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4350" b="1">
                <a:solidFill>
                  <a:srgbClr val="45665A"/>
                </a:solidFill>
                <a:latin typeface="Arial"/>
                <a:ea typeface="Arial"/>
                <a:cs typeface="Arial"/>
              </a:defRPr>
            </a:defPPr>
          </a:lstStyle>
          <a:p xmlns:a="http://schemas.openxmlformats.org/drawingml/2006/main">
            <a:pPr algn="l">
              <a:lnSpc>
                <a:spcPct val="105000"/>
              </a:lnSpc>
              <a:buNone/>
              <a:defRPr sz="4350" b="1">
                <a:solidFill>
                  <a:srgbClr val="45665A"/>
                </a:solidFill>
                <a:latin typeface="Arial"/>
                <a:ea typeface="Arial"/>
                <a:cs typeface="Arial"/>
              </a:defRPr>
            </a:pPr>
            <a:r>
              <a:rPr sz="4350" b="1">
                <a:solidFill>
                  <a:srgbClr val="45665A"/>
                </a:solidFill>
                <a:latin typeface="Arial"/>
                <a:ea typeface="Arial"/>
                <a:cs typeface="Arial"/>
              </a:rPr>
              <a:t>2,496 rows</a:t>
            </a:r>
          </a:p>
        </p:txBody>
      </p:sp>
      <p:sp>
        <p:nvSpPr>
          <p:cNvPr id="6" name="dataset-detail">
            <a:extLst xmlns:a="http://schemas.openxmlformats.org/drawingml/2006/main">
              <a:ext uri="{FF2B5EF4-FFF2-40B4-BE49-F238E27FC236}">
                <a16:creationId xmlns:a16="http://schemas.microsoft.com/office/drawing/2014/main" id="{F0E50EAB-A5BC-45FD-9F4A-C36D9313125C}"/>
              </a:ext>
            </a:extLst>
          </p:cNvPr>
          <p:cNvSpPr>
            <a:spLocks xmlns:a="http://schemas.openxmlformats.org/drawingml/2006/main" noGrp="1"/>
          </p:cNvSpPr>
          <p:nvPr/>
        </p:nvSpPr>
        <p:spPr>
          <a:xfrm xmlns:a="http://schemas.openxmlformats.org/drawingml/2006/main">
            <a:off x="800100" y="2895600"/>
            <a:ext cx="5238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0">
                <a:solidFill>
                  <a:srgbClr val="65766E"/>
                </a:solidFill>
                <a:latin typeface="Arial"/>
                <a:ea typeface="Arial"/>
                <a:cs typeface="Arial"/>
              </a:defRPr>
            </a:defPPr>
          </a:lstStyle>
          <a:p xmlns:a="http://schemas.openxmlformats.org/drawingml/2006/main">
            <a:pPr algn="l">
              <a:lnSpc>
                <a:spcPct val="105000"/>
              </a:lnSpc>
              <a:buNone/>
              <a:defRPr sz="1875" b="0">
                <a:solidFill>
                  <a:srgbClr val="65766E"/>
                </a:solidFill>
                <a:latin typeface="Arial"/>
                <a:ea typeface="Arial"/>
                <a:cs typeface="Arial"/>
              </a:defRPr>
            </a:pPr>
            <a:r>
              <a:rPr sz="1875" b="0">
                <a:solidFill>
                  <a:srgbClr val="65766E"/>
                </a:solidFill>
                <a:latin typeface="Arial"/>
                <a:ea typeface="Arial"/>
                <a:cs typeface="Arial"/>
              </a:rPr>
              <a:t>8 cities  ×  312 months</a:t>
            </a:r>
          </a:p>
        </p:txBody>
      </p:sp>
      <p:graphicFrame>
        <p:nvGraphicFramePr>
          <p:cNvPr id="7" name="">
            <a:extLst xmlns:a="http://schemas.openxmlformats.org/drawingml/2006/main">
              <a:ext uri="{FF2B5EF4-FFF2-40B4-BE49-F238E27FC236}">
                <a16:creationId xmlns:a16="http://schemas.microsoft.com/office/drawing/2014/main" id="{6545B406-E381-44DD-AAF0-D30D3FC2E97C}"/>
              </a:ext>
            </a:extLst>
          </p:cNvPr>
          <p:cNvGraphicFramePr/>
          <p:nvPr/>
        </p:nvGraphicFramePr>
        <p:xfrm>
          <a:off xmlns:a="http://schemas.openxmlformats.org/drawingml/2006/main" x="781050" y="3733800"/>
          <a:ext xmlns:a="http://schemas.openxmlformats.org/drawingml/2006/main" cx="10572750" cy="1257300"/>
        </p:xfrm>
        <a:graphic xmlns:a="http://schemas.openxmlformats.org/drawingml/2006/main">
          <a:graphicData uri="http://schemas.openxmlformats.org/drawingml/2006/table">
            <a:tbl>
              <a:tblPr/>
              <a:tblGrid>
                <a:gridCol w="2381250"/>
                <a:gridCol w="2381250"/>
                <a:gridCol w="2857500"/>
                <a:gridCol w="2952750"/>
              </a:tblGrid>
              <a:tr h="628650">
                <a:tc>
                  <a:txBody>
                    <a:bodyPr wrap="square" lIns="95250" tIns="95250" rIns="95250" bIns="95250">
                      <a:normAutofit/>
                    </a:bodyPr>
                    <a:lstStyle/>
                    <a:p>
                      <a:pPr algn="l"/>
                      <a:r>
                        <a:rPr sz="1200" b="1">
                          <a:solidFill>
                            <a:srgbClr val="45665A"/>
                          </a:solidFill>
                          <a:latin typeface="Arial"/>
                          <a:ea typeface="Arial"/>
                          <a:cs typeface="Arial"/>
                        </a:rPr>
                        <a:t>CITY</a:t>
                      </a:r>
                    </a:p>
                  </a:txBody>
                  <a:tcPr marL="91440" marR="91440" marT="45720" marB="45720" anchor="ctr">
                    <a:solidFill>
                      <a:srgbClr val="E7EEE8"/>
                    </a:solidFill>
                  </a:tcPr>
                </a:tc>
                <a:tc>
                  <a:txBody>
                    <a:bodyPr wrap="square" lIns="95250" tIns="95250" rIns="95250" bIns="95250">
                      <a:normAutofit/>
                    </a:bodyPr>
                    <a:lstStyle/>
                    <a:p>
                      <a:pPr algn="l"/>
                      <a:r>
                        <a:rPr sz="1200" b="1">
                          <a:solidFill>
                            <a:srgbClr val="45665A"/>
                          </a:solidFill>
                          <a:latin typeface="Arial"/>
                          <a:ea typeface="Arial"/>
                          <a:cs typeface="Arial"/>
                        </a:rPr>
                        <a:t>MONTH</a:t>
                      </a:r>
                    </a:p>
                  </a:txBody>
                  <a:tcPr marL="91440" marR="91440" marT="45720" marB="45720" anchor="ctr">
                    <a:solidFill>
                      <a:srgbClr val="E7EEE8"/>
                    </a:solidFill>
                  </a:tcPr>
                </a:tc>
                <a:tc>
                  <a:txBody>
                    <a:bodyPr wrap="square" lIns="95250" tIns="95250" rIns="95250" bIns="95250">
                      <a:normAutofit/>
                    </a:bodyPr>
                    <a:lstStyle/>
                    <a:p>
                      <a:pPr algn="l"/>
                      <a:r>
                        <a:rPr sz="1200" b="1">
                          <a:solidFill>
                            <a:srgbClr val="45665A"/>
                          </a:solidFill>
                          <a:latin typeface="Arial"/>
                          <a:ea typeface="Arial"/>
                          <a:cs typeface="Arial"/>
                        </a:rPr>
                        <a:t>POINT COVERAGE</a:t>
                      </a:r>
                    </a:p>
                  </a:txBody>
                  <a:tcPr marL="91440" marR="91440" marT="45720" marB="45720" anchor="ctr">
                    <a:solidFill>
                      <a:srgbClr val="E7EEE8"/>
                    </a:solidFill>
                  </a:tcPr>
                </a:tc>
                <a:tc>
                  <a:txBody>
                    <a:bodyPr wrap="square" lIns="95250" tIns="95250" rIns="95250" bIns="95250">
                      <a:normAutofit/>
                    </a:bodyPr>
                    <a:lstStyle/>
                    <a:p>
                      <a:pPr algn="l"/>
                      <a:r>
                        <a:rPr sz="1200" b="1">
                          <a:solidFill>
                            <a:srgbClr val="45665A"/>
                          </a:solidFill>
                          <a:latin typeface="Arial"/>
                          <a:ea typeface="Arial"/>
                          <a:cs typeface="Arial"/>
                        </a:rPr>
                        <a:t>AVERAGE TEMPERATURE</a:t>
                      </a:r>
                    </a:p>
                  </a:txBody>
                  <a:tcPr marL="91440" marR="91440" marT="45720" marB="45720" anchor="ctr">
                    <a:solidFill>
                      <a:srgbClr val="E7EEE8"/>
                    </a:solidFill>
                  </a:tcPr>
                </a:tc>
              </a:tr>
              <a:tr h="628650">
                <a:tc>
                  <a:txBody>
                    <a:bodyPr wrap="square" lIns="95250" tIns="95250" rIns="95250" bIns="95250">
                      <a:normAutofit/>
                    </a:bodyPr>
                    <a:lstStyle/>
                    <a:p>
                      <a:pPr algn="l"/>
                      <a:r>
                        <a:rPr sz="1800" b="1">
                          <a:solidFill>
                            <a:srgbClr val="23352F"/>
                          </a:solidFill>
                          <a:latin typeface="Arial"/>
                          <a:ea typeface="Arial"/>
                          <a:cs typeface="Arial"/>
                        </a:rPr>
                        <a:t>Ahmedabad</a:t>
                      </a:r>
                    </a:p>
                  </a:txBody>
                  <a:tcPr marL="91440" marR="91440" marT="45720" marB="45720" anchor="ctr">
                    <a:solidFill>
                      <a:srgbClr val="FFFFFF"/>
                    </a:solidFill>
                  </a:tcPr>
                </a:tc>
                <a:tc>
                  <a:txBody>
                    <a:bodyPr wrap="square" lIns="95250" tIns="95250" rIns="95250" bIns="95250">
                      <a:normAutofit/>
                    </a:bodyPr>
                    <a:lstStyle/>
                    <a:p>
                      <a:pPr algn="l"/>
                      <a:r>
                        <a:rPr sz="1800" b="0">
                          <a:solidFill>
                            <a:srgbClr val="23352F"/>
                          </a:solidFill>
                          <a:latin typeface="Arial"/>
                          <a:ea typeface="Arial"/>
                          <a:cs typeface="Arial"/>
                        </a:rPr>
                        <a:t>Jan 2000</a:t>
                      </a:r>
                    </a:p>
                  </a:txBody>
                  <a:tcPr marL="91440" marR="91440" marT="45720" marB="45720" anchor="ctr">
                    <a:solidFill>
                      <a:srgbClr val="FFFFFF"/>
                    </a:solidFill>
                  </a:tcPr>
                </a:tc>
                <a:tc>
                  <a:txBody>
                    <a:bodyPr wrap="square" lIns="95250" tIns="95250" rIns="95250" bIns="95250">
                      <a:normAutofit/>
                    </a:bodyPr>
                    <a:lstStyle/>
                    <a:p>
                      <a:pPr algn="l"/>
                      <a:r>
                        <a:rPr sz="1800" b="0">
                          <a:solidFill>
                            <a:srgbClr val="23352F"/>
                          </a:solidFill>
                          <a:latin typeface="Arial"/>
                          <a:ea typeface="Arial"/>
                          <a:cs typeface="Arial"/>
                        </a:rPr>
                        <a:t>9 / 9</a:t>
                      </a:r>
                    </a:p>
                  </a:txBody>
                  <a:tcPr marL="91440" marR="91440" marT="45720" marB="45720" anchor="ctr">
                    <a:solidFill>
                      <a:srgbClr val="FFFFFF"/>
                    </a:solidFill>
                  </a:tcPr>
                </a:tc>
                <a:tc>
                  <a:txBody>
                    <a:bodyPr wrap="square" lIns="95250" tIns="95250" rIns="95250" bIns="95250">
                      <a:normAutofit/>
                    </a:bodyPr>
                    <a:lstStyle/>
                    <a:p>
                      <a:pPr algn="l"/>
                      <a:r>
                        <a:rPr sz="1800" b="0">
                          <a:solidFill>
                            <a:srgbClr val="23352F"/>
                          </a:solidFill>
                          <a:latin typeface="Arial"/>
                          <a:ea typeface="Arial"/>
                          <a:cs typeface="Arial"/>
                        </a:rPr>
                        <a:t>21.24 °C</a:t>
                      </a:r>
                    </a:p>
                  </a:txBody>
                  <a:tcPr marL="91440" marR="91440" marT="45720" marB="45720" anchor="ctr">
                    <a:solidFill>
                      <a:srgbClr val="FFFFFF"/>
                    </a:solidFill>
                  </a:tcPr>
                </a:tc>
              </a:tr>
            </a:tbl>
          </a:graphicData>
        </a:graphic>
      </p:graphicFrame>
      <p:sp>
        <p:nvSpPr>
          <p:cNvPr id="8" name="dataset-file">
            <a:extLst xmlns:a="http://schemas.openxmlformats.org/drawingml/2006/main">
              <a:ext uri="{FF2B5EF4-FFF2-40B4-BE49-F238E27FC236}">
                <a16:creationId xmlns:a16="http://schemas.microsoft.com/office/drawing/2014/main" id="{38834122-F2AF-4347-A5AA-A113D9314296}"/>
              </a:ext>
            </a:extLst>
          </p:cNvPr>
          <p:cNvSpPr>
            <a:spLocks xmlns:a="http://schemas.openxmlformats.org/drawingml/2006/main" noGrp="1"/>
          </p:cNvSpPr>
          <p:nvPr/>
        </p:nvSpPr>
        <p:spPr>
          <a:xfrm xmlns:a="http://schemas.openxmlformats.org/drawingml/2006/main">
            <a:off x="781050" y="5372100"/>
            <a:ext cx="106203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65766E"/>
                </a:solidFill>
                <a:latin typeface="Arial"/>
                <a:ea typeface="Arial"/>
                <a:cs typeface="Arial"/>
              </a:defRPr>
            </a:defPPr>
          </a:lstStyle>
          <a:p xmlns:a="http://schemas.openxmlformats.org/drawingml/2006/main">
            <a:pPr algn="l">
              <a:lnSpc>
                <a:spcPct val="105000"/>
              </a:lnSpc>
              <a:buNone/>
              <a:defRPr sz="1575" b="0">
                <a:solidFill>
                  <a:srgbClr val="65766E"/>
                </a:solidFill>
                <a:latin typeface="Arial"/>
                <a:ea typeface="Arial"/>
                <a:cs typeface="Arial"/>
              </a:defRPr>
            </a:pPr>
            <a:r>
              <a:rPr sz="1575" b="0">
                <a:solidFill>
                  <a:srgbClr val="65766E"/>
                </a:solidFill>
                <a:latin typeface="Arial"/>
                <a:ea typeface="Arial"/>
                <a:cs typeface="Arial"/>
              </a:rPr>
              <a:t>Files: city_monthly.csv  ·  by_city/&lt;city&gt;_monthly.csv</a:t>
            </a:r>
          </a:p>
        </p:txBody>
      </p:sp>
    </p:spTree>
    <p:extLst>
      <p:ext uri="{BB962C8B-B14F-4D97-AF65-F5344CB8AC3E}">
        <p14:creationId xmlns:p14="http://schemas.microsoft.com/office/powerpoint/2010/main" val="92652265"/>
      </p:ext>
    </p:extLst>
  </p:cSld>
</p:sld>
</file>

<file path=ppt/slides/slide8.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18" name="slide-title">
            <a:extLst xmlns:a="http://schemas.openxmlformats.org/drawingml/2006/main">
              <a:ext uri="{FF2B5EF4-FFF2-40B4-BE49-F238E27FC236}">
                <a16:creationId xmlns:a16="http://schemas.microsoft.com/office/drawing/2014/main" id="{E20F37AE-AAA8-43E4-9F93-DE893567B7DE}"/>
              </a:ext>
            </a:extLst>
          </p:cNvPr>
          <p:cNvSpPr>
            <a:spLocks xmlns:a="http://schemas.openxmlformats.org/drawingml/2006/main" noGrp="1"/>
          </p:cNvSpPr>
          <p:nvPr/>
        </p:nvSpPr>
        <p:spPr>
          <a:xfrm xmlns:a="http://schemas.openxmlformats.org/drawingml/2006/main">
            <a:off x="723900" y="533400"/>
            <a:ext cx="10744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300" b="1">
                <a:solidFill>
                  <a:srgbClr val="23352F"/>
                </a:solidFill>
                <a:latin typeface="Arial"/>
                <a:ea typeface="Arial"/>
                <a:cs typeface="Arial"/>
              </a:defRPr>
            </a:defPPr>
          </a:lstStyle>
          <a:p xmlns:a="http://schemas.openxmlformats.org/drawingml/2006/main">
            <a:pPr algn="l">
              <a:lnSpc>
                <a:spcPct val="105000"/>
              </a:lnSpc>
              <a:buNone/>
              <a:defRPr sz="3300" b="1">
                <a:solidFill>
                  <a:srgbClr val="23352F"/>
                </a:solidFill>
                <a:latin typeface="Arial"/>
                <a:ea typeface="Arial"/>
                <a:cs typeface="Arial"/>
              </a:defRPr>
            </a:pPr>
            <a:r>
              <a:rPr sz="3300" b="1">
                <a:solidFill>
                  <a:srgbClr val="23352F"/>
                </a:solidFill>
                <a:latin typeface="Arial"/>
                <a:ea typeface="Arial"/>
                <a:cs typeface="Arial"/>
              </a:rPr>
              <a:t>Validate the finished table</a:t>
            </a:r>
          </a:p>
        </p:txBody>
      </p:sp>
      <p:sp>
        <p:nvSpPr>
          <p:cNvPr id="2" name="slide-subtitle">
            <a:extLst xmlns:a="http://schemas.openxmlformats.org/drawingml/2006/main">
              <a:ext uri="{FF2B5EF4-FFF2-40B4-BE49-F238E27FC236}">
                <a16:creationId xmlns:a16="http://schemas.microsoft.com/office/drawing/2014/main" id="{8297A51C-9ABF-47B5-8030-3967B929B457}"/>
              </a:ext>
            </a:extLst>
          </p:cNvPr>
          <p:cNvSpPr>
            <a:spLocks xmlns:a="http://schemas.openxmlformats.org/drawingml/2006/main" noGrp="1"/>
          </p:cNvSpPr>
          <p:nvPr/>
        </p:nvSpPr>
        <p:spPr>
          <a:xfrm xmlns:a="http://schemas.openxmlformats.org/drawingml/2006/main">
            <a:off x="742950" y="1200150"/>
            <a:ext cx="1047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65766E"/>
                </a:solidFill>
                <a:latin typeface="Arial"/>
                <a:ea typeface="Arial"/>
                <a:cs typeface="Arial"/>
              </a:defRPr>
            </a:defPPr>
          </a:lstStyle>
          <a:p xmlns:a="http://schemas.openxmlformats.org/drawingml/2006/main">
            <a:pPr algn="l">
              <a:lnSpc>
                <a:spcPct val="105000"/>
              </a:lnSpc>
              <a:buNone/>
              <a:defRPr sz="1725" b="0">
                <a:solidFill>
                  <a:srgbClr val="65766E"/>
                </a:solidFill>
                <a:latin typeface="Arial"/>
                <a:ea typeface="Arial"/>
                <a:cs typeface="Arial"/>
              </a:defRPr>
            </a:pPr>
            <a:r>
              <a:rPr sz="1725" b="0">
                <a:solidFill>
                  <a:srgbClr val="65766E"/>
                </a:solidFill>
                <a:latin typeface="Arial"/>
                <a:ea typeface="Arial"/>
                <a:cs typeface="Arial"/>
              </a:rPr>
              <a:t>Eight configured checks passed for the current city-month output.</a:t>
            </a:r>
          </a:p>
        </p:txBody>
      </p:sp>
      <p:sp>
        <p:nvSpPr>
          <p:cNvPr id="3" name="title-rule">
            <a:extLst xmlns:a="http://schemas.openxmlformats.org/drawingml/2006/main">
              <a:ext uri="{FF2B5EF4-FFF2-40B4-BE49-F238E27FC236}">
                <a16:creationId xmlns:a16="http://schemas.microsoft.com/office/drawing/2014/main" id="{272E2EE4-9430-4689-99F5-BA3F03819151}"/>
              </a:ext>
            </a:extLst>
          </p:cNvPr>
          <p:cNvSpPr>
            <a:spLocks xmlns:a="http://schemas.openxmlformats.org/drawingml/2006/main" noGrp="1"/>
          </p:cNvSpPr>
          <p:nvPr/>
        </p:nvSpPr>
        <p:spPr>
          <a:xfrm xmlns:a="http://schemas.openxmlformats.org/drawingml/2006/main">
            <a:off x="742950" y="1752600"/>
            <a:ext cx="10706100" cy="0"/>
          </a:xfrm>
          <a:prstGeom xmlns:a="http://schemas.openxmlformats.org/drawingml/2006/main" prst="line">
            <a:avLst/>
          </a:prstGeom>
          <a:noFill xmlns:a="http://schemas.openxmlformats.org/drawingml/2006/main"/>
          <a:ln xmlns:a="http://schemas.openxmlformats.org/drawingml/2006/main" w="12383">
            <a:solidFill>
              <a:srgbClr val="D7E0DA"/>
            </a:solidFill>
            <a:prstDash val="solid"/>
          </a:ln>
        </p:spPr>
      </p:sp>
      <p:sp>
        <p:nvSpPr>
          <p:cNvPr id="4" name="page-number">
            <a:extLst xmlns:a="http://schemas.openxmlformats.org/drawingml/2006/main">
              <a:ext uri="{FF2B5EF4-FFF2-40B4-BE49-F238E27FC236}">
                <a16:creationId xmlns:a16="http://schemas.microsoft.com/office/drawing/2014/main" id="{03C89E78-A81F-47E1-96C6-D896A2B339E0}"/>
              </a:ext>
            </a:extLst>
          </p:cNvPr>
          <p:cNvSpPr>
            <a:spLocks xmlns:a="http://schemas.openxmlformats.org/drawingml/2006/main" noGrp="1"/>
          </p:cNvSpPr>
          <p:nvPr/>
        </p:nvSpPr>
        <p:spPr>
          <a:xfrm xmlns:a="http://schemas.openxmlformats.org/drawingml/2006/main">
            <a:off x="11049000" y="640080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9206"/>
          </a:bodyPr>
          <a:lstStyle xmlns:a="http://schemas.openxmlformats.org/drawingml/2006/main">
            <a:defPPr algn="r">
              <a:defRPr sz="1200" b="0">
                <a:solidFill>
                  <a:srgbClr val="65766E"/>
                </a:solidFill>
                <a:latin typeface="Arial"/>
                <a:ea typeface="Arial"/>
                <a:cs typeface="Arial"/>
              </a:defRPr>
            </a:defPPr>
          </a:lstStyle>
          <a:p xmlns:a="http://schemas.openxmlformats.org/drawingml/2006/main">
            <a:pPr algn="r">
              <a:lnSpc>
                <a:spcPct val="105000"/>
              </a:lnSpc>
              <a:buNone/>
              <a:defRPr sz="1200" b="0">
                <a:solidFill>
                  <a:srgbClr val="65766E"/>
                </a:solidFill>
                <a:latin typeface="Arial"/>
                <a:ea typeface="Arial"/>
                <a:cs typeface="Arial"/>
              </a:defRPr>
            </a:pPr>
            <a:r>
              <a:rPr sz="1200" b="0">
                <a:solidFill>
                  <a:srgbClr val="65766E"/>
                </a:solidFill>
                <a:latin typeface="Arial"/>
                <a:ea typeface="Arial"/>
                <a:cs typeface="Arial"/>
              </a:rPr>
              <a:t>08</a:t>
            </a:r>
          </a:p>
        </p:txBody>
      </p:sp>
      <p:sp>
        <p:nvSpPr>
          <p:cNvPr id="5" name="validation-number">
            <a:extLst xmlns:a="http://schemas.openxmlformats.org/drawingml/2006/main">
              <a:ext uri="{FF2B5EF4-FFF2-40B4-BE49-F238E27FC236}">
                <a16:creationId xmlns:a16="http://schemas.microsoft.com/office/drawing/2014/main" id="{0D312E8B-A3BE-4EF0-8D16-56F8362DC2C5}"/>
              </a:ext>
            </a:extLst>
          </p:cNvPr>
          <p:cNvSpPr>
            <a:spLocks xmlns:a="http://schemas.openxmlformats.org/drawingml/2006/main" noGrp="1"/>
          </p:cNvSpPr>
          <p:nvPr/>
        </p:nvSpPr>
        <p:spPr>
          <a:xfrm xmlns:a="http://schemas.openxmlformats.org/drawingml/2006/main">
            <a:off x="781050" y="2257425"/>
            <a:ext cx="35718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9206"/>
          </a:bodyPr>
          <a:lstStyle xmlns:a="http://schemas.openxmlformats.org/drawingml/2006/main">
            <a:defPPr algn="l">
              <a:defRPr sz="5400" b="1">
                <a:solidFill>
                  <a:srgbClr val="45665A"/>
                </a:solidFill>
                <a:latin typeface="Arial"/>
                <a:ea typeface="Arial"/>
                <a:cs typeface="Arial"/>
              </a:defRPr>
            </a:defPPr>
          </a:lstStyle>
          <a:p xmlns:a="http://schemas.openxmlformats.org/drawingml/2006/main">
            <a:pPr algn="l">
              <a:lnSpc>
                <a:spcPct val="105000"/>
              </a:lnSpc>
              <a:buNone/>
              <a:defRPr sz="5400" b="1">
                <a:solidFill>
                  <a:srgbClr val="45665A"/>
                </a:solidFill>
                <a:latin typeface="Arial"/>
                <a:ea typeface="Arial"/>
                <a:cs typeface="Arial"/>
              </a:defRPr>
            </a:pPr>
            <a:r>
              <a:rPr sz="5400" b="1">
                <a:solidFill>
                  <a:srgbClr val="45665A"/>
                </a:solidFill>
                <a:latin typeface="Arial"/>
                <a:ea typeface="Arial"/>
                <a:cs typeface="Arial"/>
              </a:rPr>
              <a:t>8 / 8</a:t>
            </a:r>
          </a:p>
        </p:txBody>
      </p:sp>
      <p:sp>
        <p:nvSpPr>
          <p:cNvPr id="6" name="validation-caption">
            <a:extLst xmlns:a="http://schemas.openxmlformats.org/drawingml/2006/main">
              <a:ext uri="{FF2B5EF4-FFF2-40B4-BE49-F238E27FC236}">
                <a16:creationId xmlns:a16="http://schemas.microsoft.com/office/drawing/2014/main" id="{A0F0A687-92DE-456C-8EC3-B542389DC0CC}"/>
              </a:ext>
            </a:extLst>
          </p:cNvPr>
          <p:cNvSpPr>
            <a:spLocks xmlns:a="http://schemas.openxmlformats.org/drawingml/2006/main" noGrp="1"/>
          </p:cNvSpPr>
          <p:nvPr/>
        </p:nvSpPr>
        <p:spPr>
          <a:xfrm xmlns:a="http://schemas.openxmlformats.org/drawingml/2006/main">
            <a:off x="800100" y="3124200"/>
            <a:ext cx="314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0">
                <a:solidFill>
                  <a:srgbClr val="65766E"/>
                </a:solidFill>
                <a:latin typeface="Arial"/>
                <a:ea typeface="Arial"/>
                <a:cs typeface="Arial"/>
              </a:defRPr>
            </a:defPPr>
          </a:lstStyle>
          <a:p xmlns:a="http://schemas.openxmlformats.org/drawingml/2006/main">
            <a:pPr algn="l">
              <a:lnSpc>
                <a:spcPct val="105000"/>
              </a:lnSpc>
              <a:buNone/>
              <a:defRPr sz="1875" b="0">
                <a:solidFill>
                  <a:srgbClr val="65766E"/>
                </a:solidFill>
                <a:latin typeface="Arial"/>
                <a:ea typeface="Arial"/>
                <a:cs typeface="Arial"/>
              </a:defRPr>
            </a:pPr>
            <a:r>
              <a:rPr sz="1875" b="0">
                <a:solidFill>
                  <a:srgbClr val="65766E"/>
                </a:solidFill>
                <a:latin typeface="Arial"/>
                <a:ea typeface="Arial"/>
                <a:cs typeface="Arial"/>
              </a:rPr>
              <a:t>checks passed</a:t>
            </a:r>
          </a:p>
        </p:txBody>
      </p:sp>
      <p:sp>
        <p:nvSpPr>
          <p:cNvPr id="7" name="validation-divider">
            <a:extLst xmlns:a="http://schemas.openxmlformats.org/drawingml/2006/main">
              <a:ext uri="{FF2B5EF4-FFF2-40B4-BE49-F238E27FC236}">
                <a16:creationId xmlns:a16="http://schemas.microsoft.com/office/drawing/2014/main" id="{189D4FE4-3DD7-4A9A-BDC4-2BA8BE41403C}"/>
              </a:ext>
            </a:extLst>
          </p:cNvPr>
          <p:cNvSpPr>
            <a:spLocks xmlns:a="http://schemas.openxmlformats.org/drawingml/2006/main" noGrp="1"/>
          </p:cNvSpPr>
          <p:nvPr/>
        </p:nvSpPr>
        <p:spPr>
          <a:xfrm xmlns:a="http://schemas.openxmlformats.org/drawingml/2006/main">
            <a:off x="4381500" y="2266950"/>
            <a:ext cx="0" cy="2590800"/>
          </a:xfrm>
          <a:prstGeom xmlns:a="http://schemas.openxmlformats.org/drawingml/2006/main" prst="line">
            <a:avLst/>
          </a:prstGeom>
          <a:noFill xmlns:a="http://schemas.openxmlformats.org/drawingml/2006/main"/>
          <a:ln xmlns:a="http://schemas.openxmlformats.org/drawingml/2006/main" w="13335">
            <a:solidFill>
              <a:srgbClr val="D7E0DA"/>
            </a:solidFill>
            <a:prstDash val="solid"/>
          </a:ln>
        </p:spPr>
      </p:sp>
      <p:sp>
        <p:nvSpPr>
          <p:cNvPr id="8" name="validation-check-0">
            <a:extLst xmlns:a="http://schemas.openxmlformats.org/drawingml/2006/main">
              <a:ext uri="{FF2B5EF4-FFF2-40B4-BE49-F238E27FC236}">
                <a16:creationId xmlns:a16="http://schemas.microsoft.com/office/drawing/2014/main" id="{1373AEC8-F13A-45FE-BE02-3158E7CB3592}"/>
              </a:ext>
            </a:extLst>
          </p:cNvPr>
          <p:cNvSpPr>
            <a:spLocks xmlns:a="http://schemas.openxmlformats.org/drawingml/2006/main" noGrp="1"/>
          </p:cNvSpPr>
          <p:nvPr/>
        </p:nvSpPr>
        <p:spPr>
          <a:xfrm xmlns:a="http://schemas.openxmlformats.org/drawingml/2006/main">
            <a:off x="4857750" y="2276475"/>
            <a:ext cx="619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0">
                <a:solidFill>
                  <a:srgbClr val="23352F"/>
                </a:solidFill>
                <a:latin typeface="Arial"/>
                <a:ea typeface="Arial"/>
                <a:cs typeface="Arial"/>
              </a:defRPr>
            </a:defPPr>
          </a:lstStyle>
          <a:p xmlns:a="http://schemas.openxmlformats.org/drawingml/2006/main">
            <a:pPr algn="l">
              <a:lnSpc>
                <a:spcPct val="105000"/>
              </a:lnSpc>
              <a:buNone/>
              <a:defRPr sz="1800" b="0">
                <a:solidFill>
                  <a:srgbClr val="23352F"/>
                </a:solidFill>
                <a:latin typeface="Arial"/>
                <a:ea typeface="Arial"/>
                <a:cs typeface="Arial"/>
              </a:defRPr>
            </a:pPr>
            <a:r>
              <a:rPr sz="1800" b="0">
                <a:solidFill>
                  <a:srgbClr val="23352F"/>
                </a:solidFill>
                <a:latin typeface="Arial"/>
                <a:ea typeface="Arial"/>
                <a:cs typeface="Arial"/>
              </a:rPr>
              <a:t>City and state are populated</a:t>
            </a:r>
          </a:p>
        </p:txBody>
      </p:sp>
      <p:sp>
        <p:nvSpPr>
          <p:cNvPr id="9" name="validation-check-line-0">
            <a:extLst xmlns:a="http://schemas.openxmlformats.org/drawingml/2006/main">
              <a:ext uri="{FF2B5EF4-FFF2-40B4-BE49-F238E27FC236}">
                <a16:creationId xmlns:a16="http://schemas.microsoft.com/office/drawing/2014/main" id="{59BB1E84-4084-44A9-8823-19BDCDBA7BAF}"/>
              </a:ext>
            </a:extLst>
          </p:cNvPr>
          <p:cNvSpPr>
            <a:spLocks xmlns:a="http://schemas.openxmlformats.org/drawingml/2006/main" noGrp="1"/>
          </p:cNvSpPr>
          <p:nvPr/>
        </p:nvSpPr>
        <p:spPr>
          <a:xfrm xmlns:a="http://schemas.openxmlformats.org/drawingml/2006/main">
            <a:off x="4857750" y="2705100"/>
            <a:ext cx="6457950" cy="0"/>
          </a:xfrm>
          <a:prstGeom xmlns:a="http://schemas.openxmlformats.org/drawingml/2006/main" prst="line">
            <a:avLst/>
          </a:prstGeom>
          <a:noFill xmlns:a="http://schemas.openxmlformats.org/drawingml/2006/main"/>
          <a:ln xmlns:a="http://schemas.openxmlformats.org/drawingml/2006/main" w="9525">
            <a:solidFill>
              <a:srgbClr val="D7E0DA"/>
            </a:solidFill>
            <a:prstDash val="solid"/>
          </a:ln>
        </p:spPr>
      </p:sp>
      <p:sp>
        <p:nvSpPr>
          <p:cNvPr id="10" name="validation-check-1">
            <a:extLst xmlns:a="http://schemas.openxmlformats.org/drawingml/2006/main">
              <a:ext uri="{FF2B5EF4-FFF2-40B4-BE49-F238E27FC236}">
                <a16:creationId xmlns:a16="http://schemas.microsoft.com/office/drawing/2014/main" id="{E9C136C0-6200-4CB3-86DB-5F7681F4220B}"/>
              </a:ext>
            </a:extLst>
          </p:cNvPr>
          <p:cNvSpPr>
            <a:spLocks xmlns:a="http://schemas.openxmlformats.org/drawingml/2006/main" noGrp="1"/>
          </p:cNvSpPr>
          <p:nvPr/>
        </p:nvSpPr>
        <p:spPr>
          <a:xfrm xmlns:a="http://schemas.openxmlformats.org/drawingml/2006/main">
            <a:off x="4857750" y="2819400"/>
            <a:ext cx="619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0">
                <a:solidFill>
                  <a:srgbClr val="23352F"/>
                </a:solidFill>
                <a:latin typeface="Arial"/>
                <a:ea typeface="Arial"/>
                <a:cs typeface="Arial"/>
              </a:defRPr>
            </a:defPPr>
          </a:lstStyle>
          <a:p xmlns:a="http://schemas.openxmlformats.org/drawingml/2006/main">
            <a:pPr algn="l">
              <a:lnSpc>
                <a:spcPct val="105000"/>
              </a:lnSpc>
              <a:buNone/>
              <a:defRPr sz="1800" b="0">
                <a:solidFill>
                  <a:srgbClr val="23352F"/>
                </a:solidFill>
                <a:latin typeface="Arial"/>
                <a:ea typeface="Arial"/>
                <a:cs typeface="Arial"/>
              </a:defRPr>
            </a:pPr>
            <a:r>
              <a:rPr sz="1800" b="0">
                <a:solidFill>
                  <a:srgbClr val="23352F"/>
                </a:solidFill>
                <a:latin typeface="Arial"/>
                <a:ea typeface="Arial"/>
                <a:cs typeface="Arial"/>
              </a:rPr>
              <a:t>One row per city and month</a:t>
            </a:r>
          </a:p>
        </p:txBody>
      </p:sp>
      <p:sp>
        <p:nvSpPr>
          <p:cNvPr id="11" name="validation-check-line-1">
            <a:extLst xmlns:a="http://schemas.openxmlformats.org/drawingml/2006/main">
              <a:ext uri="{FF2B5EF4-FFF2-40B4-BE49-F238E27FC236}">
                <a16:creationId xmlns:a16="http://schemas.microsoft.com/office/drawing/2014/main" id="{CAA97960-BA28-4E01-8783-5F69CB335270}"/>
              </a:ext>
            </a:extLst>
          </p:cNvPr>
          <p:cNvSpPr>
            <a:spLocks xmlns:a="http://schemas.openxmlformats.org/drawingml/2006/main" noGrp="1"/>
          </p:cNvSpPr>
          <p:nvPr/>
        </p:nvSpPr>
        <p:spPr>
          <a:xfrm xmlns:a="http://schemas.openxmlformats.org/drawingml/2006/main">
            <a:off x="4857750" y="3248025"/>
            <a:ext cx="6457950" cy="0"/>
          </a:xfrm>
          <a:prstGeom xmlns:a="http://schemas.openxmlformats.org/drawingml/2006/main" prst="line">
            <a:avLst/>
          </a:prstGeom>
          <a:noFill xmlns:a="http://schemas.openxmlformats.org/drawingml/2006/main"/>
          <a:ln xmlns:a="http://schemas.openxmlformats.org/drawingml/2006/main" w="9525">
            <a:solidFill>
              <a:srgbClr val="D7E0DA"/>
            </a:solidFill>
            <a:prstDash val="solid"/>
          </a:ln>
        </p:spPr>
      </p:sp>
      <p:sp>
        <p:nvSpPr>
          <p:cNvPr id="12" name="validation-check-2">
            <a:extLst xmlns:a="http://schemas.openxmlformats.org/drawingml/2006/main">
              <a:ext uri="{FF2B5EF4-FFF2-40B4-BE49-F238E27FC236}">
                <a16:creationId xmlns:a16="http://schemas.microsoft.com/office/drawing/2014/main" id="{383ED777-CD24-4DFF-9E88-11FF689FCBA9}"/>
              </a:ext>
            </a:extLst>
          </p:cNvPr>
          <p:cNvSpPr>
            <a:spLocks xmlns:a="http://schemas.openxmlformats.org/drawingml/2006/main" noGrp="1"/>
          </p:cNvSpPr>
          <p:nvPr/>
        </p:nvSpPr>
        <p:spPr>
          <a:xfrm xmlns:a="http://schemas.openxmlformats.org/drawingml/2006/main">
            <a:off x="4857750" y="3362325"/>
            <a:ext cx="619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0">
                <a:solidFill>
                  <a:srgbClr val="23352F"/>
                </a:solidFill>
                <a:latin typeface="Arial"/>
                <a:ea typeface="Arial"/>
                <a:cs typeface="Arial"/>
              </a:defRPr>
            </a:defPPr>
          </a:lstStyle>
          <a:p xmlns:a="http://schemas.openxmlformats.org/drawingml/2006/main">
            <a:pPr algn="l">
              <a:lnSpc>
                <a:spcPct val="105000"/>
              </a:lnSpc>
              <a:buNone/>
              <a:defRPr sz="1800" b="0">
                <a:solidFill>
                  <a:srgbClr val="23352F"/>
                </a:solidFill>
                <a:latin typeface="Arial"/>
                <a:ea typeface="Arial"/>
                <a:cs typeface="Arial"/>
              </a:defRPr>
            </a:pPr>
            <a:r>
              <a:rPr sz="1800" b="0">
                <a:solidFill>
                  <a:srgbClr val="23352F"/>
                </a:solidFill>
                <a:latin typeface="Arial"/>
                <a:ea typeface="Arial"/>
                <a:cs typeface="Arial"/>
              </a:rPr>
              <a:t>Coordinates and dates are valid</a:t>
            </a:r>
          </a:p>
        </p:txBody>
      </p:sp>
      <p:sp>
        <p:nvSpPr>
          <p:cNvPr id="13" name="validation-check-line-2">
            <a:extLst xmlns:a="http://schemas.openxmlformats.org/drawingml/2006/main">
              <a:ext uri="{FF2B5EF4-FFF2-40B4-BE49-F238E27FC236}">
                <a16:creationId xmlns:a16="http://schemas.microsoft.com/office/drawing/2014/main" id="{BE4141BA-4900-4C59-9E36-CA948A76AAF9}"/>
              </a:ext>
            </a:extLst>
          </p:cNvPr>
          <p:cNvSpPr>
            <a:spLocks xmlns:a="http://schemas.openxmlformats.org/drawingml/2006/main" noGrp="1"/>
          </p:cNvSpPr>
          <p:nvPr/>
        </p:nvSpPr>
        <p:spPr>
          <a:xfrm xmlns:a="http://schemas.openxmlformats.org/drawingml/2006/main">
            <a:off x="4857750" y="3790950"/>
            <a:ext cx="6457950" cy="0"/>
          </a:xfrm>
          <a:prstGeom xmlns:a="http://schemas.openxmlformats.org/drawingml/2006/main" prst="line">
            <a:avLst/>
          </a:prstGeom>
          <a:noFill xmlns:a="http://schemas.openxmlformats.org/drawingml/2006/main"/>
          <a:ln xmlns:a="http://schemas.openxmlformats.org/drawingml/2006/main" w="9525">
            <a:solidFill>
              <a:srgbClr val="D7E0DA"/>
            </a:solidFill>
            <a:prstDash val="solid"/>
          </a:ln>
        </p:spPr>
      </p:sp>
      <p:sp>
        <p:nvSpPr>
          <p:cNvPr id="14" name="validation-check-3">
            <a:extLst xmlns:a="http://schemas.openxmlformats.org/drawingml/2006/main">
              <a:ext uri="{FF2B5EF4-FFF2-40B4-BE49-F238E27FC236}">
                <a16:creationId xmlns:a16="http://schemas.microsoft.com/office/drawing/2014/main" id="{DE1F1ECF-402E-459E-B904-674A4B1187CA}"/>
              </a:ext>
            </a:extLst>
          </p:cNvPr>
          <p:cNvSpPr>
            <a:spLocks xmlns:a="http://schemas.openxmlformats.org/drawingml/2006/main" noGrp="1"/>
          </p:cNvSpPr>
          <p:nvPr/>
        </p:nvSpPr>
        <p:spPr>
          <a:xfrm xmlns:a="http://schemas.openxmlformats.org/drawingml/2006/main">
            <a:off x="4857750" y="3905250"/>
            <a:ext cx="619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0">
                <a:solidFill>
                  <a:srgbClr val="23352F"/>
                </a:solidFill>
                <a:latin typeface="Arial"/>
                <a:ea typeface="Arial"/>
                <a:cs typeface="Arial"/>
              </a:defRPr>
            </a:defPPr>
          </a:lstStyle>
          <a:p xmlns:a="http://schemas.openxmlformats.org/drawingml/2006/main">
            <a:pPr algn="l">
              <a:lnSpc>
                <a:spcPct val="105000"/>
              </a:lnSpc>
              <a:buNone/>
              <a:defRPr sz="1800" b="0">
                <a:solidFill>
                  <a:srgbClr val="23352F"/>
                </a:solidFill>
                <a:latin typeface="Arial"/>
                <a:ea typeface="Arial"/>
                <a:cs typeface="Arial"/>
              </a:defRPr>
            </a:pPr>
            <a:r>
              <a:rPr sz="1800" b="0">
                <a:solidFill>
                  <a:srgbClr val="23352F"/>
                </a:solidFill>
                <a:latin typeface="Arial"/>
                <a:ea typeface="Arial"/>
                <a:cs typeface="Arial"/>
              </a:rPr>
              <a:t>Rainfall is non-negative</a:t>
            </a:r>
          </a:p>
        </p:txBody>
      </p:sp>
      <p:sp>
        <p:nvSpPr>
          <p:cNvPr id="15" name="validation-check-line-3">
            <a:extLst xmlns:a="http://schemas.openxmlformats.org/drawingml/2006/main">
              <a:ext uri="{FF2B5EF4-FFF2-40B4-BE49-F238E27FC236}">
                <a16:creationId xmlns:a16="http://schemas.microsoft.com/office/drawing/2014/main" id="{53BDE26D-0DEA-41B4-9642-B2B6B940DED7}"/>
              </a:ext>
            </a:extLst>
          </p:cNvPr>
          <p:cNvSpPr>
            <a:spLocks xmlns:a="http://schemas.openxmlformats.org/drawingml/2006/main" noGrp="1"/>
          </p:cNvSpPr>
          <p:nvPr/>
        </p:nvSpPr>
        <p:spPr>
          <a:xfrm xmlns:a="http://schemas.openxmlformats.org/drawingml/2006/main">
            <a:off x="4857750" y="4333875"/>
            <a:ext cx="6457950" cy="0"/>
          </a:xfrm>
          <a:prstGeom xmlns:a="http://schemas.openxmlformats.org/drawingml/2006/main" prst="line">
            <a:avLst/>
          </a:prstGeom>
          <a:noFill xmlns:a="http://schemas.openxmlformats.org/drawingml/2006/main"/>
          <a:ln xmlns:a="http://schemas.openxmlformats.org/drawingml/2006/main" w="9525">
            <a:solidFill>
              <a:srgbClr val="D7E0DA"/>
            </a:solidFill>
            <a:prstDash val="solid"/>
          </a:ln>
        </p:spPr>
      </p:sp>
      <p:sp>
        <p:nvSpPr>
          <p:cNvPr id="16" name="validation-check-4">
            <a:extLst xmlns:a="http://schemas.openxmlformats.org/drawingml/2006/main">
              <a:ext uri="{FF2B5EF4-FFF2-40B4-BE49-F238E27FC236}">
                <a16:creationId xmlns:a16="http://schemas.microsoft.com/office/drawing/2014/main" id="{F2675EBB-2E13-45AE-A3F6-49575D97EE90}"/>
              </a:ext>
            </a:extLst>
          </p:cNvPr>
          <p:cNvSpPr>
            <a:spLocks xmlns:a="http://schemas.openxmlformats.org/drawingml/2006/main" noGrp="1"/>
          </p:cNvSpPr>
          <p:nvPr/>
        </p:nvSpPr>
        <p:spPr>
          <a:xfrm xmlns:a="http://schemas.openxmlformats.org/drawingml/2006/main">
            <a:off x="4857750" y="4448175"/>
            <a:ext cx="619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0">
                <a:solidFill>
                  <a:srgbClr val="23352F"/>
                </a:solidFill>
                <a:latin typeface="Arial"/>
                <a:ea typeface="Arial"/>
                <a:cs typeface="Arial"/>
              </a:defRPr>
            </a:defPPr>
          </a:lstStyle>
          <a:p xmlns:a="http://schemas.openxmlformats.org/drawingml/2006/main">
            <a:pPr algn="l">
              <a:lnSpc>
                <a:spcPct val="105000"/>
              </a:lnSpc>
              <a:buNone/>
              <a:defRPr sz="1800" b="0">
                <a:solidFill>
                  <a:srgbClr val="23352F"/>
                </a:solidFill>
                <a:latin typeface="Arial"/>
                <a:ea typeface="Arial"/>
                <a:cs typeface="Arial"/>
              </a:defRPr>
            </a:pPr>
            <a:r>
              <a:rPr sz="1800" b="0">
                <a:solidFill>
                  <a:srgbClr val="23352F"/>
                </a:solidFill>
                <a:latin typeface="Arial"/>
                <a:ea typeface="Arial"/>
                <a:cs typeface="Arial"/>
              </a:rPr>
              <a:t>Minimum temperature ≤ average ≤ maximum</a:t>
            </a:r>
          </a:p>
        </p:txBody>
      </p:sp>
      <p:sp>
        <p:nvSpPr>
          <p:cNvPr id="17" name="validation-footer">
            <a:extLst xmlns:a="http://schemas.openxmlformats.org/drawingml/2006/main">
              <a:ext uri="{FF2B5EF4-FFF2-40B4-BE49-F238E27FC236}">
                <a16:creationId xmlns:a16="http://schemas.microsoft.com/office/drawing/2014/main" id="{933809F2-C0E7-4FF0-9655-0B19A252558C}"/>
              </a:ext>
            </a:extLst>
          </p:cNvPr>
          <p:cNvSpPr>
            <a:spLocks xmlns:a="http://schemas.openxmlformats.org/drawingml/2006/main" noGrp="1"/>
          </p:cNvSpPr>
          <p:nvPr/>
        </p:nvSpPr>
        <p:spPr>
          <a:xfrm xmlns:a="http://schemas.openxmlformats.org/drawingml/2006/main">
            <a:off x="781050" y="5467350"/>
            <a:ext cx="1028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65766E"/>
                </a:solidFill>
                <a:latin typeface="Arial"/>
                <a:ea typeface="Arial"/>
                <a:cs typeface="Arial"/>
              </a:defRPr>
            </a:defPPr>
          </a:lstStyle>
          <a:p xmlns:a="http://schemas.openxmlformats.org/drawingml/2006/main">
            <a:pPr algn="l">
              <a:lnSpc>
                <a:spcPct val="105000"/>
              </a:lnSpc>
              <a:buNone/>
              <a:defRPr sz="1575" b="0">
                <a:solidFill>
                  <a:srgbClr val="65766E"/>
                </a:solidFill>
                <a:latin typeface="Arial"/>
                <a:ea typeface="Arial"/>
                <a:cs typeface="Arial"/>
              </a:defRPr>
            </a:pPr>
            <a:r>
              <a:rPr sz="1575" b="0">
                <a:solidFill>
                  <a:srgbClr val="65766E"/>
                </a:solidFill>
                <a:latin typeface="Arial"/>
                <a:ea typeface="Arial"/>
                <a:cs typeface="Arial"/>
              </a:rPr>
              <a:t>These checks confirm the rules tested; they do not guarantee every possible error is absent.</a:t>
            </a:r>
          </a:p>
        </p:txBody>
      </p:sp>
    </p:spTree>
    <p:extLst>
      <p:ext uri="{BB962C8B-B14F-4D97-AF65-F5344CB8AC3E}">
        <p14:creationId xmlns:p14="http://schemas.microsoft.com/office/powerpoint/2010/main" val="1145515327"/>
      </p:ext>
    </p:extLst>
  </p:cSld>
</p:sld>
</file>

<file path=ppt/slides/slide9.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3E6299FA-5055-4A5D-A24B-E9D1AAF03654}"/>
              </a:ext>
            </a:extLst>
          </p:cNvPr>
          <p:cNvSpPr>
            <a:spLocks xmlns:a="http://schemas.openxmlformats.org/drawingml/2006/main" noGrp="1"/>
          </p:cNvSpPr>
          <p:nvPr/>
        </p:nvSpPr>
        <p:spPr>
          <a:xfrm xmlns:a="http://schemas.openxmlformats.org/drawingml/2006/main">
            <a:off x="723900" y="533400"/>
            <a:ext cx="10744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300" b="1">
                <a:solidFill>
                  <a:srgbClr val="23352F"/>
                </a:solidFill>
                <a:latin typeface="Arial"/>
                <a:ea typeface="Arial"/>
                <a:cs typeface="Arial"/>
              </a:defRPr>
            </a:defPPr>
          </a:lstStyle>
          <a:p xmlns:a="http://schemas.openxmlformats.org/drawingml/2006/main">
            <a:pPr algn="l">
              <a:lnSpc>
                <a:spcPct val="105000"/>
              </a:lnSpc>
              <a:buNone/>
              <a:defRPr sz="3300" b="1">
                <a:solidFill>
                  <a:srgbClr val="23352F"/>
                </a:solidFill>
                <a:latin typeface="Arial"/>
                <a:ea typeface="Arial"/>
                <a:cs typeface="Arial"/>
              </a:defRPr>
            </a:pPr>
            <a:r>
              <a:rPr sz="3300" b="1">
                <a:solidFill>
                  <a:srgbClr val="23352F"/>
                </a:solidFill>
                <a:latin typeface="Arial"/>
                <a:ea typeface="Arial"/>
                <a:cs typeface="Arial"/>
              </a:rPr>
              <a:t>What the data does not provide</a:t>
            </a:r>
          </a:p>
        </p:txBody>
      </p:sp>
      <p:sp>
        <p:nvSpPr>
          <p:cNvPr id="2" name="slide-subtitle">
            <a:extLst xmlns:a="http://schemas.openxmlformats.org/drawingml/2006/main">
              <a:ext uri="{FF2B5EF4-FFF2-40B4-BE49-F238E27FC236}">
                <a16:creationId xmlns:a16="http://schemas.microsoft.com/office/drawing/2014/main" id="{5C2A1632-C525-4863-82DC-6713521F67F3}"/>
              </a:ext>
            </a:extLst>
          </p:cNvPr>
          <p:cNvSpPr>
            <a:spLocks xmlns:a="http://schemas.openxmlformats.org/drawingml/2006/main" noGrp="1"/>
          </p:cNvSpPr>
          <p:nvPr/>
        </p:nvSpPr>
        <p:spPr>
          <a:xfrm xmlns:a="http://schemas.openxmlformats.org/drawingml/2006/main">
            <a:off x="742950" y="1200150"/>
            <a:ext cx="1047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65766E"/>
                </a:solidFill>
                <a:latin typeface="Arial"/>
                <a:ea typeface="Arial"/>
                <a:cs typeface="Arial"/>
              </a:defRPr>
            </a:defPPr>
          </a:lstStyle>
          <a:p xmlns:a="http://schemas.openxmlformats.org/drawingml/2006/main">
            <a:pPr algn="l">
              <a:lnSpc>
                <a:spcPct val="105000"/>
              </a:lnSpc>
              <a:buNone/>
              <a:defRPr sz="1725" b="0">
                <a:solidFill>
                  <a:srgbClr val="65766E"/>
                </a:solidFill>
                <a:latin typeface="Arial"/>
                <a:ea typeface="Arial"/>
                <a:cs typeface="Arial"/>
              </a:defRPr>
            </a:pPr>
            <a:r>
              <a:rPr sz="1725" b="0">
                <a:solidFill>
                  <a:srgbClr val="65766E"/>
                </a:solidFill>
                <a:latin typeface="Arial"/>
                <a:ea typeface="Arial"/>
                <a:cs typeface="Arial"/>
              </a:rPr>
              <a:t>Keep the limits visible when using the dataset.</a:t>
            </a:r>
          </a:p>
        </p:txBody>
      </p:sp>
      <p:sp>
        <p:nvSpPr>
          <p:cNvPr id="3" name="title-rule">
            <a:extLst xmlns:a="http://schemas.openxmlformats.org/drawingml/2006/main">
              <a:ext uri="{FF2B5EF4-FFF2-40B4-BE49-F238E27FC236}">
                <a16:creationId xmlns:a16="http://schemas.microsoft.com/office/drawing/2014/main" id="{FC4EF2B4-EB84-4EEB-870E-2BA09455C106}"/>
              </a:ext>
            </a:extLst>
          </p:cNvPr>
          <p:cNvSpPr>
            <a:spLocks xmlns:a="http://schemas.openxmlformats.org/drawingml/2006/main" noGrp="1"/>
          </p:cNvSpPr>
          <p:nvPr/>
        </p:nvSpPr>
        <p:spPr>
          <a:xfrm xmlns:a="http://schemas.openxmlformats.org/drawingml/2006/main">
            <a:off x="742950" y="1752600"/>
            <a:ext cx="10706100" cy="0"/>
          </a:xfrm>
          <a:prstGeom xmlns:a="http://schemas.openxmlformats.org/drawingml/2006/main" prst="line">
            <a:avLst/>
          </a:prstGeom>
          <a:noFill xmlns:a="http://schemas.openxmlformats.org/drawingml/2006/main"/>
          <a:ln xmlns:a="http://schemas.openxmlformats.org/drawingml/2006/main" w="12383">
            <a:solidFill>
              <a:srgbClr val="D7E0DA"/>
            </a:solidFill>
            <a:prstDash val="solid"/>
          </a:ln>
        </p:spPr>
      </p:sp>
      <p:sp>
        <p:nvSpPr>
          <p:cNvPr id="4" name="page-number">
            <a:extLst xmlns:a="http://schemas.openxmlformats.org/drawingml/2006/main">
              <a:ext uri="{FF2B5EF4-FFF2-40B4-BE49-F238E27FC236}">
                <a16:creationId xmlns:a16="http://schemas.microsoft.com/office/drawing/2014/main" id="{32D78E3A-1D3C-49F2-A7E3-FAFAC5965BAA}"/>
              </a:ext>
            </a:extLst>
          </p:cNvPr>
          <p:cNvSpPr>
            <a:spLocks xmlns:a="http://schemas.openxmlformats.org/drawingml/2006/main" noGrp="1"/>
          </p:cNvSpPr>
          <p:nvPr/>
        </p:nvSpPr>
        <p:spPr>
          <a:xfrm xmlns:a="http://schemas.openxmlformats.org/drawingml/2006/main">
            <a:off x="11049000" y="640080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9206"/>
          </a:bodyPr>
          <a:lstStyle xmlns:a="http://schemas.openxmlformats.org/drawingml/2006/main">
            <a:defPPr algn="r">
              <a:defRPr sz="1200" b="0">
                <a:solidFill>
                  <a:srgbClr val="65766E"/>
                </a:solidFill>
                <a:latin typeface="Arial"/>
                <a:ea typeface="Arial"/>
                <a:cs typeface="Arial"/>
              </a:defRPr>
            </a:defPPr>
          </a:lstStyle>
          <a:p xmlns:a="http://schemas.openxmlformats.org/drawingml/2006/main">
            <a:pPr algn="r">
              <a:lnSpc>
                <a:spcPct val="105000"/>
              </a:lnSpc>
              <a:buNone/>
              <a:defRPr sz="1200" b="0">
                <a:solidFill>
                  <a:srgbClr val="65766E"/>
                </a:solidFill>
                <a:latin typeface="Arial"/>
                <a:ea typeface="Arial"/>
                <a:cs typeface="Arial"/>
              </a:defRPr>
            </a:pPr>
            <a:r>
              <a:rPr sz="1200" b="0">
                <a:solidFill>
                  <a:srgbClr val="65766E"/>
                </a:solidFill>
                <a:latin typeface="Arial"/>
                <a:ea typeface="Arial"/>
                <a:cs typeface="Arial"/>
              </a:rPr>
              <a:t>09</a:t>
            </a:r>
          </a:p>
        </p:txBody>
      </p:sp>
      <p:sp>
        <p:nvSpPr>
          <p:cNvPr id="5" name="limit-label-0">
            <a:extLst xmlns:a="http://schemas.openxmlformats.org/drawingml/2006/main">
              <a:ext uri="{FF2B5EF4-FFF2-40B4-BE49-F238E27FC236}">
                <a16:creationId xmlns:a16="http://schemas.microsoft.com/office/drawing/2014/main" id="{DCD1AD3E-870E-4932-AB8A-133640B9808C}"/>
              </a:ext>
            </a:extLst>
          </p:cNvPr>
          <p:cNvSpPr>
            <a:spLocks xmlns:a="http://schemas.openxmlformats.org/drawingml/2006/main" noGrp="1"/>
          </p:cNvSpPr>
          <p:nvPr/>
        </p:nvSpPr>
        <p:spPr>
          <a:xfrm xmlns:a="http://schemas.openxmlformats.org/drawingml/2006/main">
            <a:off x="781050" y="2266950"/>
            <a:ext cx="2714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45665A"/>
                </a:solidFill>
                <a:latin typeface="Arial"/>
                <a:ea typeface="Arial"/>
                <a:cs typeface="Arial"/>
              </a:defRPr>
            </a:defPPr>
          </a:lstStyle>
          <a:p xmlns:a="http://schemas.openxmlformats.org/drawingml/2006/main">
            <a:pPr algn="l">
              <a:lnSpc>
                <a:spcPct val="105000"/>
              </a:lnSpc>
              <a:buNone/>
              <a:defRPr sz="1875" b="1">
                <a:solidFill>
                  <a:srgbClr val="45665A"/>
                </a:solidFill>
                <a:latin typeface="Arial"/>
                <a:ea typeface="Arial"/>
                <a:cs typeface="Arial"/>
              </a:defRPr>
            </a:pPr>
            <a:r>
              <a:rPr sz="1875" b="1">
                <a:solidFill>
                  <a:srgbClr val="45665A"/>
                </a:solidFill>
                <a:latin typeface="Arial"/>
                <a:ea typeface="Arial"/>
                <a:cs typeface="Arial"/>
              </a:rPr>
              <a:t>Daily observations</a:t>
            </a:r>
          </a:p>
        </p:txBody>
      </p:sp>
      <p:sp>
        <p:nvSpPr>
          <p:cNvPr id="6" name="limit-description-0">
            <a:extLst xmlns:a="http://schemas.openxmlformats.org/drawingml/2006/main">
              <a:ext uri="{FF2B5EF4-FFF2-40B4-BE49-F238E27FC236}">
                <a16:creationId xmlns:a16="http://schemas.microsoft.com/office/drawing/2014/main" id="{8962B8BD-FF27-44DA-BDB6-D93417A0C190}"/>
              </a:ext>
            </a:extLst>
          </p:cNvPr>
          <p:cNvSpPr>
            <a:spLocks xmlns:a="http://schemas.openxmlformats.org/drawingml/2006/main" noGrp="1"/>
          </p:cNvSpPr>
          <p:nvPr/>
        </p:nvSpPr>
        <p:spPr>
          <a:xfrm xmlns:a="http://schemas.openxmlformats.org/drawingml/2006/main">
            <a:off x="3638550" y="2266950"/>
            <a:ext cx="7620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0">
                <a:solidFill>
                  <a:srgbClr val="23352F"/>
                </a:solidFill>
                <a:latin typeface="Arial"/>
                <a:ea typeface="Arial"/>
                <a:cs typeface="Arial"/>
              </a:defRPr>
            </a:defPPr>
          </a:lstStyle>
          <a:p xmlns:a="http://schemas.openxmlformats.org/drawingml/2006/main">
            <a:pPr algn="l">
              <a:lnSpc>
                <a:spcPct val="105000"/>
              </a:lnSpc>
              <a:buNone/>
              <a:defRPr sz="1800" b="0">
                <a:solidFill>
                  <a:srgbClr val="23352F"/>
                </a:solidFill>
                <a:latin typeface="Arial"/>
                <a:ea typeface="Arial"/>
                <a:cs typeface="Arial"/>
              </a:defRPr>
            </a:pPr>
            <a:r>
              <a:rPr sz="1800" b="0">
                <a:solidFill>
                  <a:srgbClr val="23352F"/>
                </a:solidFill>
                <a:latin typeface="Arial"/>
                <a:ea typeface="Arial"/>
                <a:cs typeface="Arial"/>
              </a:rPr>
              <a:t>The source is monthly. The daily output is schema-only and has no records.</a:t>
            </a:r>
          </a:p>
        </p:txBody>
      </p:sp>
      <p:sp>
        <p:nvSpPr>
          <p:cNvPr id="7" name="limit-rule-0">
            <a:extLst xmlns:a="http://schemas.openxmlformats.org/drawingml/2006/main">
              <a:ext uri="{FF2B5EF4-FFF2-40B4-BE49-F238E27FC236}">
                <a16:creationId xmlns:a16="http://schemas.microsoft.com/office/drawing/2014/main" id="{A0AA69D7-23D7-4F8A-9F1A-5A1EDAB22445}"/>
              </a:ext>
            </a:extLst>
          </p:cNvPr>
          <p:cNvSpPr>
            <a:spLocks xmlns:a="http://schemas.openxmlformats.org/drawingml/2006/main" noGrp="1"/>
          </p:cNvSpPr>
          <p:nvPr/>
        </p:nvSpPr>
        <p:spPr>
          <a:xfrm xmlns:a="http://schemas.openxmlformats.org/drawingml/2006/main">
            <a:off x="781050" y="3009900"/>
            <a:ext cx="10601325" cy="0"/>
          </a:xfrm>
          <a:prstGeom xmlns:a="http://schemas.openxmlformats.org/drawingml/2006/main" prst="line">
            <a:avLst/>
          </a:prstGeom>
          <a:noFill xmlns:a="http://schemas.openxmlformats.org/drawingml/2006/main"/>
          <a:ln xmlns:a="http://schemas.openxmlformats.org/drawingml/2006/main" w="9525">
            <a:solidFill>
              <a:srgbClr val="D7E0DA"/>
            </a:solidFill>
            <a:prstDash val="solid"/>
          </a:ln>
        </p:spPr>
      </p:sp>
      <p:sp>
        <p:nvSpPr>
          <p:cNvPr id="8" name="limit-label-1">
            <a:extLst xmlns:a="http://schemas.openxmlformats.org/drawingml/2006/main">
              <a:ext uri="{FF2B5EF4-FFF2-40B4-BE49-F238E27FC236}">
                <a16:creationId xmlns:a16="http://schemas.microsoft.com/office/drawing/2014/main" id="{AE9690FB-7D1F-4B3A-8A74-0DF5F9810625}"/>
              </a:ext>
            </a:extLst>
          </p:cNvPr>
          <p:cNvSpPr>
            <a:spLocks xmlns:a="http://schemas.openxmlformats.org/drawingml/2006/main" noGrp="1"/>
          </p:cNvSpPr>
          <p:nvPr/>
        </p:nvSpPr>
        <p:spPr>
          <a:xfrm xmlns:a="http://schemas.openxmlformats.org/drawingml/2006/main">
            <a:off x="781050" y="3333750"/>
            <a:ext cx="2714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45665A"/>
                </a:solidFill>
                <a:latin typeface="Arial"/>
                <a:ea typeface="Arial"/>
                <a:cs typeface="Arial"/>
              </a:defRPr>
            </a:defPPr>
          </a:lstStyle>
          <a:p xmlns:a="http://schemas.openxmlformats.org/drawingml/2006/main">
            <a:pPr algn="l">
              <a:lnSpc>
                <a:spcPct val="105000"/>
              </a:lnSpc>
              <a:buNone/>
              <a:defRPr sz="1875" b="1">
                <a:solidFill>
                  <a:srgbClr val="45665A"/>
                </a:solidFill>
                <a:latin typeface="Arial"/>
                <a:ea typeface="Arial"/>
                <a:cs typeface="Arial"/>
              </a:defRPr>
            </a:pPr>
            <a:r>
              <a:rPr sz="1875" b="1">
                <a:solidFill>
                  <a:srgbClr val="45665A"/>
                </a:solidFill>
                <a:latin typeface="Arial"/>
                <a:ea typeface="Arial"/>
                <a:cs typeface="Arial"/>
              </a:rPr>
              <a:t>Other measures</a:t>
            </a:r>
          </a:p>
        </p:txBody>
      </p:sp>
      <p:sp>
        <p:nvSpPr>
          <p:cNvPr id="9" name="limit-description-1">
            <a:extLst xmlns:a="http://schemas.openxmlformats.org/drawingml/2006/main">
              <a:ext uri="{FF2B5EF4-FFF2-40B4-BE49-F238E27FC236}">
                <a16:creationId xmlns:a16="http://schemas.microsoft.com/office/drawing/2014/main" id="{59389A8B-7843-48E9-AFD9-6EFB07D27E68}"/>
              </a:ext>
            </a:extLst>
          </p:cNvPr>
          <p:cNvSpPr>
            <a:spLocks xmlns:a="http://schemas.openxmlformats.org/drawingml/2006/main" noGrp="1"/>
          </p:cNvSpPr>
          <p:nvPr/>
        </p:nvSpPr>
        <p:spPr>
          <a:xfrm xmlns:a="http://schemas.openxmlformats.org/drawingml/2006/main">
            <a:off x="3638550" y="3333750"/>
            <a:ext cx="7620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0">
                <a:solidFill>
                  <a:srgbClr val="23352F"/>
                </a:solidFill>
                <a:latin typeface="Arial"/>
                <a:ea typeface="Arial"/>
                <a:cs typeface="Arial"/>
              </a:defRPr>
            </a:defPPr>
          </a:lstStyle>
          <a:p xmlns:a="http://schemas.openxmlformats.org/drawingml/2006/main">
            <a:pPr algn="l">
              <a:lnSpc>
                <a:spcPct val="105000"/>
              </a:lnSpc>
              <a:buNone/>
              <a:defRPr sz="1800" b="0">
                <a:solidFill>
                  <a:srgbClr val="23352F"/>
                </a:solidFill>
                <a:latin typeface="Arial"/>
                <a:ea typeface="Arial"/>
                <a:cs typeface="Arial"/>
              </a:defRPr>
            </a:pPr>
            <a:r>
              <a:rPr sz="1800" b="0">
                <a:solidFill>
                  <a:srgbClr val="23352F"/>
                </a:solidFill>
                <a:latin typeface="Arial"/>
                <a:ea typeface="Arial"/>
                <a:cs typeface="Arial"/>
              </a:rPr>
              <a:t>District, relative humidity, AQI, PM2.5, and NDVI are unavailable.</a:t>
            </a:r>
          </a:p>
        </p:txBody>
      </p:sp>
      <p:sp>
        <p:nvSpPr>
          <p:cNvPr id="10" name="limit-rule-1">
            <a:extLst xmlns:a="http://schemas.openxmlformats.org/drawingml/2006/main">
              <a:ext uri="{FF2B5EF4-FFF2-40B4-BE49-F238E27FC236}">
                <a16:creationId xmlns:a16="http://schemas.microsoft.com/office/drawing/2014/main" id="{B292596D-8DBD-4C26-A886-EC14B1DE5FAF}"/>
              </a:ext>
            </a:extLst>
          </p:cNvPr>
          <p:cNvSpPr>
            <a:spLocks xmlns:a="http://schemas.openxmlformats.org/drawingml/2006/main" noGrp="1"/>
          </p:cNvSpPr>
          <p:nvPr/>
        </p:nvSpPr>
        <p:spPr>
          <a:xfrm xmlns:a="http://schemas.openxmlformats.org/drawingml/2006/main">
            <a:off x="781050" y="4076700"/>
            <a:ext cx="10601325" cy="0"/>
          </a:xfrm>
          <a:prstGeom xmlns:a="http://schemas.openxmlformats.org/drawingml/2006/main" prst="line">
            <a:avLst/>
          </a:prstGeom>
          <a:noFill xmlns:a="http://schemas.openxmlformats.org/drawingml/2006/main"/>
          <a:ln xmlns:a="http://schemas.openxmlformats.org/drawingml/2006/main" w="9525">
            <a:solidFill>
              <a:srgbClr val="D7E0DA"/>
            </a:solidFill>
            <a:prstDash val="solid"/>
          </a:ln>
        </p:spPr>
      </p:sp>
      <p:sp>
        <p:nvSpPr>
          <p:cNvPr id="11" name="limit-label-2">
            <a:extLst xmlns:a="http://schemas.openxmlformats.org/drawingml/2006/main">
              <a:ext uri="{FF2B5EF4-FFF2-40B4-BE49-F238E27FC236}">
                <a16:creationId xmlns:a16="http://schemas.microsoft.com/office/drawing/2014/main" id="{020ADD66-E084-4E2E-8C31-D6E3A4510A59}"/>
              </a:ext>
            </a:extLst>
          </p:cNvPr>
          <p:cNvSpPr>
            <a:spLocks xmlns:a="http://schemas.openxmlformats.org/drawingml/2006/main" noGrp="1"/>
          </p:cNvSpPr>
          <p:nvPr/>
        </p:nvSpPr>
        <p:spPr>
          <a:xfrm xmlns:a="http://schemas.openxmlformats.org/drawingml/2006/main">
            <a:off x="781050" y="4400550"/>
            <a:ext cx="2714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45665A"/>
                </a:solidFill>
                <a:latin typeface="Arial"/>
                <a:ea typeface="Arial"/>
                <a:cs typeface="Arial"/>
              </a:defRPr>
            </a:defPPr>
          </a:lstStyle>
          <a:p xmlns:a="http://schemas.openxmlformats.org/drawingml/2006/main">
            <a:pPr algn="l">
              <a:lnSpc>
                <a:spcPct val="105000"/>
              </a:lnSpc>
              <a:buNone/>
              <a:defRPr sz="1875" b="1">
                <a:solidFill>
                  <a:srgbClr val="45665A"/>
                </a:solidFill>
                <a:latin typeface="Arial"/>
                <a:ea typeface="Arial"/>
                <a:cs typeface="Arial"/>
              </a:defRPr>
            </a:pPr>
            <a:r>
              <a:rPr sz="1875" b="1">
                <a:solidFill>
                  <a:srgbClr val="45665A"/>
                </a:solidFill>
                <a:latin typeface="Arial"/>
                <a:ea typeface="Arial"/>
                <a:cs typeface="Arial"/>
              </a:rPr>
              <a:t>Rainfall meaning</a:t>
            </a:r>
          </a:p>
        </p:txBody>
      </p:sp>
      <p:sp>
        <p:nvSpPr>
          <p:cNvPr id="12" name="limit-description-2">
            <a:extLst xmlns:a="http://schemas.openxmlformats.org/drawingml/2006/main">
              <a:ext uri="{FF2B5EF4-FFF2-40B4-BE49-F238E27FC236}">
                <a16:creationId xmlns:a16="http://schemas.microsoft.com/office/drawing/2014/main" id="{1D9D1F71-2080-459B-8A04-62E787CE206F}"/>
              </a:ext>
            </a:extLst>
          </p:cNvPr>
          <p:cNvSpPr>
            <a:spLocks xmlns:a="http://schemas.openxmlformats.org/drawingml/2006/main" noGrp="1"/>
          </p:cNvSpPr>
          <p:nvPr/>
        </p:nvSpPr>
        <p:spPr>
          <a:xfrm xmlns:a="http://schemas.openxmlformats.org/drawingml/2006/main">
            <a:off x="3638550" y="4400550"/>
            <a:ext cx="7620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0">
                <a:solidFill>
                  <a:srgbClr val="23352F"/>
                </a:solidFill>
                <a:latin typeface="Arial"/>
                <a:ea typeface="Arial"/>
                <a:cs typeface="Arial"/>
              </a:defRPr>
            </a:defPPr>
          </a:lstStyle>
          <a:p xmlns:a="http://schemas.openxmlformats.org/drawingml/2006/main">
            <a:pPr algn="l">
              <a:lnSpc>
                <a:spcPct val="105000"/>
              </a:lnSpc>
              <a:buNone/>
              <a:defRPr sz="1800" b="0">
                <a:solidFill>
                  <a:srgbClr val="23352F"/>
                </a:solidFill>
                <a:latin typeface="Arial"/>
                <a:ea typeface="Arial"/>
                <a:cs typeface="Arial"/>
              </a:defRPr>
            </a:pPr>
            <a:r>
              <a:rPr sz="1800" b="0">
                <a:solidFill>
                  <a:srgbClr val="23352F"/>
                </a:solidFill>
                <a:latin typeface="Arial"/>
                <a:ea typeface="Arial"/>
                <a:cs typeface="Arial"/>
              </a:rPr>
              <a:t>PRECTOTCORR is a monthly mean daily rate in mm/day, not a monthly total.</a:t>
            </a:r>
          </a:p>
        </p:txBody>
      </p:sp>
    </p:spTree>
    <p:extLst>
      <p:ext uri="{BB962C8B-B14F-4D97-AF65-F5344CB8AC3E}">
        <p14:creationId xmlns:p14="http://schemas.microsoft.com/office/powerpoint/2010/main" val="323670436"/>
      </p:ext>
    </p:extLst>
  </p:cSld>
</p:sld>
</file>

<file path=ppt/slides/slide10.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15" name="slide-title">
            <a:extLst xmlns:a="http://schemas.openxmlformats.org/drawingml/2006/main">
              <a:ext uri="{FF2B5EF4-FFF2-40B4-BE49-F238E27FC236}">
                <a16:creationId xmlns:a16="http://schemas.microsoft.com/office/drawing/2014/main" id="{54F9DBAF-A200-4C18-AA5A-56B679287D06}"/>
              </a:ext>
            </a:extLst>
          </p:cNvPr>
          <p:cNvSpPr>
            <a:spLocks xmlns:a="http://schemas.openxmlformats.org/drawingml/2006/main" noGrp="1"/>
          </p:cNvSpPr>
          <p:nvPr/>
        </p:nvSpPr>
        <p:spPr>
          <a:xfrm xmlns:a="http://schemas.openxmlformats.org/drawingml/2006/main">
            <a:off x="723900" y="533400"/>
            <a:ext cx="10744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300" b="1">
                <a:solidFill>
                  <a:srgbClr val="23352F"/>
                </a:solidFill>
                <a:latin typeface="Arial"/>
                <a:ea typeface="Arial"/>
                <a:cs typeface="Arial"/>
              </a:defRPr>
            </a:defPPr>
          </a:lstStyle>
          <a:p xmlns:a="http://schemas.openxmlformats.org/drawingml/2006/main">
            <a:pPr algn="l">
              <a:lnSpc>
                <a:spcPct val="105000"/>
              </a:lnSpc>
              <a:buNone/>
              <a:defRPr sz="3300" b="1">
                <a:solidFill>
                  <a:srgbClr val="23352F"/>
                </a:solidFill>
                <a:latin typeface="Arial"/>
                <a:ea typeface="Arial"/>
                <a:cs typeface="Arial"/>
              </a:defRPr>
            </a:pPr>
            <a:r>
              <a:rPr sz="3300" b="1">
                <a:solidFill>
                  <a:srgbClr val="23352F"/>
                </a:solidFill>
                <a:latin typeface="Arial"/>
                <a:ea typeface="Arial"/>
                <a:cs typeface="Arial"/>
              </a:rPr>
              <a:t>The next step is careful integration</a:t>
            </a:r>
          </a:p>
        </p:txBody>
      </p:sp>
      <p:sp>
        <p:nvSpPr>
          <p:cNvPr id="2" name="slide-subtitle">
            <a:extLst xmlns:a="http://schemas.openxmlformats.org/drawingml/2006/main">
              <a:ext uri="{FF2B5EF4-FFF2-40B4-BE49-F238E27FC236}">
                <a16:creationId xmlns:a16="http://schemas.microsoft.com/office/drawing/2014/main" id="{B75D05AC-0677-4D00-8139-E4B4719B5995}"/>
              </a:ext>
            </a:extLst>
          </p:cNvPr>
          <p:cNvSpPr>
            <a:spLocks xmlns:a="http://schemas.openxmlformats.org/drawingml/2006/main" noGrp="1"/>
          </p:cNvSpPr>
          <p:nvPr/>
        </p:nvSpPr>
        <p:spPr>
          <a:xfrm xmlns:a="http://schemas.openxmlformats.org/drawingml/2006/main">
            <a:off x="742950" y="1200150"/>
            <a:ext cx="1047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65766E"/>
                </a:solidFill>
                <a:latin typeface="Arial"/>
                <a:ea typeface="Arial"/>
                <a:cs typeface="Arial"/>
              </a:defRPr>
            </a:defPPr>
          </a:lstStyle>
          <a:p xmlns:a="http://schemas.openxmlformats.org/drawingml/2006/main">
            <a:pPr algn="l">
              <a:lnSpc>
                <a:spcPct val="105000"/>
              </a:lnSpc>
              <a:buNone/>
              <a:defRPr sz="1725" b="0">
                <a:solidFill>
                  <a:srgbClr val="65766E"/>
                </a:solidFill>
                <a:latin typeface="Arial"/>
                <a:ea typeface="Arial"/>
                <a:cs typeface="Arial"/>
              </a:defRPr>
            </a:pPr>
            <a:r>
              <a:rPr sz="1725" b="0">
                <a:solidFill>
                  <a:srgbClr val="65766E"/>
                </a:solidFill>
                <a:latin typeface="Arial"/>
                <a:ea typeface="Arial"/>
                <a:cs typeface="Arial"/>
              </a:rPr>
              <a:t>The monthly climate base is ready for compatible supporting datasets.</a:t>
            </a:r>
          </a:p>
        </p:txBody>
      </p:sp>
      <p:sp>
        <p:nvSpPr>
          <p:cNvPr id="3" name="title-rule">
            <a:extLst xmlns:a="http://schemas.openxmlformats.org/drawingml/2006/main">
              <a:ext uri="{FF2B5EF4-FFF2-40B4-BE49-F238E27FC236}">
                <a16:creationId xmlns:a16="http://schemas.microsoft.com/office/drawing/2014/main" id="{9587609A-4DE4-467D-AF3F-59E69BBA27A0}"/>
              </a:ext>
            </a:extLst>
          </p:cNvPr>
          <p:cNvSpPr>
            <a:spLocks xmlns:a="http://schemas.openxmlformats.org/drawingml/2006/main" noGrp="1"/>
          </p:cNvSpPr>
          <p:nvPr/>
        </p:nvSpPr>
        <p:spPr>
          <a:xfrm xmlns:a="http://schemas.openxmlformats.org/drawingml/2006/main">
            <a:off x="742950" y="1752600"/>
            <a:ext cx="10706100" cy="0"/>
          </a:xfrm>
          <a:prstGeom xmlns:a="http://schemas.openxmlformats.org/drawingml/2006/main" prst="line">
            <a:avLst/>
          </a:prstGeom>
          <a:noFill xmlns:a="http://schemas.openxmlformats.org/drawingml/2006/main"/>
          <a:ln xmlns:a="http://schemas.openxmlformats.org/drawingml/2006/main" w="12383">
            <a:solidFill>
              <a:srgbClr val="D7E0DA"/>
            </a:solidFill>
            <a:prstDash val="solid"/>
          </a:ln>
        </p:spPr>
      </p:sp>
      <p:sp>
        <p:nvSpPr>
          <p:cNvPr id="4" name="page-number">
            <a:extLst xmlns:a="http://schemas.openxmlformats.org/drawingml/2006/main">
              <a:ext uri="{FF2B5EF4-FFF2-40B4-BE49-F238E27FC236}">
                <a16:creationId xmlns:a16="http://schemas.microsoft.com/office/drawing/2014/main" id="{D3AC7CE1-4FB8-41C4-82E3-77FDC5F96872}"/>
              </a:ext>
            </a:extLst>
          </p:cNvPr>
          <p:cNvSpPr>
            <a:spLocks xmlns:a="http://schemas.openxmlformats.org/drawingml/2006/main" noGrp="1"/>
          </p:cNvSpPr>
          <p:nvPr/>
        </p:nvSpPr>
        <p:spPr>
          <a:xfrm xmlns:a="http://schemas.openxmlformats.org/drawingml/2006/main">
            <a:off x="11049000" y="640080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9206"/>
          </a:bodyPr>
          <a:lstStyle xmlns:a="http://schemas.openxmlformats.org/drawingml/2006/main">
            <a:defPPr algn="r">
              <a:defRPr sz="1200" b="0">
                <a:solidFill>
                  <a:srgbClr val="65766E"/>
                </a:solidFill>
                <a:latin typeface="Arial"/>
                <a:ea typeface="Arial"/>
                <a:cs typeface="Arial"/>
              </a:defRPr>
            </a:defPPr>
          </a:lstStyle>
          <a:p xmlns:a="http://schemas.openxmlformats.org/drawingml/2006/main">
            <a:pPr algn="r">
              <a:lnSpc>
                <a:spcPct val="105000"/>
              </a:lnSpc>
              <a:buNone/>
              <a:defRPr sz="1200" b="0">
                <a:solidFill>
                  <a:srgbClr val="65766E"/>
                </a:solidFill>
                <a:latin typeface="Arial"/>
                <a:ea typeface="Arial"/>
                <a:cs typeface="Arial"/>
              </a:defRPr>
            </a:pPr>
            <a:r>
              <a:rPr sz="1200" b="0">
                <a:solidFill>
                  <a:srgbClr val="65766E"/>
                </a:solidFill>
                <a:latin typeface="Arial"/>
                <a:ea typeface="Arial"/>
                <a:cs typeface="Arial"/>
              </a:rPr>
              <a:t>10</a:t>
            </a:r>
          </a:p>
        </p:txBody>
      </p:sp>
      <p:sp>
        <p:nvSpPr>
          <p:cNvPr id="5" name="next-title-0">
            <a:extLst xmlns:a="http://schemas.openxmlformats.org/drawingml/2006/main">
              <a:ext uri="{FF2B5EF4-FFF2-40B4-BE49-F238E27FC236}">
                <a16:creationId xmlns:a16="http://schemas.microsoft.com/office/drawing/2014/main" id="{A1C332EF-6D73-4132-ADF6-FCBEE9B59488}"/>
              </a:ext>
            </a:extLst>
          </p:cNvPr>
          <p:cNvSpPr>
            <a:spLocks xmlns:a="http://schemas.openxmlformats.org/drawingml/2006/main" noGrp="1"/>
          </p:cNvSpPr>
          <p:nvPr/>
        </p:nvSpPr>
        <p:spPr>
          <a:xfrm xmlns:a="http://schemas.openxmlformats.org/drawingml/2006/main">
            <a:off x="781050" y="2628900"/>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325" b="1">
                <a:solidFill>
                  <a:srgbClr val="45665A"/>
                </a:solidFill>
                <a:latin typeface="Arial"/>
                <a:ea typeface="Arial"/>
                <a:cs typeface="Arial"/>
              </a:defRPr>
            </a:defPPr>
          </a:lstStyle>
          <a:p xmlns:a="http://schemas.openxmlformats.org/drawingml/2006/main">
            <a:pPr algn="l">
              <a:lnSpc>
                <a:spcPct val="105000"/>
              </a:lnSpc>
              <a:buNone/>
              <a:defRPr sz="2325" b="1">
                <a:solidFill>
                  <a:srgbClr val="45665A"/>
                </a:solidFill>
                <a:latin typeface="Arial"/>
                <a:ea typeface="Arial"/>
                <a:cs typeface="Arial"/>
              </a:defRPr>
            </a:pPr>
            <a:r>
              <a:rPr sz="2325" b="1">
                <a:solidFill>
                  <a:srgbClr val="45665A"/>
                </a:solidFill>
                <a:latin typeface="Arial"/>
                <a:ea typeface="Arial"/>
                <a:cs typeface="Arial"/>
              </a:rPr>
              <a:t>Climate</a:t>
            </a:r>
          </a:p>
        </p:txBody>
      </p:sp>
      <p:sp>
        <p:nvSpPr>
          <p:cNvPr id="6" name="next-description-0">
            <a:extLst xmlns:a="http://schemas.openxmlformats.org/drawingml/2006/main">
              <a:ext uri="{FF2B5EF4-FFF2-40B4-BE49-F238E27FC236}">
                <a16:creationId xmlns:a16="http://schemas.microsoft.com/office/drawing/2014/main" id="{DC941F40-6170-405B-907D-89A26642743B}"/>
              </a:ext>
            </a:extLst>
          </p:cNvPr>
          <p:cNvSpPr>
            <a:spLocks xmlns:a="http://schemas.openxmlformats.org/drawingml/2006/main" noGrp="1"/>
          </p:cNvSpPr>
          <p:nvPr/>
        </p:nvSpPr>
        <p:spPr>
          <a:xfrm xmlns:a="http://schemas.openxmlformats.org/drawingml/2006/main">
            <a:off x="781050" y="3181350"/>
            <a:ext cx="2667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65766E"/>
                </a:solidFill>
                <a:latin typeface="Arial"/>
                <a:ea typeface="Arial"/>
                <a:cs typeface="Arial"/>
              </a:defRPr>
            </a:defPPr>
          </a:lstStyle>
          <a:p xmlns:a="http://schemas.openxmlformats.org/drawingml/2006/main">
            <a:pPr algn="l">
              <a:lnSpc>
                <a:spcPct val="105000"/>
              </a:lnSpc>
              <a:buNone/>
              <a:defRPr sz="1725" b="0">
                <a:solidFill>
                  <a:srgbClr val="65766E"/>
                </a:solidFill>
                <a:latin typeface="Arial"/>
                <a:ea typeface="Arial"/>
                <a:cs typeface="Arial"/>
              </a:defRPr>
            </a:pPr>
            <a:r>
              <a:rPr sz="1725" b="0">
                <a:solidFill>
                  <a:srgbClr val="65766E"/>
                </a:solidFill>
                <a:latin typeface="Arial"/>
                <a:ea typeface="Arial"/>
                <a:cs typeface="Arial"/>
              </a:rPr>
              <a:t>Validated city-month data</a:t>
            </a:r>
          </a:p>
        </p:txBody>
      </p:sp>
      <p:sp>
        <p:nvSpPr>
          <p:cNvPr id="7" name="next-link-0">
            <a:extLst xmlns:a="http://schemas.openxmlformats.org/drawingml/2006/main">
              <a:ext uri="{FF2B5EF4-FFF2-40B4-BE49-F238E27FC236}">
                <a16:creationId xmlns:a16="http://schemas.microsoft.com/office/drawing/2014/main" id="{13D72E82-1154-400D-94B9-45F89EFA5EE0}"/>
              </a:ext>
            </a:extLst>
          </p:cNvPr>
          <p:cNvSpPr>
            <a:spLocks xmlns:a="http://schemas.openxmlformats.org/drawingml/2006/main" noGrp="1"/>
          </p:cNvSpPr>
          <p:nvPr/>
        </p:nvSpPr>
        <p:spPr>
          <a:xfrm xmlns:a="http://schemas.openxmlformats.org/drawingml/2006/main">
            <a:off x="3695700" y="2876550"/>
            <a:ext cx="609600" cy="0"/>
          </a:xfrm>
          <a:prstGeom xmlns:a="http://schemas.openxmlformats.org/drawingml/2006/main" prst="line">
            <a:avLst/>
          </a:prstGeom>
          <a:noFill xmlns:a="http://schemas.openxmlformats.org/drawingml/2006/main"/>
          <a:ln xmlns:a="http://schemas.openxmlformats.org/drawingml/2006/main" w="19050">
            <a:solidFill>
              <a:srgbClr val="A9BBAF"/>
            </a:solidFill>
            <a:prstDash val="solid"/>
          </a:ln>
        </p:spPr>
      </p:sp>
      <p:sp>
        <p:nvSpPr>
          <p:cNvPr id="8" name="next-title-1">
            <a:extLst xmlns:a="http://schemas.openxmlformats.org/drawingml/2006/main">
              <a:ext uri="{FF2B5EF4-FFF2-40B4-BE49-F238E27FC236}">
                <a16:creationId xmlns:a16="http://schemas.microsoft.com/office/drawing/2014/main" id="{4C85078F-6A5A-420B-A001-5F93441E710B}"/>
              </a:ext>
            </a:extLst>
          </p:cNvPr>
          <p:cNvSpPr>
            <a:spLocks xmlns:a="http://schemas.openxmlformats.org/drawingml/2006/main" noGrp="1"/>
          </p:cNvSpPr>
          <p:nvPr/>
        </p:nvSpPr>
        <p:spPr>
          <a:xfrm xmlns:a="http://schemas.openxmlformats.org/drawingml/2006/main">
            <a:off x="4552950" y="2628900"/>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325" b="1">
                <a:solidFill>
                  <a:srgbClr val="23352F"/>
                </a:solidFill>
                <a:latin typeface="Arial"/>
                <a:ea typeface="Arial"/>
                <a:cs typeface="Arial"/>
              </a:defRPr>
            </a:defPPr>
          </a:lstStyle>
          <a:p xmlns:a="http://schemas.openxmlformats.org/drawingml/2006/main">
            <a:pPr algn="l">
              <a:lnSpc>
                <a:spcPct val="105000"/>
              </a:lnSpc>
              <a:buNone/>
              <a:defRPr sz="2325" b="1">
                <a:solidFill>
                  <a:srgbClr val="23352F"/>
                </a:solidFill>
                <a:latin typeface="Arial"/>
                <a:ea typeface="Arial"/>
                <a:cs typeface="Arial"/>
              </a:defRPr>
            </a:pPr>
            <a:r>
              <a:rPr sz="2325" b="1">
                <a:solidFill>
                  <a:srgbClr val="23352F"/>
                </a:solidFill>
                <a:latin typeface="Arial"/>
                <a:ea typeface="Arial"/>
                <a:cs typeface="Arial"/>
              </a:rPr>
              <a:t>Disasters</a:t>
            </a:r>
          </a:p>
        </p:txBody>
      </p:sp>
      <p:sp>
        <p:nvSpPr>
          <p:cNvPr id="9" name="next-description-1">
            <a:extLst xmlns:a="http://schemas.openxmlformats.org/drawingml/2006/main">
              <a:ext uri="{FF2B5EF4-FFF2-40B4-BE49-F238E27FC236}">
                <a16:creationId xmlns:a16="http://schemas.microsoft.com/office/drawing/2014/main" id="{24B673B7-8039-4744-AC16-652CC8958571}"/>
              </a:ext>
            </a:extLst>
          </p:cNvPr>
          <p:cNvSpPr>
            <a:spLocks xmlns:a="http://schemas.openxmlformats.org/drawingml/2006/main" noGrp="1"/>
          </p:cNvSpPr>
          <p:nvPr/>
        </p:nvSpPr>
        <p:spPr>
          <a:xfrm xmlns:a="http://schemas.openxmlformats.org/drawingml/2006/main">
            <a:off x="4552950" y="3181350"/>
            <a:ext cx="2667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65766E"/>
                </a:solidFill>
                <a:latin typeface="Arial"/>
                <a:ea typeface="Arial"/>
                <a:cs typeface="Arial"/>
              </a:defRPr>
            </a:defPPr>
          </a:lstStyle>
          <a:p xmlns:a="http://schemas.openxmlformats.org/drawingml/2006/main">
            <a:pPr algn="l">
              <a:lnSpc>
                <a:spcPct val="105000"/>
              </a:lnSpc>
              <a:buNone/>
              <a:defRPr sz="1725" b="0">
                <a:solidFill>
                  <a:srgbClr val="65766E"/>
                </a:solidFill>
                <a:latin typeface="Arial"/>
                <a:ea typeface="Arial"/>
                <a:cs typeface="Arial"/>
              </a:defRPr>
            </a:pPr>
            <a:r>
              <a:rPr sz="1725" b="0">
                <a:solidFill>
                  <a:srgbClr val="65766E"/>
                </a:solidFill>
                <a:latin typeface="Arial"/>
                <a:ea typeface="Arial"/>
                <a:cs typeface="Arial"/>
              </a:rPr>
              <a:t>Add verified event records</a:t>
            </a:r>
          </a:p>
        </p:txBody>
      </p:sp>
      <p:sp>
        <p:nvSpPr>
          <p:cNvPr id="10" name="next-link-1">
            <a:extLst xmlns:a="http://schemas.openxmlformats.org/drawingml/2006/main">
              <a:ext uri="{FF2B5EF4-FFF2-40B4-BE49-F238E27FC236}">
                <a16:creationId xmlns:a16="http://schemas.microsoft.com/office/drawing/2014/main" id="{41A7B581-EB0B-42B4-B5E2-A76F5E8113C6}"/>
              </a:ext>
            </a:extLst>
          </p:cNvPr>
          <p:cNvSpPr>
            <a:spLocks xmlns:a="http://schemas.openxmlformats.org/drawingml/2006/main" noGrp="1"/>
          </p:cNvSpPr>
          <p:nvPr/>
        </p:nvSpPr>
        <p:spPr>
          <a:xfrm xmlns:a="http://schemas.openxmlformats.org/drawingml/2006/main">
            <a:off x="7467600" y="2876550"/>
            <a:ext cx="609600" cy="0"/>
          </a:xfrm>
          <a:prstGeom xmlns:a="http://schemas.openxmlformats.org/drawingml/2006/main" prst="line">
            <a:avLst/>
          </a:prstGeom>
          <a:noFill xmlns:a="http://schemas.openxmlformats.org/drawingml/2006/main"/>
          <a:ln xmlns:a="http://schemas.openxmlformats.org/drawingml/2006/main" w="19050">
            <a:solidFill>
              <a:srgbClr val="A9BBAF"/>
            </a:solidFill>
            <a:prstDash val="solid"/>
          </a:ln>
        </p:spPr>
      </p:sp>
      <p:sp>
        <p:nvSpPr>
          <p:cNvPr id="11" name="next-title-2">
            <a:extLst xmlns:a="http://schemas.openxmlformats.org/drawingml/2006/main">
              <a:ext uri="{FF2B5EF4-FFF2-40B4-BE49-F238E27FC236}">
                <a16:creationId xmlns:a16="http://schemas.microsoft.com/office/drawing/2014/main" id="{375BF683-3BB7-4F33-965A-1DE99E77FEBF}"/>
              </a:ext>
            </a:extLst>
          </p:cNvPr>
          <p:cNvSpPr>
            <a:spLocks xmlns:a="http://schemas.openxmlformats.org/drawingml/2006/main" noGrp="1"/>
          </p:cNvSpPr>
          <p:nvPr/>
        </p:nvSpPr>
        <p:spPr>
          <a:xfrm xmlns:a="http://schemas.openxmlformats.org/drawingml/2006/main">
            <a:off x="8324850" y="2628900"/>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325" b="1">
                <a:solidFill>
                  <a:srgbClr val="23352F"/>
                </a:solidFill>
                <a:latin typeface="Arial"/>
                <a:ea typeface="Arial"/>
                <a:cs typeface="Arial"/>
              </a:defRPr>
            </a:defPPr>
          </a:lstStyle>
          <a:p xmlns:a="http://schemas.openxmlformats.org/drawingml/2006/main">
            <a:pPr algn="l">
              <a:lnSpc>
                <a:spcPct val="105000"/>
              </a:lnSpc>
              <a:buNone/>
              <a:defRPr sz="2325" b="1">
                <a:solidFill>
                  <a:srgbClr val="23352F"/>
                </a:solidFill>
                <a:latin typeface="Arial"/>
                <a:ea typeface="Arial"/>
                <a:cs typeface="Arial"/>
              </a:defRPr>
            </a:pPr>
            <a:r>
              <a:rPr sz="2325" b="1">
                <a:solidFill>
                  <a:srgbClr val="23352F"/>
                </a:solidFill>
                <a:latin typeface="Arial"/>
                <a:ea typeface="Arial"/>
                <a:cs typeface="Arial"/>
              </a:rPr>
              <a:t>Socioeconomics</a:t>
            </a:r>
          </a:p>
        </p:txBody>
      </p:sp>
      <p:sp>
        <p:nvSpPr>
          <p:cNvPr id="12" name="next-description-2">
            <a:extLst xmlns:a="http://schemas.openxmlformats.org/drawingml/2006/main">
              <a:ext uri="{FF2B5EF4-FFF2-40B4-BE49-F238E27FC236}">
                <a16:creationId xmlns:a16="http://schemas.microsoft.com/office/drawing/2014/main" id="{1753D79F-0641-4AB9-A17D-81B095D393CB}"/>
              </a:ext>
            </a:extLst>
          </p:cNvPr>
          <p:cNvSpPr>
            <a:spLocks xmlns:a="http://schemas.openxmlformats.org/drawingml/2006/main" noGrp="1"/>
          </p:cNvSpPr>
          <p:nvPr/>
        </p:nvSpPr>
        <p:spPr>
          <a:xfrm xmlns:a="http://schemas.openxmlformats.org/drawingml/2006/main">
            <a:off x="8324850" y="3181350"/>
            <a:ext cx="2667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65766E"/>
                </a:solidFill>
                <a:latin typeface="Arial"/>
                <a:ea typeface="Arial"/>
                <a:cs typeface="Arial"/>
              </a:defRPr>
            </a:defPPr>
          </a:lstStyle>
          <a:p xmlns:a="http://schemas.openxmlformats.org/drawingml/2006/main">
            <a:pPr algn="l">
              <a:lnSpc>
                <a:spcPct val="105000"/>
              </a:lnSpc>
              <a:buNone/>
              <a:defRPr sz="1725" b="0">
                <a:solidFill>
                  <a:srgbClr val="65766E"/>
                </a:solidFill>
                <a:latin typeface="Arial"/>
                <a:ea typeface="Arial"/>
                <a:cs typeface="Arial"/>
              </a:defRPr>
            </a:pPr>
            <a:r>
              <a:rPr sz="1725" b="0">
                <a:solidFill>
                  <a:srgbClr val="65766E"/>
                </a:solidFill>
                <a:latin typeface="Arial"/>
                <a:ea typeface="Arial"/>
                <a:cs typeface="Arial"/>
              </a:rPr>
              <a:t>Add indicators with matching coverage</a:t>
            </a:r>
          </a:p>
        </p:txBody>
      </p:sp>
      <p:sp>
        <p:nvSpPr>
          <p:cNvPr id="13" name="next-footer-rule">
            <a:extLst xmlns:a="http://schemas.openxmlformats.org/drawingml/2006/main">
              <a:ext uri="{FF2B5EF4-FFF2-40B4-BE49-F238E27FC236}">
                <a16:creationId xmlns:a16="http://schemas.microsoft.com/office/drawing/2014/main" id="{B25EB7B6-89E3-4505-9684-CFA16D3C96B9}"/>
              </a:ext>
            </a:extLst>
          </p:cNvPr>
          <p:cNvSpPr>
            <a:spLocks xmlns:a="http://schemas.openxmlformats.org/drawingml/2006/main" noGrp="1"/>
          </p:cNvSpPr>
          <p:nvPr/>
        </p:nvSpPr>
        <p:spPr>
          <a:xfrm xmlns:a="http://schemas.openxmlformats.org/drawingml/2006/main">
            <a:off x="781050" y="4572000"/>
            <a:ext cx="10601325" cy="0"/>
          </a:xfrm>
          <a:prstGeom xmlns:a="http://schemas.openxmlformats.org/drawingml/2006/main" prst="line">
            <a:avLst/>
          </a:prstGeom>
          <a:noFill xmlns:a="http://schemas.openxmlformats.org/drawingml/2006/main"/>
          <a:ln xmlns:a="http://schemas.openxmlformats.org/drawingml/2006/main" w="11430">
            <a:solidFill>
              <a:srgbClr val="D7E0DA"/>
            </a:solidFill>
            <a:prstDash val="solid"/>
          </a:ln>
        </p:spPr>
      </p:sp>
      <p:sp>
        <p:nvSpPr>
          <p:cNvPr id="14" name="next-footer">
            <a:extLst xmlns:a="http://schemas.openxmlformats.org/drawingml/2006/main">
              <a:ext uri="{FF2B5EF4-FFF2-40B4-BE49-F238E27FC236}">
                <a16:creationId xmlns:a16="http://schemas.microsoft.com/office/drawing/2014/main" id="{E3E9AAE9-F56A-462D-A5EB-A4997E22558A}"/>
              </a:ext>
            </a:extLst>
          </p:cNvPr>
          <p:cNvSpPr>
            <a:spLocks xmlns:a="http://schemas.openxmlformats.org/drawingml/2006/main" noGrp="1"/>
          </p:cNvSpPr>
          <p:nvPr/>
        </p:nvSpPr>
        <p:spPr>
          <a:xfrm xmlns:a="http://schemas.openxmlformats.org/drawingml/2006/main">
            <a:off x="781050" y="4914900"/>
            <a:ext cx="10191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743"/>
          </a:bodyPr>
          <a:lstStyle xmlns:a="http://schemas.openxmlformats.org/drawingml/2006/main">
            <a:defPPr algn="l">
              <a:defRPr sz="2025" b="1">
                <a:solidFill>
                  <a:srgbClr val="23352F"/>
                </a:solidFill>
                <a:latin typeface="Arial"/>
                <a:ea typeface="Arial"/>
                <a:cs typeface="Arial"/>
              </a:defRPr>
            </a:defPPr>
          </a:lstStyle>
          <a:p xmlns:a="http://schemas.openxmlformats.org/drawingml/2006/main">
            <a:pPr algn="l">
              <a:lnSpc>
                <a:spcPct val="105000"/>
              </a:lnSpc>
              <a:buNone/>
              <a:defRPr sz="2025" b="1">
                <a:solidFill>
                  <a:srgbClr val="23352F"/>
                </a:solidFill>
                <a:latin typeface="Arial"/>
                <a:ea typeface="Arial"/>
                <a:cs typeface="Arial"/>
              </a:defRPr>
            </a:pPr>
            <a:r>
              <a:rPr sz="2025" b="1">
                <a:solidFill>
                  <a:srgbClr val="23352F"/>
                </a:solidFill>
                <a:latin typeface="Arial"/>
                <a:ea typeface="Arial"/>
                <a:cs typeface="Arial"/>
              </a:rPr>
              <a:t>Join only after confirming location and time coverage, then validate the combined table.</a:t>
            </a:r>
          </a:p>
        </p:txBody>
      </p:sp>
    </p:spTree>
    <p:extLst>
      <p:ext uri="{BB962C8B-B14F-4D97-AF65-F5344CB8AC3E}">
        <p14:creationId xmlns:p14="http://schemas.microsoft.com/office/powerpoint/2010/main" val="155058664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2026-10-11T10:44:27.7350000Z</dcterms:created>
  <dcterms:modified xsi:type="dcterms:W3CDTF">2026-10-11T10:44:27.7350000Z</dcterms:modified>
</coreProperties>
</file>