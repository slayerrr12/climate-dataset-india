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9b69a1938ad4c73" /><Relationship Type="http://schemas.openxmlformats.org/officeDocument/2006/relationships/extended-properties" Target="/docProps/app.xml" Id="R3ffc91cd49894d4c" /><Relationship Type="http://schemas.openxmlformats.org/officeDocument/2006/relationships/officeDocument" Target="/ppt/presentation.xml" Id="R9c9447528e354fff" /></Relationships>
</file>

<file path=ppt/presentation.xml><?xml version="1.0" encoding="utf-8"?>
<p:presentation xmlns:p="http://schemas.openxmlformats.org/presentationml/2006/main">
  <p:sldMasterIdLst>
    <p:sldMasterId xmlns:r="http://schemas.openxmlformats.org/officeDocument/2006/relationships" id="2147483648" r:id="R26f44ccd62954d3f"/>
  </p:sldMasterIdLst>
  <p:notesMasterIdLst>
    <p:notesMasterId xmlns:r="http://schemas.openxmlformats.org/officeDocument/2006/relationships" r:id="Rd05fcebef32f40b1"/>
  </p:notesMasterIdLst>
  <p:sldIdLst>
    <p:sldId xmlns:r="http://schemas.openxmlformats.org/officeDocument/2006/relationships" id="256" r:id="Rc765fb58ccd249c3"/>
    <p:sldId xmlns:r="http://schemas.openxmlformats.org/officeDocument/2006/relationships" id="257" r:id="R792f58111f094fbb"/>
    <p:sldId xmlns:r="http://schemas.openxmlformats.org/officeDocument/2006/relationships" id="258" r:id="Rec4d2dbe46954653"/>
    <p:sldId xmlns:r="http://schemas.openxmlformats.org/officeDocument/2006/relationships" id="259" r:id="R0004cede3f2e4f3b"/>
    <p:sldId xmlns:r="http://schemas.openxmlformats.org/officeDocument/2006/relationships" id="260" r:id="R6e89b0e64f444dd9"/>
    <p:sldId xmlns:r="http://schemas.openxmlformats.org/officeDocument/2006/relationships" id="261" r:id="R5ca32b3150c944da"/>
    <p:sldId xmlns:r="http://schemas.openxmlformats.org/officeDocument/2006/relationships" id="262" r:id="R31eb332639f14894"/>
    <p:sldId xmlns:r="http://schemas.openxmlformats.org/officeDocument/2006/relationships" id="263" r:id="Re225983dfb954d08"/>
    <p:sldId xmlns:r="http://schemas.openxmlformats.org/officeDocument/2006/relationships" id="264" r:id="R6c887c3ff7754542"/>
    <p:sldId xmlns:r="http://schemas.openxmlformats.org/officeDocument/2006/relationships" id="265" r:id="Rbd5aae36dacc4074"/>
    <p:sldId xmlns:r="http://schemas.openxmlformats.org/officeDocument/2006/relationships" id="266" r:id="R9ed665f53a5d4e23"/>
    <p:sldId xmlns:r="http://schemas.openxmlformats.org/officeDocument/2006/relationships" id="267" r:id="R8997860eeb42413c"/>
    <p:sldId xmlns:r="http://schemas.openxmlformats.org/officeDocument/2006/relationships" id="268" r:id="Rf557dee97ccc47d1"/>
    <p:sldId xmlns:r="http://schemas.openxmlformats.org/officeDocument/2006/relationships" id="269" r:id="Rd99e701d39f74f6b"/>
    <p:sldId xmlns:r="http://schemas.openxmlformats.org/officeDocument/2006/relationships" id="270" r:id="R97cf5b30da724e70"/>
    <p:sldId xmlns:r="http://schemas.openxmlformats.org/officeDocument/2006/relationships" id="271" r:id="R22dd79b6d9c548b8"/>
    <p:sldId xmlns:r="http://schemas.openxmlformats.org/officeDocument/2006/relationships" id="272" r:id="R41632f71646a43a1"/>
    <p:sldId xmlns:r="http://schemas.openxmlformats.org/officeDocument/2006/relationships" id="273" r:id="R367fafcf6aef4423"/>
    <p:sldId xmlns:r="http://schemas.openxmlformats.org/officeDocument/2006/relationships" id="274" r:id="R63f861acb7ca4964"/>
    <p:sldId xmlns:r="http://schemas.openxmlformats.org/officeDocument/2006/relationships" id="275" r:id="Rd4209d4e366145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109a4e50d84a36" /><Relationship Type="http://schemas.openxmlformats.org/officeDocument/2006/relationships/slideMaster" Target="/ppt/slideMasters/slideMaster1.xml" Id="R26f44ccd62954d3f" /><Relationship Type="http://schemas.openxmlformats.org/officeDocument/2006/relationships/notesMaster" Target="/ppt/notesMasters/notesMaster1.xml" Id="Rd05fcebef32f40b1" /><Relationship Type="http://schemas.openxmlformats.org/officeDocument/2006/relationships/presProps" Target="/ppt/presProps.xml" Id="R5d85fefeada94037" /><Relationship Type="http://schemas.openxmlformats.org/officeDocument/2006/relationships/tableStyles" Target="/ppt/tableStyles.xml" Id="Rd76e060e3e3a424a" /><Relationship Type="http://schemas.openxmlformats.org/officeDocument/2006/relationships/slide" Target="/ppt/slides/slide1.xml" Id="Rc765fb58ccd249c3" /><Relationship Type="http://schemas.openxmlformats.org/officeDocument/2006/relationships/slide" Target="/ppt/slides/slide2.xml" Id="R792f58111f094fbb" /><Relationship Type="http://schemas.openxmlformats.org/officeDocument/2006/relationships/slide" Target="/ppt/slides/slide3.xml" Id="Rec4d2dbe46954653" /><Relationship Type="http://schemas.openxmlformats.org/officeDocument/2006/relationships/slide" Target="/ppt/slides/slide4.xml" Id="R0004cede3f2e4f3b" /><Relationship Type="http://schemas.openxmlformats.org/officeDocument/2006/relationships/slide" Target="/ppt/slides/slide5.xml" Id="R6e89b0e64f444dd9" /><Relationship Type="http://schemas.openxmlformats.org/officeDocument/2006/relationships/slide" Target="/ppt/slides/slide6.xml" Id="R5ca32b3150c944da" /><Relationship Type="http://schemas.openxmlformats.org/officeDocument/2006/relationships/slide" Target="/ppt/slides/slide7.xml" Id="R31eb332639f14894" /><Relationship Type="http://schemas.openxmlformats.org/officeDocument/2006/relationships/slide" Target="/ppt/slides/slide8.xml" Id="Re225983dfb954d08" /><Relationship Type="http://schemas.openxmlformats.org/officeDocument/2006/relationships/slide" Target="/ppt/slides/slide9.xml" Id="R6c887c3ff7754542" /><Relationship Type="http://schemas.openxmlformats.org/officeDocument/2006/relationships/slide" Target="/ppt/slides/slide10.xml" Id="Rbd5aae36dacc4074" /><Relationship Type="http://schemas.openxmlformats.org/officeDocument/2006/relationships/slide" Target="/ppt/slides/slide11.xml" Id="R9ed665f53a5d4e23" /><Relationship Type="http://schemas.openxmlformats.org/officeDocument/2006/relationships/slide" Target="/ppt/slides/slide12.xml" Id="R8997860eeb42413c" /><Relationship Type="http://schemas.openxmlformats.org/officeDocument/2006/relationships/slide" Target="/ppt/slides/slide13.xml" Id="Rf557dee97ccc47d1" /><Relationship Type="http://schemas.openxmlformats.org/officeDocument/2006/relationships/slide" Target="/ppt/slides/slide14.xml" Id="Rd99e701d39f74f6b" /><Relationship Type="http://schemas.openxmlformats.org/officeDocument/2006/relationships/slide" Target="/ppt/slides/slide15.xml" Id="R97cf5b30da724e70" /><Relationship Type="http://schemas.openxmlformats.org/officeDocument/2006/relationships/slide" Target="/ppt/slides/slide16.xml" Id="R22dd79b6d9c548b8" /><Relationship Type="http://schemas.openxmlformats.org/officeDocument/2006/relationships/slide" Target="/ppt/slides/slide17.xml" Id="R41632f71646a43a1" /><Relationship Type="http://schemas.openxmlformats.org/officeDocument/2006/relationships/slide" Target="/ppt/slides/slide18.xml" Id="R367fafcf6aef4423" /><Relationship Type="http://schemas.openxmlformats.org/officeDocument/2006/relationships/slide" Target="/ppt/slides/slide19.xml" Id="R63f861acb7ca4964" /><Relationship Type="http://schemas.openxmlformats.org/officeDocument/2006/relationships/slide" Target="/ppt/slides/slide20.xml" Id="Rd4209d4e366145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acf4635ea246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4a824231cac431f" /><Relationship Type="http://schemas.openxmlformats.org/officeDocument/2006/relationships/notesMaster" Target="/ppt/notesMasters/notesMaster1.xml" Id="R24369a988adf48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470d3190e04653" /><Relationship Type="http://schemas.openxmlformats.org/officeDocument/2006/relationships/notesMaster" Target="/ppt/notesMasters/notesMaster1.xml" Id="R536dfe661b0840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d15a1d2dbb64845" /><Relationship Type="http://schemas.openxmlformats.org/officeDocument/2006/relationships/notesMaster" Target="/ppt/notesMasters/notesMaster1.xml" Id="Rc81a74aadae748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436cdd30be46e3" /><Relationship Type="http://schemas.openxmlformats.org/officeDocument/2006/relationships/notesMaster" Target="/ppt/notesMasters/notesMaster1.xml" Id="R063a94da8ff74b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c261847eea4678" /><Relationship Type="http://schemas.openxmlformats.org/officeDocument/2006/relationships/notesMaster" Target="/ppt/notesMasters/notesMaster1.xml" Id="Rb957342fb39d42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ab63a378424873" /><Relationship Type="http://schemas.openxmlformats.org/officeDocument/2006/relationships/notesMaster" Target="/ppt/notesMasters/notesMaster1.xml" Id="R2edcaebd16c545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8c51dc1eb8d4b01" /><Relationship Type="http://schemas.openxmlformats.org/officeDocument/2006/relationships/notesMaster" Target="/ppt/notesMasters/notesMaster1.xml" Id="R52008591015344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deeefc38f24163" /><Relationship Type="http://schemas.openxmlformats.org/officeDocument/2006/relationships/notesMaster" Target="/ppt/notesMasters/notesMaster1.xml" Id="Rc282d5783e0b45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2ac9d3f36d472f" /><Relationship Type="http://schemas.openxmlformats.org/officeDocument/2006/relationships/notesMaster" Target="/ppt/notesMasters/notesMaster1.xml" Id="Rc121cda0789348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c38be1989f4d78" /><Relationship Type="http://schemas.openxmlformats.org/officeDocument/2006/relationships/notesMaster" Target="/ppt/notesMasters/notesMaster1.xml" Id="Ra8f47ba9486743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e59e97cb3a40e3" /><Relationship Type="http://schemas.openxmlformats.org/officeDocument/2006/relationships/notesMaster" Target="/ppt/notesMasters/notesMaster1.xml" Id="Rc20d10b963c749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2005995e19a46a3" /><Relationship Type="http://schemas.openxmlformats.org/officeDocument/2006/relationships/notesMaster" Target="/ppt/notesMasters/notesMaster1.xml" Id="R8bb353f0dae744d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59fbc0b3d74a66" /><Relationship Type="http://schemas.openxmlformats.org/officeDocument/2006/relationships/notesMaster" Target="/ppt/notesMasters/notesMaster1.xml" Id="R14532ef6e27a48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3a0e459c764b70" /><Relationship Type="http://schemas.openxmlformats.org/officeDocument/2006/relationships/notesMaster" Target="/ppt/notesMasters/notesMaster1.xml" Id="R965d9d35d49f40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183e0c0a124661" /><Relationship Type="http://schemas.openxmlformats.org/officeDocument/2006/relationships/notesMaster" Target="/ppt/notesMasters/notesMaster1.xml" Id="R52988530f5b2409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6357a630fc4da3" /><Relationship Type="http://schemas.openxmlformats.org/officeDocument/2006/relationships/notesMaster" Target="/ppt/notesMasters/notesMaster1.xml" Id="Rdacb211e7ef74a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6a960cf5cf14566" /><Relationship Type="http://schemas.openxmlformats.org/officeDocument/2006/relationships/notesMaster" Target="/ppt/notesMasters/notesMaster1.xml" Id="R3474f0ea374948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363a357609545f5" /><Relationship Type="http://schemas.openxmlformats.org/officeDocument/2006/relationships/notesMaster" Target="/ppt/notesMasters/notesMaster1.xml" Id="R86382ec3d8ce4d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287df8f8104e37" /><Relationship Type="http://schemas.openxmlformats.org/officeDocument/2006/relationships/notesMaster" Target="/ppt/notesMasters/notesMaster1.xml" Id="R292a0a456af04a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09bf84e9fb4060" /><Relationship Type="http://schemas.openxmlformats.org/officeDocument/2006/relationships/notesMaster" Target="/ppt/notesMasters/notesMaster1.xml" Id="R648583ae5a3343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and context follow the supplied checkpoint prompt and the source presentation, ppt 1.pptx. The original deck identifies the collection period as 2000 to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ppt 1.pptx, slides 1, 2 and 5. The source deck states 25 cities and 261 coordinate points, gives Ahmedabad and Mumbai as examples, and says the live batch stopped before all downloads were confirmed. The repository reports 89 files across eight preprocessed cities in reports/raw_file_inventory.csv and reports/data_quality_report.md.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ppt 1.pptx, slide 3; reports/source_parameter_summary.csv; reports/data_dictionary.csv; src/climate_pipeline/transform.py. The repository inventory lists these 15 parameters. The original scraping deck's parameter list is not identical: it lists ALLSKY_SFC_SW_DWN, which is absent from the local raw-file summary, while the local inventory adds ALLSKY_SFC_SW_DNI and IMERG_PRECTOT. Keep this discrepancy visible for source reconciliation.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ppt 1.pptx, slides 3 and 4. The source deck describes the monthly point API endpoint, Community RE, CSV response, 2000 to 2025 period, manual coordinate input, Python built-in URL tools, a one-second pause between successful requests, and city-based output folders. The scraping source code and city_points.csv are not present in the current repository, so no additional implementation details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ppt 1.pptx, slides 4 and 5; reports/raw_file_inventory.csv; reports/cleaning_report.md. The sample filename and PARAMETER/YEAR/month/ANN layout come from the source deck and local NASA/POWER CSVs. The original presentation states that the live download was stopped and the full 261 downloads were not confirmed. The current repository has an independently documented set of 89 local files across eight cities.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reports/raw_file_inventory.csv; reports/city_measurement_point_summary.csv; reports/city_month_coverage_summary.csv; reports/data_quality_report.md. These sources establish the eight city names and counts. The requested three-batch strategy is treated as the intended method from the supplied prompt, but no batch assignment manifest, run log, or pipeline refinement history appears in the repository. Therefore the table leaves assignments and batch outcomes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src/climate_pipeline/pipeline.py; src/climate_pipeline/ingest.py; profiling.py; cleaning.py; transform.py; validation.py; reports/data_quality_report.md. The stage sequence reflects implemented modules. The feedback loop communicates the intended batch evaluation strategy in the supplied prompt. The available repository does not include batch-specific evidence that this loop has already resulted in a pipeline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src/climate_pipeline/profiling.py; src/climate_pipeline/ingest.py; reports/raw_file_inventory.csv; reports/source_parameter_summary.csv. profile_files groups file count, measurement-point count, raw rows, date coverage and schema signatures by city. profile_frame reports dimensions, exact duplicates, dtype, missing count/percent, and unique values. The source parameter summary reports valid value ranges and missingness. These are the checks implemented; the slide does not present all conceivable profiling tests as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reports/data_quality_report.md; reports/source_parameter_summary.csv; reports/city_month_coverage_summary.csv; reports/city_month_missingness.csv; reports/raw_file_inventory.csv. The point-level missingness count shown is from the 27,768 point-month rows. The three affected source parameters are ALLSKY_SFC_SW_DNI, ALLSKY_SFC_UV_INDEX and ALLSKY_SRF_ALB. The profile does not say that all possible quality issues were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src/climate_pipeline/cleaning.py; src/climate_pipeline/ingest.py; reports/cleaning_report.md; reports/data_quality_report.md. No imputation or outlier deletion is implemented. The report documents zero exact duplicates, zero duplicate-key rows before key-level deduplication, and zero invalid-value records removed for this collection.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datasets/ahemdabad_1.csv; reports/raw_file_inventory.csv; data/interim/point_monthly_wide.csv; src/climate_pipeline/ingest.py. The January 2000 T2M value of 21.79 °C for Ahmedabad measurement point 1 is present in the cleaned point-month data. This example demonstrates filename normalization and reshaping, not an invented before/after quality percentage. The raw source is preserved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src/climate_pipeline/ingest.py; src/climate_pipeline/transform.py; reports/data_dictionary.csv; reports/data_quality_report.md. The code melts monthly columns to long records and pivots parameters into wide point-month rows. Annual summaries are stored separately. The four mappings are implemented in PARAMETER_TARGETS. Source units are retained, and state metadata comes from the city lookup. No daily values are synthesized.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src/climate_pipeline/ingest.py; src/climate_pipeline/transform.py; reports/city_measurement_point_summary.csv; data/interim/point_monthly_wide.csv. The three T2M examples are actual Ahmedabad records for January 2000. The pipeline keeps city and measurement-point IDs at point level, aligns values by date, and checks duplicate keys. File combining and city aggregation are separate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src/climate_pipeline/transform.py; reports/cleaning_report.md; reports/data_dictionary.csv. build_city_monthly applies aggfunc='mean' to every point-wide parameter column after grouping by city and date. Coordinates are separately averaged across the static location inventory. The function calculates calendar-month anomalies for rainfall_mm and avg_temp_c using available years, and masks the result unless at least 10 years are available. No weights or directional/circular averages are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data/interim/point_monthly_wide.csv; data/processed/city_monthly.csv; reports/data_dictionary.csv; README.md. The nine January 2000 Ahmedabad point T2M values are 21.79 °C once and 21.17 °C eight times, yielding 21.2389 °C. The output is one Ahmedabad month row with 9 of 9 points available. The project's desired daily schema has zero rows because the input contains monthly and annual summaries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reports/validation_checks.csv; src/climate_pipeline/validation.py; reports/data_quality_report.md; notebooks/05_data_validation.ipynb. The city-month report records eight passing checks: populated city, populated state, one row per location-month, valid latitude, valid longitude, datetime date, nonnegative precipitation, and temperature ordering. The separate daily schema check passes with zero rows. These checks are limited to the implemented rules and do not establish perfect completeness or error-free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data/processed/city_monthly.csv; climate_monthly.csv; reports/data_dictionary.csv; reports/city_month_coverage_summary.csv. The displayed row is Ahmedabad for January 2000. The populated monthly CSV has 39 columns and 2,496 records. The five attributes called out are unavailable and intentionally null. The separate daily file has the expected 18-column schema and zero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reports/raw_file_inventory.csv; reports/data_quality_report.md; reports/validation_checks.csv; src/climate_pipeline/pipeline.py. Current processing evidence covers all eight cities in a consolidated result. No batch membership table, per-batch outputs, or change history was found. The intended iterative evaluation rationale comes from the supplied checkpoint prompt and is presented as the plan, not as a completed sequence of improvements.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checkpoint prompt. The repository has no disaster or socioeconomic data tables. The attributes shown are potential future fields, not a statement that a specific source has been selected or data have been collected.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reports/data_quality_report.md; reports/validation_checks.csv; README.md; supplied checkpoint prompt. The repository confirms the eight-city monthly climate result and an empty daily schema. The source scraping presentation reports that the full 261-point download did not complete. Disaster and socioeconomic data are future work. Integration requirements are roadmap items, not completed analysis or causal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c8ad7ad04443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dd0590394342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b813b7c9e849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c2ba722ba44a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87b0ad83c2402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5e670c08ba45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E8B1B0-48B8-44F6-8B11-B2EAEBA4827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E4F7C07-D0C0-47F4-840D-2F52B571770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A2B8C2-BBE1-4E2B-BF08-BB0AEEC601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46D896-F300-4C40-83E7-F25BEF09ED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7CAAFB-9DFF-4527-94A4-13A5E79578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250DE9-0FB3-4513-BA33-8403CFDA8E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2B0C56-7105-432F-BBE2-C7FD5FDA88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A9E0477-59D4-433A-941B-367DD8E7A47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8F4789-CD41-4796-9947-8D6358EDF9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1B94CB-4BE0-41AB-8E45-4A365DA987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0acd75f5934f7d" /><Relationship Type="http://schemas.openxmlformats.org/officeDocument/2006/relationships/slideLayout" Target="/ppt/slideLayouts/slideLayout1.xml" Id="R1bd677d095634ce6" /><Relationship Type="http://schemas.openxmlformats.org/officeDocument/2006/relationships/slideLayout" Target="/ppt/slideLayouts/slideLayout2.xml" Id="R66973072a4e14f52" /><Relationship Type="http://schemas.openxmlformats.org/officeDocument/2006/relationships/slideLayout" Target="/ppt/slideLayouts/slideLayout3.xml" Id="R95300aef511c4710" /><Relationship Type="http://schemas.openxmlformats.org/officeDocument/2006/relationships/slideLayout" Target="/ppt/slideLayouts/slideLayout4.xml" Id="Rca0f5ea283a24fb3" /><Relationship Type="http://schemas.openxmlformats.org/officeDocument/2006/relationships/slideLayout" Target="/ppt/slideLayouts/slideLayout5.xml" Id="R82d1f99c28c549e7" /><Relationship Type="http://schemas.openxmlformats.org/officeDocument/2006/relationships/slideLayout" Target="/ppt/slideLayouts/slideLayout6.xml" Id="R16766c0123c943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d677d095634ce6"/>
    <p:sldLayoutId xmlns:r="http://schemas.openxmlformats.org/officeDocument/2006/relationships" id="2147483650" r:id="R66973072a4e14f52"/>
    <p:sldLayoutId xmlns:r="http://schemas.openxmlformats.org/officeDocument/2006/relationships" id="2147483651" r:id="R95300aef511c4710"/>
    <p:sldLayoutId xmlns:r="http://schemas.openxmlformats.org/officeDocument/2006/relationships" id="2147483652" r:id="Rca0f5ea283a24fb3"/>
    <p:sldLayoutId xmlns:r="http://schemas.openxmlformats.org/officeDocument/2006/relationships" id="2147483653" r:id="R82d1f99c28c549e7"/>
    <p:sldLayoutId xmlns:r="http://schemas.openxmlformats.org/officeDocument/2006/relationships" id="2147483654" r:id="R16766c0123c943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2eb243a9954f0c" /><Relationship Type="http://schemas.openxmlformats.org/officeDocument/2006/relationships/notesSlide" Target="/ppt/notesSlides/notesSlide1.xml" Id="R9d534bea58f342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8fca658a1bd41d3" /><Relationship Type="http://schemas.openxmlformats.org/officeDocument/2006/relationships/notesSlide" Target="/ppt/notesSlides/notesSlide2.xml" Id="R8e73a0321a7a4c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cf053b10b934be1" /><Relationship Type="http://schemas.openxmlformats.org/officeDocument/2006/relationships/notesSlide" Target="/ppt/notesSlides/notesSlide3.xml" Id="R2623d50d17a0400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330db31730c4894" /><Relationship Type="http://schemas.openxmlformats.org/officeDocument/2006/relationships/notesSlide" Target="/ppt/notesSlides/notesSlide4.xml" Id="R7a678c93b8fb47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fb578dbd5d4cc0" /><Relationship Type="http://schemas.openxmlformats.org/officeDocument/2006/relationships/notesSlide" Target="/ppt/notesSlides/notesSlide5.xml" Id="R68985646941048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35f271a30c4685" /><Relationship Type="http://schemas.openxmlformats.org/officeDocument/2006/relationships/notesSlide" Target="/ppt/notesSlides/notesSlide6.xml" Id="Rfb5d4e20a16542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e26f962fe7d4d3e" /><Relationship Type="http://schemas.openxmlformats.org/officeDocument/2006/relationships/notesSlide" Target="/ppt/notesSlides/notesSlide7.xml" Id="R52a0460247f042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73b06ffb3f4f70" /><Relationship Type="http://schemas.openxmlformats.org/officeDocument/2006/relationships/notesSlide" Target="/ppt/notesSlides/notesSlide8.xml" Id="R35887d392ad948c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4e33b7b7294d8a" /><Relationship Type="http://schemas.openxmlformats.org/officeDocument/2006/relationships/notesSlide" Target="/ppt/notesSlides/notesSlide9.xml" Id="R7cc0c7fbcddf4f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2a8bdf2cf444138" /><Relationship Type="http://schemas.openxmlformats.org/officeDocument/2006/relationships/notesSlide" Target="/ppt/notesSlides/notesSlide10.xml" Id="Rae3e8421466241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e724acaca84a4a" /><Relationship Type="http://schemas.openxmlformats.org/officeDocument/2006/relationships/notesSlide" Target="/ppt/notesSlides/notesSlide11.xml" Id="R4c86015688ef47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4a28d1a6314c59" /><Relationship Type="http://schemas.openxmlformats.org/officeDocument/2006/relationships/notesSlide" Target="/ppt/notesSlides/notesSlide12.xml" Id="R7baac4bb59dd41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d5e5a9b0866416d" /><Relationship Type="http://schemas.openxmlformats.org/officeDocument/2006/relationships/notesSlide" Target="/ppt/notesSlides/notesSlide13.xml" Id="Rae39b66934d941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4c45a2225704240" /><Relationship Type="http://schemas.openxmlformats.org/officeDocument/2006/relationships/notesSlide" Target="/ppt/notesSlides/notesSlide14.xml" Id="R62c8572150c0401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fd5733d0c04082" /><Relationship Type="http://schemas.openxmlformats.org/officeDocument/2006/relationships/notesSlide" Target="/ppt/notesSlides/notesSlide15.xml" Id="R2d08b0cee52848e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f2da3f248f94b02" /><Relationship Type="http://schemas.openxmlformats.org/officeDocument/2006/relationships/notesSlide" Target="/ppt/notesSlides/notesSlide16.xml" Id="R3f30b8f6d88140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7bf4eb1827b430f" /><Relationship Type="http://schemas.openxmlformats.org/officeDocument/2006/relationships/notesSlide" Target="/ppt/notesSlides/notesSlide17.xml" Id="Re40f2961d4cd44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a8855cbf2be4d55" /><Relationship Type="http://schemas.openxmlformats.org/officeDocument/2006/relationships/notesSlide" Target="/ppt/notesSlides/notesSlide18.xml" Id="R51cd6155d1e445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a593cc2b7e04a05" /><Relationship Type="http://schemas.openxmlformats.org/officeDocument/2006/relationships/notesSlide" Target="/ppt/notesSlides/notesSlide19.xml" Id="Rdb5f218943da469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360b4a919f04219" /><Relationship Type="http://schemas.openxmlformats.org/officeDocument/2006/relationships/notesSlide" Target="/ppt/notesSlides/notesSlide20.xml" Id="Re1b2d3f5d4cb4c0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ver-accent">
            <a:extLst xmlns:a="http://schemas.openxmlformats.org/drawingml/2006/main">
              <a:ext uri="{FF2B5EF4-FFF2-40B4-BE49-F238E27FC236}">
                <a16:creationId xmlns:a16="http://schemas.microsoft.com/office/drawing/2014/main" id="{1D5D4EA5-F1EE-4D74-A77C-08DB415FE54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96B24"/>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6326E22B-612F-47D3-A0D1-53BAFCB0B0FB}"/>
              </a:ext>
            </a:extLst>
          </p:cNvPr>
          <p:cNvSpPr>
            <a:spLocks xmlns:a="http://schemas.openxmlformats.org/drawingml/2006/main" noGrp="1"/>
          </p:cNvSpPr>
          <p:nvPr/>
        </p:nvSpPr>
        <p:spPr>
          <a:xfrm xmlns:a="http://schemas.openxmlformats.org/drawingml/2006/main">
            <a:off x="723900" y="7048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156082"/>
                </a:solidFill>
                <a:latin typeface="Arial"/>
                <a:ea typeface="Arial"/>
                <a:cs typeface="Arial"/>
              </a:defRPr>
            </a:defPPr>
          </a:lstStyle>
          <a:p xmlns:a="http://schemas.openxmlformats.org/drawingml/2006/main">
            <a:pPr algn="l">
              <a:defRPr sz="1425" b="1" i="0">
                <a:solidFill>
                  <a:srgbClr val="156082"/>
                </a:solidFill>
                <a:latin typeface="Arial"/>
                <a:ea typeface="Arial"/>
                <a:cs typeface="Arial"/>
              </a:defRPr>
            </a:pPr>
            <a:r>
              <a:rPr sz="1425" b="1" i="0">
                <a:solidFill>
                  <a:srgbClr val="156082"/>
                </a:solidFill>
                <a:latin typeface="Arial"/>
                <a:ea typeface="Arial"/>
                <a:cs typeface="Arial"/>
              </a:rPr>
              <a:t>CLIMATE DATA WORKFLOW   /   CHECKPOINT 2</a:t>
            </a:r>
          </a:p>
        </p:txBody>
      </p:sp>
      <p:sp>
        <p:nvSpPr>
          <p:cNvPr id="3" name="cover-title">
            <a:extLst xmlns:a="http://schemas.openxmlformats.org/drawingml/2006/main">
              <a:ext uri="{FF2B5EF4-FFF2-40B4-BE49-F238E27FC236}">
                <a16:creationId xmlns:a16="http://schemas.microsoft.com/office/drawing/2014/main" id="{DEF7024E-5B8C-4D09-BB3F-0F995C142904}"/>
              </a:ext>
            </a:extLst>
          </p:cNvPr>
          <p:cNvSpPr>
            <a:spLocks xmlns:a="http://schemas.openxmlformats.org/drawingml/2006/main" noGrp="1"/>
          </p:cNvSpPr>
          <p:nvPr/>
        </p:nvSpPr>
        <p:spPr>
          <a:xfrm xmlns:a="http://schemas.openxmlformats.org/drawingml/2006/main">
            <a:off x="723900" y="1581150"/>
            <a:ext cx="8858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i="0">
                <a:solidFill>
                  <a:srgbClr val="0E2841"/>
                </a:solidFill>
                <a:latin typeface="Arial"/>
                <a:ea typeface="Arial"/>
                <a:cs typeface="Arial"/>
              </a:defRPr>
            </a:defPPr>
          </a:lstStyle>
          <a:p xmlns:a="http://schemas.openxmlformats.org/drawingml/2006/main">
            <a:pPr algn="l">
              <a:lnSpc>
                <a:spcPct val="95000"/>
              </a:lnSpc>
              <a:buNone/>
              <a:defRPr sz="4350" b="1" i="0">
                <a:solidFill>
                  <a:srgbClr val="0E2841"/>
                </a:solidFill>
                <a:latin typeface="Arial"/>
                <a:ea typeface="Arial"/>
                <a:cs typeface="Arial"/>
              </a:defRPr>
            </a:pPr>
            <a:r>
              <a:rPr sz="4350" b="1" i="0">
                <a:solidFill>
                  <a:srgbClr val="0E2841"/>
                </a:solidFill>
                <a:latin typeface="Arial"/>
                <a:ea typeface="Arial"/>
                <a:cs typeface="Arial"/>
              </a:rPr>
              <a:t>check point 2 of</a:t>
            </a:r>
          </a:p>
          <a:p xmlns:a="http://schemas.openxmlformats.org/drawingml/2006/main">
            <a:pPr algn="l">
              <a:lnSpc>
                <a:spcPct val="95000"/>
              </a:lnSpc>
              <a:buNone/>
              <a:defRPr sz="4350" b="1" i="0">
                <a:solidFill>
                  <a:srgbClr val="0E2841"/>
                </a:solidFill>
                <a:latin typeface="Arial"/>
                <a:ea typeface="Arial"/>
                <a:cs typeface="Arial"/>
              </a:defRPr>
            </a:pPr>
            <a:r>
              <a:rPr sz="4350" b="1" i="0">
                <a:solidFill>
                  <a:srgbClr val="0E2841"/>
                </a:solidFill>
                <a:latin typeface="Arial"/>
                <a:ea typeface="Arial"/>
                <a:cs typeface="Arial"/>
              </a:rPr>
              <a:t>Climate-Dataset India</a:t>
            </a:r>
          </a:p>
        </p:txBody>
      </p:sp>
      <p:sp>
        <p:nvSpPr>
          <p:cNvPr id="4" name="cover-rule">
            <a:extLst xmlns:a="http://schemas.openxmlformats.org/drawingml/2006/main">
              <a:ext uri="{FF2B5EF4-FFF2-40B4-BE49-F238E27FC236}">
                <a16:creationId xmlns:a16="http://schemas.microsoft.com/office/drawing/2014/main" id="{DB3504E3-6591-4F6D-A28A-51F4DB6F23A2}"/>
              </a:ext>
            </a:extLst>
          </p:cNvPr>
          <p:cNvSpPr>
            <a:spLocks xmlns:a="http://schemas.openxmlformats.org/drawingml/2006/main" noGrp="1"/>
          </p:cNvSpPr>
          <p:nvPr/>
        </p:nvSpPr>
        <p:spPr>
          <a:xfrm xmlns:a="http://schemas.openxmlformats.org/drawingml/2006/main">
            <a:off x="723900" y="3676650"/>
            <a:ext cx="3371850" cy="0"/>
          </a:xfrm>
          <a:prstGeom xmlns:a="http://schemas.openxmlformats.org/drawingml/2006/main" prst="line">
            <a:avLst/>
          </a:prstGeom>
          <a:noFill xmlns:a="http://schemas.openxmlformats.org/drawingml/2006/main"/>
          <a:ln xmlns:a="http://schemas.openxmlformats.org/drawingml/2006/main" w="47625">
            <a:solidFill>
              <a:srgbClr val="E97132"/>
            </a:solidFill>
            <a:prstDash val="solid"/>
          </a:ln>
        </p:spPr>
      </p:sp>
      <p:sp>
        <p:nvSpPr>
          <p:cNvPr id="5" name="cover-subtitle">
            <a:extLst xmlns:a="http://schemas.openxmlformats.org/drawingml/2006/main">
              <a:ext uri="{FF2B5EF4-FFF2-40B4-BE49-F238E27FC236}">
                <a16:creationId xmlns:a16="http://schemas.microsoft.com/office/drawing/2014/main" id="{A0E93F96-F136-4D9C-9502-5D4021BAD51E}"/>
              </a:ext>
            </a:extLst>
          </p:cNvPr>
          <p:cNvSpPr>
            <a:spLocks xmlns:a="http://schemas.openxmlformats.org/drawingml/2006/main" noGrp="1"/>
          </p:cNvSpPr>
          <p:nvPr/>
        </p:nvSpPr>
        <p:spPr>
          <a:xfrm xmlns:a="http://schemas.openxmlformats.org/drawingml/2006/main">
            <a:off x="723900" y="3952875"/>
            <a:ext cx="833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i="0">
                <a:solidFill>
                  <a:srgbClr val="52636D"/>
                </a:solidFill>
                <a:latin typeface="Arial"/>
                <a:ea typeface="Arial"/>
                <a:cs typeface="Arial"/>
              </a:defRPr>
            </a:defPPr>
          </a:lstStyle>
          <a:p xmlns:a="http://schemas.openxmlformats.org/drawingml/2006/main">
            <a:pPr algn="l">
              <a:defRPr sz="2175" b="0" i="0">
                <a:solidFill>
                  <a:srgbClr val="52636D"/>
                </a:solidFill>
                <a:latin typeface="Arial"/>
                <a:ea typeface="Arial"/>
                <a:cs typeface="Arial"/>
              </a:defRPr>
            </a:pPr>
            <a:r>
              <a:rPr sz="2175" b="0" i="0">
                <a:solidFill>
                  <a:srgbClr val="52636D"/>
                </a:solidFill>
                <a:latin typeface="Arial"/>
                <a:ea typeface="Arial"/>
                <a:cs typeface="Arial"/>
              </a:rPr>
              <a:t>Climate Data Processing and Pipeline Improvement</a:t>
            </a:r>
          </a:p>
        </p:txBody>
      </p:sp>
      <p:sp>
        <p:nvSpPr>
          <p:cNvPr id="6" name="cover-context">
            <a:extLst xmlns:a="http://schemas.openxmlformats.org/drawingml/2006/main">
              <a:ext uri="{FF2B5EF4-FFF2-40B4-BE49-F238E27FC236}">
                <a16:creationId xmlns:a16="http://schemas.microsoft.com/office/drawing/2014/main" id="{BC2BA3BA-74DA-4887-9C0C-EDC52363BDA5}"/>
              </a:ext>
            </a:extLst>
          </p:cNvPr>
          <p:cNvSpPr>
            <a:spLocks xmlns:a="http://schemas.openxmlformats.org/drawingml/2006/main" noGrp="1"/>
          </p:cNvSpPr>
          <p:nvPr/>
        </p:nvSpPr>
        <p:spPr>
          <a:xfrm xmlns:a="http://schemas.openxmlformats.org/drawingml/2006/main">
            <a:off x="723900" y="51244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156082"/>
                </a:solidFill>
                <a:latin typeface="Arial"/>
                <a:ea typeface="Arial"/>
                <a:cs typeface="Arial"/>
              </a:defRPr>
            </a:defPPr>
          </a:lstStyle>
          <a:p xmlns:a="http://schemas.openxmlformats.org/drawingml/2006/main">
            <a:pPr algn="l">
              <a:defRPr sz="1650" b="1" i="0">
                <a:solidFill>
                  <a:srgbClr val="156082"/>
                </a:solidFill>
                <a:latin typeface="Arial"/>
                <a:ea typeface="Arial"/>
                <a:cs typeface="Arial"/>
              </a:defRPr>
            </a:pPr>
            <a:r>
              <a:rPr sz="1650" b="1" i="0">
                <a:solidFill>
                  <a:srgbClr val="156082"/>
                </a:solidFill>
                <a:latin typeface="Arial"/>
                <a:ea typeface="Arial"/>
                <a:cs typeface="Arial"/>
              </a:rPr>
              <a:t>NASA/POWER monthly data, 2000 to 2025</a:t>
            </a:r>
          </a:p>
        </p:txBody>
      </p:sp>
    </p:spTree>
    <p:extLst>
      <p:ext uri="{BB962C8B-B14F-4D97-AF65-F5344CB8AC3E}">
        <p14:creationId xmlns:p14="http://schemas.microsoft.com/office/powerpoint/2010/main" val="1258602975"/>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349ADE42-837D-4D55-B512-5C191192A291}"/>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A · COLLECTION</a:t>
            </a:r>
          </a:p>
        </p:txBody>
      </p:sp>
      <p:sp>
        <p:nvSpPr>
          <p:cNvPr id="2" name="slide-number">
            <a:extLst xmlns:a="http://schemas.openxmlformats.org/drawingml/2006/main">
              <a:ext uri="{FF2B5EF4-FFF2-40B4-BE49-F238E27FC236}">
                <a16:creationId xmlns:a16="http://schemas.microsoft.com/office/drawing/2014/main" id="{6071AFAE-C9E0-416A-821A-3D419E7C255C}"/>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02</a:t>
            </a:r>
          </a:p>
        </p:txBody>
      </p:sp>
      <p:sp>
        <p:nvSpPr>
          <p:cNvPr id="3" name="slide-title">
            <a:extLst xmlns:a="http://schemas.openxmlformats.org/drawingml/2006/main">
              <a:ext uri="{FF2B5EF4-FFF2-40B4-BE49-F238E27FC236}">
                <a16:creationId xmlns:a16="http://schemas.microsoft.com/office/drawing/2014/main" id="{ECD2E9F6-31E4-4D02-B251-AD7A4B38CCA6}"/>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Climate Data Collection: Scope and Coverage</a:t>
            </a:r>
          </a:p>
        </p:txBody>
      </p:sp>
      <p:sp>
        <p:nvSpPr>
          <p:cNvPr id="4" name="header-rule">
            <a:extLst xmlns:a="http://schemas.openxmlformats.org/drawingml/2006/main">
              <a:ext uri="{FF2B5EF4-FFF2-40B4-BE49-F238E27FC236}">
                <a16:creationId xmlns:a16="http://schemas.microsoft.com/office/drawing/2014/main" id="{14B18EAC-BC4A-4F41-94BB-E1B4BF80202C}"/>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168D6115-B4C9-44AF-AB9D-89B6EE72E6BA}"/>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source presentation describes the collection plan and the current preprocessing subset.</a:t>
            </a:r>
          </a:p>
        </p:txBody>
      </p:sp>
      <p:sp>
        <p:nvSpPr>
          <p:cNvPr id="6" name="stat-cities-represented-in-the-coordinate-input">
            <a:extLst xmlns:a="http://schemas.openxmlformats.org/drawingml/2006/main">
              <a:ext uri="{FF2B5EF4-FFF2-40B4-BE49-F238E27FC236}">
                <a16:creationId xmlns:a16="http://schemas.microsoft.com/office/drawing/2014/main" id="{FAB7CE31-3914-4AF7-875E-69F150DC0C4E}"/>
              </a:ext>
            </a:extLst>
          </p:cNvPr>
          <p:cNvSpPr>
            <a:spLocks xmlns:a="http://schemas.openxmlformats.org/drawingml/2006/main" noGrp="1"/>
          </p:cNvSpPr>
          <p:nvPr/>
        </p:nvSpPr>
        <p:spPr>
          <a:xfrm xmlns:a="http://schemas.openxmlformats.org/drawingml/2006/main">
            <a:off x="685800" y="2038350"/>
            <a:ext cx="2714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i="0">
                <a:solidFill>
                  <a:srgbClr val="156082"/>
                </a:solidFill>
                <a:latin typeface="Arial"/>
                <a:ea typeface="Arial"/>
                <a:cs typeface="Arial"/>
              </a:defRPr>
            </a:defPPr>
          </a:lstStyle>
          <a:p xmlns:a="http://schemas.openxmlformats.org/drawingml/2006/main">
            <a:pPr algn="l">
              <a:defRPr sz="4350" b="1" i="0">
                <a:solidFill>
                  <a:srgbClr val="156082"/>
                </a:solidFill>
                <a:latin typeface="Arial"/>
                <a:ea typeface="Arial"/>
                <a:cs typeface="Arial"/>
              </a:defRPr>
            </a:pPr>
            <a:r>
              <a:rPr sz="4350" b="1" i="0">
                <a:solidFill>
                  <a:srgbClr val="156082"/>
                </a:solidFill>
                <a:latin typeface="Arial"/>
                <a:ea typeface="Arial"/>
                <a:cs typeface="Arial"/>
              </a:rPr>
              <a:t>25</a:t>
            </a:r>
          </a:p>
        </p:txBody>
      </p:sp>
      <p:sp>
        <p:nvSpPr>
          <p:cNvPr id="7" name="stat-label-cities-represented-in-the-coordinate-input">
            <a:extLst xmlns:a="http://schemas.openxmlformats.org/drawingml/2006/main">
              <a:ext uri="{FF2B5EF4-FFF2-40B4-BE49-F238E27FC236}">
                <a16:creationId xmlns:a16="http://schemas.microsoft.com/office/drawing/2014/main" id="{87D5638F-9D8D-4F14-A4BE-BAB947C3414A}"/>
              </a:ext>
            </a:extLst>
          </p:cNvPr>
          <p:cNvSpPr>
            <a:spLocks xmlns:a="http://schemas.openxmlformats.org/drawingml/2006/main" noGrp="1"/>
          </p:cNvSpPr>
          <p:nvPr/>
        </p:nvSpPr>
        <p:spPr>
          <a:xfrm xmlns:a="http://schemas.openxmlformats.org/drawingml/2006/main">
            <a:off x="685800" y="2733675"/>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cities represented in the coordinate input</a:t>
            </a:r>
          </a:p>
        </p:txBody>
      </p:sp>
      <p:sp>
        <p:nvSpPr>
          <p:cNvPr id="8" name="stat-manually-selected-coordinate-points">
            <a:extLst xmlns:a="http://schemas.openxmlformats.org/drawingml/2006/main">
              <a:ext uri="{FF2B5EF4-FFF2-40B4-BE49-F238E27FC236}">
                <a16:creationId xmlns:a16="http://schemas.microsoft.com/office/drawing/2014/main" id="{B5FE8FC5-9E14-40FC-976F-7D0D7D62AC38}"/>
              </a:ext>
            </a:extLst>
          </p:cNvPr>
          <p:cNvSpPr>
            <a:spLocks xmlns:a="http://schemas.openxmlformats.org/drawingml/2006/main" noGrp="1"/>
          </p:cNvSpPr>
          <p:nvPr/>
        </p:nvSpPr>
        <p:spPr>
          <a:xfrm xmlns:a="http://schemas.openxmlformats.org/drawingml/2006/main">
            <a:off x="3943350" y="203835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i="0">
                <a:solidFill>
                  <a:srgbClr val="E97132"/>
                </a:solidFill>
                <a:latin typeface="Arial"/>
                <a:ea typeface="Arial"/>
                <a:cs typeface="Arial"/>
              </a:defRPr>
            </a:defPPr>
          </a:lstStyle>
          <a:p xmlns:a="http://schemas.openxmlformats.org/drawingml/2006/main">
            <a:pPr algn="l">
              <a:defRPr sz="4350" b="1" i="0">
                <a:solidFill>
                  <a:srgbClr val="E97132"/>
                </a:solidFill>
                <a:latin typeface="Arial"/>
                <a:ea typeface="Arial"/>
                <a:cs typeface="Arial"/>
              </a:defRPr>
            </a:pPr>
            <a:r>
              <a:rPr sz="4350" b="1" i="0">
                <a:solidFill>
                  <a:srgbClr val="E97132"/>
                </a:solidFill>
                <a:latin typeface="Arial"/>
                <a:ea typeface="Arial"/>
                <a:cs typeface="Arial"/>
              </a:rPr>
              <a:t>261</a:t>
            </a:r>
          </a:p>
        </p:txBody>
      </p:sp>
      <p:sp>
        <p:nvSpPr>
          <p:cNvPr id="9" name="stat-label-manually-selected-coordinate-points">
            <a:extLst xmlns:a="http://schemas.openxmlformats.org/drawingml/2006/main">
              <a:ext uri="{FF2B5EF4-FFF2-40B4-BE49-F238E27FC236}">
                <a16:creationId xmlns:a16="http://schemas.microsoft.com/office/drawing/2014/main" id="{3FD494AC-0394-4E9E-8C56-3312979BA390}"/>
              </a:ext>
            </a:extLst>
          </p:cNvPr>
          <p:cNvSpPr>
            <a:spLocks xmlns:a="http://schemas.openxmlformats.org/drawingml/2006/main" noGrp="1"/>
          </p:cNvSpPr>
          <p:nvPr/>
        </p:nvSpPr>
        <p:spPr>
          <a:xfrm xmlns:a="http://schemas.openxmlformats.org/drawingml/2006/main">
            <a:off x="3943350" y="2733675"/>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361"/>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manually selected coordinate points</a:t>
            </a:r>
          </a:p>
        </p:txBody>
      </p:sp>
      <p:sp>
        <p:nvSpPr>
          <p:cNvPr id="10" name="stat-cities-with-local-files-in-the-current-pipeline">
            <a:extLst xmlns:a="http://schemas.openxmlformats.org/drawingml/2006/main">
              <a:ext uri="{FF2B5EF4-FFF2-40B4-BE49-F238E27FC236}">
                <a16:creationId xmlns:a16="http://schemas.microsoft.com/office/drawing/2014/main" id="{C10BFB3D-2549-4C24-A565-BFC2A4DAB2D6}"/>
              </a:ext>
            </a:extLst>
          </p:cNvPr>
          <p:cNvSpPr>
            <a:spLocks xmlns:a="http://schemas.openxmlformats.org/drawingml/2006/main" noGrp="1"/>
          </p:cNvSpPr>
          <p:nvPr/>
        </p:nvSpPr>
        <p:spPr>
          <a:xfrm xmlns:a="http://schemas.openxmlformats.org/drawingml/2006/main">
            <a:off x="8096250" y="2038350"/>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i="0">
                <a:solidFill>
                  <a:srgbClr val="196B24"/>
                </a:solidFill>
                <a:latin typeface="Arial"/>
                <a:ea typeface="Arial"/>
                <a:cs typeface="Arial"/>
              </a:defRPr>
            </a:defPPr>
          </a:lstStyle>
          <a:p xmlns:a="http://schemas.openxmlformats.org/drawingml/2006/main">
            <a:pPr algn="l">
              <a:defRPr sz="4350" b="1" i="0">
                <a:solidFill>
                  <a:srgbClr val="196B24"/>
                </a:solidFill>
                <a:latin typeface="Arial"/>
                <a:ea typeface="Arial"/>
                <a:cs typeface="Arial"/>
              </a:defRPr>
            </a:pPr>
            <a:r>
              <a:rPr sz="4350" b="1" i="0">
                <a:solidFill>
                  <a:srgbClr val="196B24"/>
                </a:solidFill>
                <a:latin typeface="Arial"/>
                <a:ea typeface="Arial"/>
                <a:cs typeface="Arial"/>
              </a:rPr>
              <a:t>8</a:t>
            </a:r>
          </a:p>
        </p:txBody>
      </p:sp>
      <p:sp>
        <p:nvSpPr>
          <p:cNvPr id="11" name="stat-label-cities-with-local-files-in-the-current-pipeline">
            <a:extLst xmlns:a="http://schemas.openxmlformats.org/drawingml/2006/main">
              <a:ext uri="{FF2B5EF4-FFF2-40B4-BE49-F238E27FC236}">
                <a16:creationId xmlns:a16="http://schemas.microsoft.com/office/drawing/2014/main" id="{D94BC115-2C1F-4FA3-AD81-328085A49BE7}"/>
              </a:ext>
            </a:extLst>
          </p:cNvPr>
          <p:cNvSpPr>
            <a:spLocks xmlns:a="http://schemas.openxmlformats.org/drawingml/2006/main" noGrp="1"/>
          </p:cNvSpPr>
          <p:nvPr/>
        </p:nvSpPr>
        <p:spPr>
          <a:xfrm xmlns:a="http://schemas.openxmlformats.org/drawingml/2006/main">
            <a:off x="8096250" y="2733675"/>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cities with local files in the current pipeline</a:t>
            </a:r>
          </a:p>
        </p:txBody>
      </p:sp>
      <p:sp>
        <p:nvSpPr>
          <p:cNvPr id="12" name="scope-separator">
            <a:extLst xmlns:a="http://schemas.openxmlformats.org/drawingml/2006/main">
              <a:ext uri="{FF2B5EF4-FFF2-40B4-BE49-F238E27FC236}">
                <a16:creationId xmlns:a16="http://schemas.microsoft.com/office/drawing/2014/main" id="{14A8A351-B823-4C05-A7EB-979B18055A44}"/>
              </a:ext>
            </a:extLst>
          </p:cNvPr>
          <p:cNvSpPr>
            <a:spLocks xmlns:a="http://schemas.openxmlformats.org/drawingml/2006/main" noGrp="1"/>
          </p:cNvSpPr>
          <p:nvPr/>
        </p:nvSpPr>
        <p:spPr>
          <a:xfrm xmlns:a="http://schemas.openxmlformats.org/drawingml/2006/main">
            <a:off x="685800" y="3476625"/>
            <a:ext cx="10791825"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13" name="label-source-and-coverage">
            <a:extLst xmlns:a="http://schemas.openxmlformats.org/drawingml/2006/main">
              <a:ext uri="{FF2B5EF4-FFF2-40B4-BE49-F238E27FC236}">
                <a16:creationId xmlns:a16="http://schemas.microsoft.com/office/drawing/2014/main" id="{013AF755-45E6-4D2C-8060-026447AD7393}"/>
              </a:ext>
            </a:extLst>
          </p:cNvPr>
          <p:cNvSpPr>
            <a:spLocks xmlns:a="http://schemas.openxmlformats.org/drawingml/2006/main" noGrp="1"/>
          </p:cNvSpPr>
          <p:nvPr/>
        </p:nvSpPr>
        <p:spPr>
          <a:xfrm xmlns:a="http://schemas.openxmlformats.org/drawingml/2006/main">
            <a:off x="685800" y="37814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156082"/>
                </a:solidFill>
                <a:latin typeface="Arial"/>
                <a:ea typeface="Arial"/>
                <a:cs typeface="Arial"/>
              </a:defRPr>
            </a:defPPr>
          </a:lstStyle>
          <a:p xmlns:a="http://schemas.openxmlformats.org/drawingml/2006/main">
            <a:pPr algn="l">
              <a:defRPr sz="1125" b="1" i="0">
                <a:solidFill>
                  <a:srgbClr val="156082"/>
                </a:solidFill>
                <a:latin typeface="Arial"/>
                <a:ea typeface="Arial"/>
                <a:cs typeface="Arial"/>
              </a:defRPr>
            </a:pPr>
            <a:r>
              <a:rPr sz="1125" b="1" i="0">
                <a:solidFill>
                  <a:srgbClr val="156082"/>
                </a:solidFill>
                <a:latin typeface="Arial"/>
                <a:ea typeface="Arial"/>
                <a:cs typeface="Arial"/>
              </a:rPr>
              <a:t>SOURCE AND COVERAGE</a:t>
            </a:r>
          </a:p>
        </p:txBody>
      </p:sp>
      <p:sp>
        <p:nvSpPr>
          <p:cNvPr id="14" name="editable-bullet-list">
            <a:extLst xmlns:a="http://schemas.openxmlformats.org/drawingml/2006/main">
              <a:ext uri="{FF2B5EF4-FFF2-40B4-BE49-F238E27FC236}">
                <a16:creationId xmlns:a16="http://schemas.microsoft.com/office/drawing/2014/main" id="{C530ECBA-1BE0-4A3F-8416-4B2A72DA60FE}"/>
              </a:ext>
            </a:extLst>
          </p:cNvPr>
          <p:cNvSpPr>
            <a:spLocks xmlns:a="http://schemas.openxmlformats.org/drawingml/2006/main" noGrp="1"/>
          </p:cNvSpPr>
          <p:nvPr/>
        </p:nvSpPr>
        <p:spPr>
          <a:xfrm xmlns:a="http://schemas.openxmlformats.org/drawingml/2006/main">
            <a:off x="685800" y="4105275"/>
            <a:ext cx="10572750" cy="1857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725">
                <a:solidFill>
                  <a:srgbClr val="172B3A"/>
                </a:solidFill>
                <a:latin typeface="Arial"/>
                <a:ea typeface="Arial"/>
                <a:cs typeface="Arial"/>
              </a:defRPr>
            </a:defPPr>
          </a:lstStyle>
          <a:p xmlns:a="http://schemas.openxmlformats.org/drawingml/2006/main">
            <a:pPr marL="241300" indent="-127000">
              <a:lnSpc>
                <a:spcPct val="108000"/>
              </a:lnSpc>
              <a:spcAft>
                <a:spcPts val="700"/>
              </a:spcAft>
              <a:buNone/>
              <a:defRPr sz="1725">
                <a:solidFill>
                  <a:srgbClr val="172B3A"/>
                </a:solidFill>
                <a:latin typeface="Arial"/>
                <a:ea typeface="Arial"/>
                <a:cs typeface="Arial"/>
              </a:defRPr>
            </a:pPr>
            <a:r>
              <a:rPr sz="1725">
                <a:solidFill>
                  <a:srgbClr val="172B3A"/>
                </a:solidFill>
                <a:latin typeface="Arial"/>
                <a:ea typeface="Arial"/>
                <a:cs typeface="Arial"/>
              </a:rPr>
              <a:t>NASA/POWER monthly point data, requested for 2000 to 2025.</a:t>
            </a:r>
          </a:p>
          <a:p xmlns:a="http://schemas.openxmlformats.org/drawingml/2006/main">
            <a:pPr marL="241300" indent="-127000">
              <a:lnSpc>
                <a:spcPct val="108000"/>
              </a:lnSpc>
              <a:spcAft>
                <a:spcPts val="700"/>
              </a:spcAft>
              <a:buNone/>
              <a:defRPr sz="1725">
                <a:solidFill>
                  <a:srgbClr val="172B3A"/>
                </a:solidFill>
                <a:latin typeface="Arial"/>
                <a:ea typeface="Arial"/>
                <a:cs typeface="Arial"/>
              </a:defRPr>
            </a:pPr>
            <a:r>
              <a:rPr sz="1725">
                <a:solidFill>
                  <a:srgbClr val="172B3A"/>
                </a:solidFill>
                <a:latin typeface="Arial"/>
                <a:ea typeface="Arial"/>
                <a:cs typeface="Arial"/>
              </a:rPr>
              <a:t>The source deck gives Ahmedabad and Mumbai as examples from the 25-city input.</a:t>
            </a:r>
          </a:p>
          <a:p xmlns:a="http://schemas.openxmlformats.org/drawingml/2006/main">
            <a:pPr marL="241300" indent="-127000">
              <a:lnSpc>
                <a:spcPct val="108000"/>
              </a:lnSpc>
              <a:spcAft>
                <a:spcPts val="700"/>
              </a:spcAft>
              <a:buNone/>
              <a:defRPr sz="1725">
                <a:solidFill>
                  <a:srgbClr val="172B3A"/>
                </a:solidFill>
                <a:latin typeface="Arial"/>
                <a:ea typeface="Arial"/>
                <a:cs typeface="Arial"/>
              </a:defRPr>
            </a:pPr>
            <a:r>
              <a:rPr sz="1725">
                <a:solidFill>
                  <a:srgbClr val="172B3A"/>
                </a:solidFill>
                <a:latin typeface="Arial"/>
                <a:ea typeface="Arial"/>
                <a:cs typeface="Arial"/>
              </a:rPr>
              <a:t>The repository contains 89 point files for the eight cities now processed.</a:t>
            </a:r>
          </a:p>
          <a:p xmlns:a="http://schemas.openxmlformats.org/drawingml/2006/main">
            <a:pPr marL="241300" indent="-127000">
              <a:lnSpc>
                <a:spcPct val="108000"/>
              </a:lnSpc>
              <a:spcAft>
                <a:spcPts val="700"/>
              </a:spcAft>
              <a:buNone/>
              <a:defRPr sz="1725">
                <a:solidFill>
                  <a:srgbClr val="172B3A"/>
                </a:solidFill>
                <a:latin typeface="Arial"/>
                <a:ea typeface="Arial"/>
                <a:cs typeface="Arial"/>
              </a:defRPr>
            </a:pPr>
            <a:r>
              <a:rPr sz="1725">
                <a:solidFill>
                  <a:srgbClr val="172B3A"/>
                </a:solidFill>
                <a:latin typeface="Arial"/>
                <a:ea typeface="Arial"/>
                <a:cs typeface="Arial"/>
              </a:rPr>
              <a:t>The full city_points.csv list is not present, so the other 23 city names cannot be verified here.</a:t>
            </a:r>
          </a:p>
        </p:txBody>
      </p:sp>
      <p:sp>
        <p:nvSpPr>
          <p:cNvPr id="15" name="coverage-caveat">
            <a:extLst xmlns:a="http://schemas.openxmlformats.org/drawingml/2006/main">
              <a:ext uri="{FF2B5EF4-FFF2-40B4-BE49-F238E27FC236}">
                <a16:creationId xmlns:a16="http://schemas.microsoft.com/office/drawing/2014/main" id="{BEFD89AE-E7AB-409C-8BB7-51BEA0DDDA39}"/>
              </a:ext>
            </a:extLst>
          </p:cNvPr>
          <p:cNvSpPr>
            <a:spLocks xmlns:a="http://schemas.openxmlformats.org/drawingml/2006/main" noGrp="1"/>
          </p:cNvSpPr>
          <p:nvPr/>
        </p:nvSpPr>
        <p:spPr>
          <a:xfrm xmlns:a="http://schemas.openxmlformats.org/drawingml/2006/main">
            <a:off x="685800" y="61055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E97132"/>
                </a:solidFill>
                <a:latin typeface="Arial"/>
                <a:ea typeface="Arial"/>
                <a:cs typeface="Arial"/>
              </a:defRPr>
            </a:defPPr>
          </a:lstStyle>
          <a:p xmlns:a="http://schemas.openxmlformats.org/drawingml/2006/main">
            <a:pPr algn="l">
              <a:defRPr sz="1425" b="1" i="0">
                <a:solidFill>
                  <a:srgbClr val="E97132"/>
                </a:solidFill>
                <a:latin typeface="Arial"/>
                <a:ea typeface="Arial"/>
                <a:cs typeface="Arial"/>
              </a:defRPr>
            </a:pPr>
            <a:r>
              <a:rPr sz="1425" b="1" i="0">
                <a:solidFill>
                  <a:srgbClr val="E97132"/>
                </a:solidFill>
                <a:latin typeface="Arial"/>
                <a:ea typeface="Arial"/>
                <a:cs typeface="Arial"/>
              </a:rPr>
              <a:t>The scraping deck reports that its live run stopped early, so all 261 downloads were not confirmed.</a:t>
            </a:r>
          </a:p>
        </p:txBody>
      </p:sp>
    </p:spTree>
    <p:extLst>
      <p:ext uri="{BB962C8B-B14F-4D97-AF65-F5344CB8AC3E}">
        <p14:creationId xmlns:p14="http://schemas.microsoft.com/office/powerpoint/2010/main" val="1303198459"/>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05276052-C7D3-498E-AB43-00C22CE5B27A}"/>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A · COLLECTION</a:t>
            </a:r>
          </a:p>
        </p:txBody>
      </p:sp>
      <p:sp>
        <p:nvSpPr>
          <p:cNvPr id="2" name="slide-number">
            <a:extLst xmlns:a="http://schemas.openxmlformats.org/drawingml/2006/main">
              <a:ext uri="{FF2B5EF4-FFF2-40B4-BE49-F238E27FC236}">
                <a16:creationId xmlns:a16="http://schemas.microsoft.com/office/drawing/2014/main" id="{473F62FF-FD70-4B57-966B-41CCA3BE5E28}"/>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03</a:t>
            </a:r>
          </a:p>
        </p:txBody>
      </p:sp>
      <p:sp>
        <p:nvSpPr>
          <p:cNvPr id="3" name="slide-title">
            <a:extLst xmlns:a="http://schemas.openxmlformats.org/drawingml/2006/main">
              <a:ext uri="{FF2B5EF4-FFF2-40B4-BE49-F238E27FC236}">
                <a16:creationId xmlns:a16="http://schemas.microsoft.com/office/drawing/2014/main" id="{EFBE3705-EFA7-4463-BB29-C4DD7426C458}"/>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NASA/POWER Source and Climate Parameters</a:t>
            </a:r>
          </a:p>
        </p:txBody>
      </p:sp>
      <p:sp>
        <p:nvSpPr>
          <p:cNvPr id="4" name="header-rule">
            <a:extLst xmlns:a="http://schemas.openxmlformats.org/drawingml/2006/main">
              <a:ext uri="{FF2B5EF4-FFF2-40B4-BE49-F238E27FC236}">
                <a16:creationId xmlns:a16="http://schemas.microsoft.com/office/drawing/2014/main" id="{445E8445-B0E4-4DE0-9378-38E9D4B40321}"/>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F63EB8F4-B653-44A0-ACDF-64847FAD0D4C}"/>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local source files contain 15 monthly climate parameters. Units below follow the repository data dictionary.</a:t>
            </a:r>
          </a:p>
        </p:txBody>
      </p:sp>
      <p:graphicFrame>
        <p:nvGraphicFramePr>
          <p:cNvPr id="6" name="">
            <a:extLst xmlns:a="http://schemas.openxmlformats.org/drawingml/2006/main">
              <a:ext uri="{FF2B5EF4-FFF2-40B4-BE49-F238E27FC236}">
                <a16:creationId xmlns:a16="http://schemas.microsoft.com/office/drawing/2014/main" id="{E307CEBC-01B0-422F-834D-3F06F35350D9}"/>
              </a:ext>
            </a:extLst>
          </p:cNvPr>
          <p:cNvGraphicFramePr/>
          <p:nvPr/>
        </p:nvGraphicFramePr>
        <p:xfrm>
          <a:off xmlns:a="http://schemas.openxmlformats.org/drawingml/2006/main" x="571500" y="1724025"/>
          <a:ext xmlns:a="http://schemas.openxmlformats.org/drawingml/2006/main" cx="11049000" cy="4057650"/>
        </p:xfrm>
        <a:graphic xmlns:a="http://schemas.openxmlformats.org/drawingml/2006/main">
          <a:graphicData uri="http://schemas.openxmlformats.org/drawingml/2006/table">
            <a:tbl>
              <a:tblPr/>
              <a:tblGrid>
                <a:gridCol w="5524500"/>
                <a:gridCol w="5524500"/>
              </a:tblGrid>
              <a:tr h="400050">
                <a:tc>
                  <a:txBody>
                    <a:bodyPr wrap="square" lIns="47625" tIns="47625" rIns="47625" bIns="47625">
                      <a:normAutofit/>
                    </a:bodyPr>
                    <a:lstStyle/>
                    <a:p>
                      <a:pPr algn="l"/>
                      <a:r>
                        <a:rPr sz="1650" b="1">
                          <a:solidFill>
                            <a:srgbClr val="FFFFFF"/>
                          </a:solidFill>
                          <a:latin typeface="Arial"/>
                          <a:ea typeface="Arial"/>
                          <a:cs typeface="Arial"/>
                        </a:rPr>
                        <a:t>Temperature and atmosphere</a:t>
                      </a:r>
                    </a:p>
                  </a:txBody>
                  <a:tcPr marL="91440" marR="91440" marT="45720" marB="45720" anchor="ctr">
                    <a:solidFill>
                      <a:srgbClr val="0E2841"/>
                    </a:solidFill>
                  </a:tcPr>
                </a:tc>
                <a:tc>
                  <a:txBody>
                    <a:bodyPr wrap="square" lIns="47625" tIns="47625" rIns="47625" bIns="47625">
                      <a:normAutofit/>
                    </a:bodyPr>
                    <a:lstStyle/>
                    <a:p>
                      <a:pPr algn="l"/>
                      <a:r>
                        <a:rPr sz="1650" b="1">
                          <a:solidFill>
                            <a:srgbClr val="FFFFFF"/>
                          </a:solidFill>
                          <a:latin typeface="Arial"/>
                          <a:ea typeface="Arial"/>
                          <a:cs typeface="Arial"/>
                        </a:rPr>
                        <a:t>Precipitation and radiation</a:t>
                      </a:r>
                    </a:p>
                  </a:txBody>
                  <a:tcPr marL="91440" marR="91440" marT="45720" marB="45720" anchor="ctr">
                    <a:solidFill>
                      <a:srgbClr val="0E2841"/>
                    </a:solidFill>
                  </a:tcPr>
                </a:tc>
              </a:tr>
              <a:tr h="457200">
                <a:tc>
                  <a:txBody>
                    <a:bodyPr wrap="square" lIns="47625" tIns="47625" rIns="47625" bIns="47625">
                      <a:normAutofit/>
                    </a:bodyPr>
                    <a:lstStyle/>
                    <a:p>
                      <a:pPr algn="l"/>
                      <a:r>
                        <a:rPr sz="1425">
                          <a:solidFill>
                            <a:srgbClr val="172B3A"/>
                          </a:solidFill>
                          <a:latin typeface="Arial"/>
                          <a:ea typeface="Arial"/>
                          <a:cs typeface="Arial"/>
                        </a:rPr>
                        <a:t>T2M  Air temperature at 2 m (°C)</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PRECTOTCORR  Corrected precipitation (mm/day)</a:t>
                      </a:r>
                    </a:p>
                  </a:txBody>
                  <a:tcPr marL="91440" marR="91440" marT="45720" marB="45720" anchor="ctr">
                    <a:solidFill>
                      <a:srgbClr val="FFFFFF"/>
                    </a:solidFill>
                  </a:tcPr>
                </a:tc>
              </a:tr>
              <a:tr h="457200">
                <a:tc>
                  <a:txBody>
                    <a:bodyPr wrap="square" lIns="47625" tIns="47625" rIns="47625" bIns="47625">
                      <a:normAutofit/>
                    </a:bodyPr>
                    <a:lstStyle/>
                    <a:p>
                      <a:pPr algn="l"/>
                      <a:r>
                        <a:rPr sz="1425">
                          <a:solidFill>
                            <a:srgbClr val="172B3A"/>
                          </a:solidFill>
                          <a:latin typeface="Arial"/>
                          <a:ea typeface="Arial"/>
                          <a:cs typeface="Arial"/>
                        </a:rPr>
                        <a:t>T2M_MAX  Monthly mean of daily maxima (°C)</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IMERG_PRECTOT  IMERG precipitation (mm/day)</a:t>
                      </a:r>
                    </a:p>
                  </a:txBody>
                  <a:tcPr marL="91440" marR="91440" marT="45720" marB="45720" anchor="ctr">
                    <a:solidFill>
                      <a:srgbClr val="EAF2F5"/>
                    </a:solidFill>
                  </a:tcPr>
                </a:tc>
              </a:tr>
              <a:tr h="457200">
                <a:tc>
                  <a:txBody>
                    <a:bodyPr wrap="square" lIns="47625" tIns="47625" rIns="47625" bIns="47625">
                      <a:normAutofit/>
                    </a:bodyPr>
                    <a:lstStyle/>
                    <a:p>
                      <a:pPr algn="l"/>
                      <a:r>
                        <a:rPr sz="1425">
                          <a:solidFill>
                            <a:srgbClr val="172B3A"/>
                          </a:solidFill>
                          <a:latin typeface="Arial"/>
                          <a:ea typeface="Arial"/>
                          <a:cs typeface="Arial"/>
                        </a:rPr>
                        <a:t>T2M_MIN  Monthly mean of daily minima (°C)</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ALLSKY_SFC_UV_INDEX  UV index</a:t>
                      </a:r>
                    </a:p>
                  </a:txBody>
                  <a:tcPr marL="91440" marR="91440" marT="45720" marB="45720" anchor="ctr">
                    <a:solidFill>
                      <a:srgbClr val="FFFFFF"/>
                    </a:solidFill>
                  </a:tcPr>
                </a:tc>
              </a:tr>
              <a:tr h="457200">
                <a:tc>
                  <a:txBody>
                    <a:bodyPr wrap="square" lIns="47625" tIns="47625" rIns="47625" bIns="47625">
                      <a:normAutofit/>
                    </a:bodyPr>
                    <a:lstStyle/>
                    <a:p>
                      <a:pPr algn="l"/>
                      <a:r>
                        <a:rPr sz="1425">
                          <a:solidFill>
                            <a:srgbClr val="172B3A"/>
                          </a:solidFill>
                          <a:latin typeface="Arial"/>
                          <a:ea typeface="Arial"/>
                          <a:cs typeface="Arial"/>
                        </a:rPr>
                        <a:t>TS  Earth skin temperature (°C)</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ALLSKY_SRF_ALB  Surface albedo (unitless)</a:t>
                      </a:r>
                    </a:p>
                  </a:txBody>
                  <a:tcPr marL="91440" marR="91440" marT="45720" marB="45720" anchor="ctr">
                    <a:solidFill>
                      <a:srgbClr val="EAF2F5"/>
                    </a:solidFill>
                  </a:tcPr>
                </a:tc>
              </a:tr>
              <a:tr h="457200">
                <a:tc>
                  <a:txBody>
                    <a:bodyPr wrap="square" lIns="47625" tIns="47625" rIns="47625" bIns="47625">
                      <a:normAutofit/>
                    </a:bodyPr>
                    <a:lstStyle/>
                    <a:p>
                      <a:pPr algn="l"/>
                      <a:r>
                        <a:rPr sz="1425">
                          <a:solidFill>
                            <a:srgbClr val="172B3A"/>
                          </a:solidFill>
                          <a:latin typeface="Arial"/>
                          <a:ea typeface="Arial"/>
                          <a:cs typeface="Arial"/>
                        </a:rPr>
                        <a:t>PS  Surface pressure (kPa)</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CLRSKY_SFC_SW_DWN  Clear-sky shortwave (kWh/m²/day)</a:t>
                      </a:r>
                    </a:p>
                  </a:txBody>
                  <a:tcPr marL="91440" marR="91440" marT="45720" marB="45720" anchor="ctr">
                    <a:solidFill>
                      <a:srgbClr val="FFFFFF"/>
                    </a:solidFill>
                  </a:tcPr>
                </a:tc>
              </a:tr>
              <a:tr h="457200">
                <a:tc>
                  <a:txBody>
                    <a:bodyPr wrap="square" lIns="47625" tIns="47625" rIns="47625" bIns="47625">
                      <a:normAutofit/>
                    </a:bodyPr>
                    <a:lstStyle/>
                    <a:p>
                      <a:pPr algn="l"/>
                      <a:r>
                        <a:rPr sz="1425">
                          <a:solidFill>
                            <a:srgbClr val="172B3A"/>
                          </a:solidFill>
                          <a:latin typeface="Arial"/>
                          <a:ea typeface="Arial"/>
                          <a:cs typeface="Arial"/>
                        </a:rPr>
                        <a:t>QV2M  Specific humidity (g/kg)</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ALLSKY_SFC_SW_DIFF  Diffuse shortwave (kWh/m²/day)</a:t>
                      </a:r>
                    </a:p>
                  </a:txBody>
                  <a:tcPr marL="91440" marR="91440" marT="45720" marB="45720" anchor="ctr">
                    <a:solidFill>
                      <a:srgbClr val="EAF2F5"/>
                    </a:solidFill>
                  </a:tcPr>
                </a:tc>
              </a:tr>
              <a:tr h="457200">
                <a:tc>
                  <a:txBody>
                    <a:bodyPr wrap="square" lIns="47625" tIns="47625" rIns="47625" bIns="47625">
                      <a:normAutofit/>
                    </a:bodyPr>
                    <a:lstStyle/>
                    <a:p>
                      <a:pPr algn="l"/>
                      <a:r>
                        <a:rPr sz="1425">
                          <a:solidFill>
                            <a:srgbClr val="172B3A"/>
                          </a:solidFill>
                          <a:latin typeface="Arial"/>
                          <a:ea typeface="Arial"/>
                          <a:cs typeface="Arial"/>
                        </a:rPr>
                        <a:t>WS10M  Wind speed at 10 m (m/s)</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ALLSKY_SFC_SW_DNI  Direct-normal shortwave (kWh/m²/day)</a:t>
                      </a:r>
                    </a:p>
                  </a:txBody>
                  <a:tcPr marL="91440" marR="91440" marT="45720" marB="45720" anchor="ctr">
                    <a:solidFill>
                      <a:srgbClr val="FFFFFF"/>
                    </a:solidFill>
                  </a:tcPr>
                </a:tc>
              </a:tr>
              <a:tr h="457200">
                <a:tc>
                  <a:txBody>
                    <a:bodyPr wrap="square" lIns="47625" tIns="47625" rIns="47625" bIns="47625">
                      <a:normAutofit/>
                    </a:bodyPr>
                    <a:lstStyle/>
                    <a:p>
                      <a:pPr algn="l"/>
                      <a:r>
                        <a:rPr sz="1425">
                          <a:solidFill>
                            <a:srgbClr val="172B3A"/>
                          </a:solidFill>
                          <a:latin typeface="Arial"/>
                          <a:ea typeface="Arial"/>
                          <a:cs typeface="Arial"/>
                        </a:rPr>
                        <a:t>CLOUD_AMT  Cloud amount (%)</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Prior deck only: ALLSKY_SFC_SW_DWN</a:t>
                      </a:r>
                    </a:p>
                  </a:txBody>
                  <a:tcPr marL="91440" marR="91440" marT="45720" marB="45720" anchor="ctr">
                    <a:solidFill>
                      <a:srgbClr val="EAF2F5"/>
                    </a:solidFill>
                  </a:tcPr>
                </a:tc>
              </a:tr>
            </a:tbl>
          </a:graphicData>
        </a:graphic>
      </p:graphicFrame>
      <p:sp>
        <p:nvSpPr>
          <p:cNvPr id="7" name="parameter-caveat">
            <a:extLst xmlns:a="http://schemas.openxmlformats.org/drawingml/2006/main">
              <a:ext uri="{FF2B5EF4-FFF2-40B4-BE49-F238E27FC236}">
                <a16:creationId xmlns:a16="http://schemas.microsoft.com/office/drawing/2014/main" id="{DDFEC957-B8F1-4145-BEF4-C49B801219ED}"/>
              </a:ext>
            </a:extLst>
          </p:cNvPr>
          <p:cNvSpPr>
            <a:spLocks xmlns:a="http://schemas.openxmlformats.org/drawingml/2006/main" noGrp="1"/>
          </p:cNvSpPr>
          <p:nvPr/>
        </p:nvSpPr>
        <p:spPr>
          <a:xfrm xmlns:a="http://schemas.openxmlformats.org/drawingml/2006/main">
            <a:off x="609600" y="5924550"/>
            <a:ext cx="1095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E97132"/>
                </a:solidFill>
                <a:latin typeface="Arial"/>
                <a:ea typeface="Arial"/>
                <a:cs typeface="Arial"/>
              </a:defRPr>
            </a:defPPr>
          </a:lstStyle>
          <a:p xmlns:a="http://schemas.openxmlformats.org/drawingml/2006/main">
            <a:pPr algn="l">
              <a:defRPr sz="1350" b="1" i="0">
                <a:solidFill>
                  <a:srgbClr val="E97132"/>
                </a:solidFill>
                <a:latin typeface="Arial"/>
                <a:ea typeface="Arial"/>
                <a:cs typeface="Arial"/>
              </a:defRPr>
            </a:pPr>
            <a:r>
              <a:rPr sz="1350" b="1" i="0">
                <a:solidFill>
                  <a:srgbClr val="E97132"/>
                </a:solidFill>
                <a:latin typeface="Arial"/>
                <a:ea typeface="Arial"/>
                <a:cs typeface="Arial"/>
              </a:rPr>
              <a:t>The prior scraping slide lists ALLSKY_SFC_SW_DWN. The current raw-file inventory instead contains ALLSKY_SFC_SW_DNI and IMERG_PRECTOT.</a:t>
            </a:r>
          </a:p>
        </p:txBody>
      </p:sp>
    </p:spTree>
    <p:extLst>
      <p:ext uri="{BB962C8B-B14F-4D97-AF65-F5344CB8AC3E}">
        <p14:creationId xmlns:p14="http://schemas.microsoft.com/office/powerpoint/2010/main" val="1453139871"/>
      </p:ext>
    </p:extLst>
  </p:cSld>
</p:sld>
</file>

<file path=ppt/slides/slide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6" name="section-label">
            <a:extLst xmlns:a="http://schemas.openxmlformats.org/drawingml/2006/main">
              <a:ext uri="{FF2B5EF4-FFF2-40B4-BE49-F238E27FC236}">
                <a16:creationId xmlns:a16="http://schemas.microsoft.com/office/drawing/2014/main" id="{AF07E7D5-11B3-4DC1-A377-93F8A4E14781}"/>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A · COLLECTION</a:t>
            </a:r>
          </a:p>
        </p:txBody>
      </p:sp>
      <p:sp>
        <p:nvSpPr>
          <p:cNvPr id="2" name="slide-number">
            <a:extLst xmlns:a="http://schemas.openxmlformats.org/drawingml/2006/main">
              <a:ext uri="{FF2B5EF4-FFF2-40B4-BE49-F238E27FC236}">
                <a16:creationId xmlns:a16="http://schemas.microsoft.com/office/drawing/2014/main" id="{FFAF640E-160D-45D6-9D84-6AB6854AA0D9}"/>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04</a:t>
            </a:r>
          </a:p>
        </p:txBody>
      </p:sp>
      <p:sp>
        <p:nvSpPr>
          <p:cNvPr id="3" name="slide-title">
            <a:extLst xmlns:a="http://schemas.openxmlformats.org/drawingml/2006/main">
              <a:ext uri="{FF2B5EF4-FFF2-40B4-BE49-F238E27FC236}">
                <a16:creationId xmlns:a16="http://schemas.microsoft.com/office/drawing/2014/main" id="{51B25B3E-459D-40E1-BC3F-661739767D17}"/>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Data-Scraping Methodology</a:t>
            </a:r>
          </a:p>
        </p:txBody>
      </p:sp>
      <p:sp>
        <p:nvSpPr>
          <p:cNvPr id="4" name="header-rule">
            <a:extLst xmlns:a="http://schemas.openxmlformats.org/drawingml/2006/main">
              <a:ext uri="{FF2B5EF4-FFF2-40B4-BE49-F238E27FC236}">
                <a16:creationId xmlns:a16="http://schemas.microsoft.com/office/drawing/2014/main" id="{0F2AC363-8611-4BFF-B0BF-B3B7371D8407}"/>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97E4F868-528E-463D-831D-0B3234DFFE09}"/>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collection script turns one manually selected coordinate into one NASA/POWER CSV request.</a:t>
            </a:r>
          </a:p>
        </p:txBody>
      </p:sp>
      <p:sp>
        <p:nvSpPr>
          <p:cNvPr id="6" name="step-01-number">
            <a:extLst xmlns:a="http://schemas.openxmlformats.org/drawingml/2006/main">
              <a:ext uri="{FF2B5EF4-FFF2-40B4-BE49-F238E27FC236}">
                <a16:creationId xmlns:a16="http://schemas.microsoft.com/office/drawing/2014/main" id="{50A292F7-C015-4841-AA84-937C0E52E914}"/>
              </a:ext>
            </a:extLst>
          </p:cNvPr>
          <p:cNvSpPr>
            <a:spLocks xmlns:a="http://schemas.openxmlformats.org/drawingml/2006/main" noGrp="1"/>
          </p:cNvSpPr>
          <p:nvPr/>
        </p:nvSpPr>
        <p:spPr>
          <a:xfrm xmlns:a="http://schemas.openxmlformats.org/drawingml/2006/main">
            <a:off x="666750" y="21431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56082"/>
                </a:solidFill>
                <a:latin typeface="Arial"/>
                <a:ea typeface="Arial"/>
                <a:cs typeface="Arial"/>
              </a:defRPr>
            </a:defPPr>
          </a:lstStyle>
          <a:p xmlns:a="http://schemas.openxmlformats.org/drawingml/2006/main">
            <a:pPr algn="l">
              <a:defRPr sz="2025" b="1" i="0">
                <a:solidFill>
                  <a:srgbClr val="156082"/>
                </a:solidFill>
                <a:latin typeface="Arial"/>
                <a:ea typeface="Arial"/>
                <a:cs typeface="Arial"/>
              </a:defRPr>
            </a:pPr>
            <a:r>
              <a:rPr sz="2025" b="1" i="0">
                <a:solidFill>
                  <a:srgbClr val="156082"/>
                </a:solidFill>
                <a:latin typeface="Arial"/>
                <a:ea typeface="Arial"/>
                <a:cs typeface="Arial"/>
              </a:rPr>
              <a:t>01</a:t>
            </a:r>
          </a:p>
        </p:txBody>
      </p:sp>
      <p:sp>
        <p:nvSpPr>
          <p:cNvPr id="7" name="step-01-title">
            <a:extLst xmlns:a="http://schemas.openxmlformats.org/drawingml/2006/main">
              <a:ext uri="{FF2B5EF4-FFF2-40B4-BE49-F238E27FC236}">
                <a16:creationId xmlns:a16="http://schemas.microsoft.com/office/drawing/2014/main" id="{1B7FC97B-FA6D-4377-ACD6-03EF79F27EE6}"/>
              </a:ext>
            </a:extLst>
          </p:cNvPr>
          <p:cNvSpPr>
            <a:spLocks xmlns:a="http://schemas.openxmlformats.org/drawingml/2006/main" noGrp="1"/>
          </p:cNvSpPr>
          <p:nvPr/>
        </p:nvSpPr>
        <p:spPr>
          <a:xfrm xmlns:a="http://schemas.openxmlformats.org/drawingml/2006/main">
            <a:off x="666750" y="25527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Coordinate input</a:t>
            </a:r>
          </a:p>
        </p:txBody>
      </p:sp>
      <p:sp>
        <p:nvSpPr>
          <p:cNvPr id="8" name="step-01-description">
            <a:extLst xmlns:a="http://schemas.openxmlformats.org/drawingml/2006/main">
              <a:ext uri="{FF2B5EF4-FFF2-40B4-BE49-F238E27FC236}">
                <a16:creationId xmlns:a16="http://schemas.microsoft.com/office/drawing/2014/main" id="{CFDB113F-D86F-46CD-9BF0-B65C38327583}"/>
              </a:ext>
            </a:extLst>
          </p:cNvPr>
          <p:cNvSpPr>
            <a:spLocks xmlns:a="http://schemas.openxmlformats.org/drawingml/2006/main" noGrp="1"/>
          </p:cNvSpPr>
          <p:nvPr/>
        </p:nvSpPr>
        <p:spPr>
          <a:xfrm xmlns:a="http://schemas.openxmlformats.org/drawingml/2006/main">
            <a:off x="666750" y="2971800"/>
            <a:ext cx="2190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Read city, latitude, and longitude from city_points.csv.</a:t>
            </a:r>
          </a:p>
        </p:txBody>
      </p:sp>
      <p:sp>
        <p:nvSpPr>
          <p:cNvPr id="9" name="method-connector-0">
            <a:extLst xmlns:a="http://schemas.openxmlformats.org/drawingml/2006/main">
              <a:ext uri="{FF2B5EF4-FFF2-40B4-BE49-F238E27FC236}">
                <a16:creationId xmlns:a16="http://schemas.microsoft.com/office/drawing/2014/main" id="{B99A3DC2-29B2-4541-BDDF-214D0BABEEE3}"/>
              </a:ext>
            </a:extLst>
          </p:cNvPr>
          <p:cNvSpPr>
            <a:spLocks xmlns:a="http://schemas.openxmlformats.org/drawingml/2006/main" noGrp="1"/>
          </p:cNvSpPr>
          <p:nvPr/>
        </p:nvSpPr>
        <p:spPr>
          <a:xfrm xmlns:a="http://schemas.openxmlformats.org/drawingml/2006/main">
            <a:off x="2971800" y="2476500"/>
            <a:ext cx="352425" cy="0"/>
          </a:xfrm>
          <a:prstGeom xmlns:a="http://schemas.openxmlformats.org/drawingml/2006/main" prst="line">
            <a:avLst/>
          </a:prstGeom>
          <a:noFill xmlns:a="http://schemas.openxmlformats.org/drawingml/2006/main"/>
          <a:ln xmlns:a="http://schemas.openxmlformats.org/drawingml/2006/main" w="23813">
            <a:solidFill>
              <a:srgbClr val="E97132"/>
            </a:solidFill>
            <a:prstDash val="solid"/>
          </a:ln>
        </p:spPr>
      </p:sp>
      <p:sp>
        <p:nvSpPr>
          <p:cNvPr id="10" name="step-02-number">
            <a:extLst xmlns:a="http://schemas.openxmlformats.org/drawingml/2006/main">
              <a:ext uri="{FF2B5EF4-FFF2-40B4-BE49-F238E27FC236}">
                <a16:creationId xmlns:a16="http://schemas.microsoft.com/office/drawing/2014/main" id="{1B30F537-D864-4172-A496-8EFEE3804402}"/>
              </a:ext>
            </a:extLst>
          </p:cNvPr>
          <p:cNvSpPr>
            <a:spLocks xmlns:a="http://schemas.openxmlformats.org/drawingml/2006/main" noGrp="1"/>
          </p:cNvSpPr>
          <p:nvPr/>
        </p:nvSpPr>
        <p:spPr>
          <a:xfrm xmlns:a="http://schemas.openxmlformats.org/drawingml/2006/main">
            <a:off x="3476625" y="21431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56082"/>
                </a:solidFill>
                <a:latin typeface="Arial"/>
                <a:ea typeface="Arial"/>
                <a:cs typeface="Arial"/>
              </a:defRPr>
            </a:defPPr>
          </a:lstStyle>
          <a:p xmlns:a="http://schemas.openxmlformats.org/drawingml/2006/main">
            <a:pPr algn="l">
              <a:defRPr sz="2025" b="1" i="0">
                <a:solidFill>
                  <a:srgbClr val="156082"/>
                </a:solidFill>
                <a:latin typeface="Arial"/>
                <a:ea typeface="Arial"/>
                <a:cs typeface="Arial"/>
              </a:defRPr>
            </a:pPr>
            <a:r>
              <a:rPr sz="2025" b="1" i="0">
                <a:solidFill>
                  <a:srgbClr val="156082"/>
                </a:solidFill>
                <a:latin typeface="Arial"/>
                <a:ea typeface="Arial"/>
                <a:cs typeface="Arial"/>
              </a:rPr>
              <a:t>02</a:t>
            </a:r>
          </a:p>
        </p:txBody>
      </p:sp>
      <p:sp>
        <p:nvSpPr>
          <p:cNvPr id="11" name="step-02-title">
            <a:extLst xmlns:a="http://schemas.openxmlformats.org/drawingml/2006/main">
              <a:ext uri="{FF2B5EF4-FFF2-40B4-BE49-F238E27FC236}">
                <a16:creationId xmlns:a16="http://schemas.microsoft.com/office/drawing/2014/main" id="{CCEBE3D3-6CBA-4C37-9AFF-447D943057F0}"/>
              </a:ext>
            </a:extLst>
          </p:cNvPr>
          <p:cNvSpPr>
            <a:spLocks xmlns:a="http://schemas.openxmlformats.org/drawingml/2006/main" noGrp="1"/>
          </p:cNvSpPr>
          <p:nvPr/>
        </p:nvSpPr>
        <p:spPr>
          <a:xfrm xmlns:a="http://schemas.openxmlformats.org/drawingml/2006/main">
            <a:off x="3476625" y="25527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Monthly request</a:t>
            </a:r>
          </a:p>
        </p:txBody>
      </p:sp>
      <p:sp>
        <p:nvSpPr>
          <p:cNvPr id="12" name="step-02-description">
            <a:extLst xmlns:a="http://schemas.openxmlformats.org/drawingml/2006/main">
              <a:ext uri="{FF2B5EF4-FFF2-40B4-BE49-F238E27FC236}">
                <a16:creationId xmlns:a16="http://schemas.microsoft.com/office/drawing/2014/main" id="{B4B9C501-2C4B-44F2-BEC6-50CDB0F9F80B}"/>
              </a:ext>
            </a:extLst>
          </p:cNvPr>
          <p:cNvSpPr>
            <a:spLocks xmlns:a="http://schemas.openxmlformats.org/drawingml/2006/main" noGrp="1"/>
          </p:cNvSpPr>
          <p:nvPr/>
        </p:nvSpPr>
        <p:spPr>
          <a:xfrm xmlns:a="http://schemas.openxmlformats.org/drawingml/2006/main">
            <a:off x="3476625" y="2971800"/>
            <a:ext cx="2190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Build a point request for the NASA/POWER monthly API.</a:t>
            </a:r>
          </a:p>
        </p:txBody>
      </p:sp>
      <p:sp>
        <p:nvSpPr>
          <p:cNvPr id="13" name="method-connector-1">
            <a:extLst xmlns:a="http://schemas.openxmlformats.org/drawingml/2006/main">
              <a:ext uri="{FF2B5EF4-FFF2-40B4-BE49-F238E27FC236}">
                <a16:creationId xmlns:a16="http://schemas.microsoft.com/office/drawing/2014/main" id="{EED94EBF-173A-4C7B-950F-D0637D40AC81}"/>
              </a:ext>
            </a:extLst>
          </p:cNvPr>
          <p:cNvSpPr>
            <a:spLocks xmlns:a="http://schemas.openxmlformats.org/drawingml/2006/main" noGrp="1"/>
          </p:cNvSpPr>
          <p:nvPr/>
        </p:nvSpPr>
        <p:spPr>
          <a:xfrm xmlns:a="http://schemas.openxmlformats.org/drawingml/2006/main">
            <a:off x="5781675" y="2476500"/>
            <a:ext cx="352425" cy="0"/>
          </a:xfrm>
          <a:prstGeom xmlns:a="http://schemas.openxmlformats.org/drawingml/2006/main" prst="line">
            <a:avLst/>
          </a:prstGeom>
          <a:noFill xmlns:a="http://schemas.openxmlformats.org/drawingml/2006/main"/>
          <a:ln xmlns:a="http://schemas.openxmlformats.org/drawingml/2006/main" w="23813">
            <a:solidFill>
              <a:srgbClr val="E97132"/>
            </a:solidFill>
            <a:prstDash val="solid"/>
          </a:ln>
        </p:spPr>
      </p:sp>
      <p:sp>
        <p:nvSpPr>
          <p:cNvPr id="14" name="step-03-number">
            <a:extLst xmlns:a="http://schemas.openxmlformats.org/drawingml/2006/main">
              <a:ext uri="{FF2B5EF4-FFF2-40B4-BE49-F238E27FC236}">
                <a16:creationId xmlns:a16="http://schemas.microsoft.com/office/drawing/2014/main" id="{4325DE31-0DAD-4B7B-9D53-48DD4A70F217}"/>
              </a:ext>
            </a:extLst>
          </p:cNvPr>
          <p:cNvSpPr>
            <a:spLocks xmlns:a="http://schemas.openxmlformats.org/drawingml/2006/main" noGrp="1"/>
          </p:cNvSpPr>
          <p:nvPr/>
        </p:nvSpPr>
        <p:spPr>
          <a:xfrm xmlns:a="http://schemas.openxmlformats.org/drawingml/2006/main">
            <a:off x="6286500" y="21431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56082"/>
                </a:solidFill>
                <a:latin typeface="Arial"/>
                <a:ea typeface="Arial"/>
                <a:cs typeface="Arial"/>
              </a:defRPr>
            </a:defPPr>
          </a:lstStyle>
          <a:p xmlns:a="http://schemas.openxmlformats.org/drawingml/2006/main">
            <a:pPr algn="l">
              <a:defRPr sz="2025" b="1" i="0">
                <a:solidFill>
                  <a:srgbClr val="156082"/>
                </a:solidFill>
                <a:latin typeface="Arial"/>
                <a:ea typeface="Arial"/>
                <a:cs typeface="Arial"/>
              </a:defRPr>
            </a:pPr>
            <a:r>
              <a:rPr sz="2025" b="1" i="0">
                <a:solidFill>
                  <a:srgbClr val="156082"/>
                </a:solidFill>
                <a:latin typeface="Arial"/>
                <a:ea typeface="Arial"/>
                <a:cs typeface="Arial"/>
              </a:rPr>
              <a:t>03</a:t>
            </a:r>
          </a:p>
        </p:txBody>
      </p:sp>
      <p:sp>
        <p:nvSpPr>
          <p:cNvPr id="15" name="step-03-title">
            <a:extLst xmlns:a="http://schemas.openxmlformats.org/drawingml/2006/main">
              <a:ext uri="{FF2B5EF4-FFF2-40B4-BE49-F238E27FC236}">
                <a16:creationId xmlns:a16="http://schemas.microsoft.com/office/drawing/2014/main" id="{21CD6432-F052-4449-B826-54C9CFE25696}"/>
              </a:ext>
            </a:extLst>
          </p:cNvPr>
          <p:cNvSpPr>
            <a:spLocks xmlns:a="http://schemas.openxmlformats.org/drawingml/2006/main" noGrp="1"/>
          </p:cNvSpPr>
          <p:nvPr/>
        </p:nvSpPr>
        <p:spPr>
          <a:xfrm xmlns:a="http://schemas.openxmlformats.org/drawingml/2006/main">
            <a:off x="6286500" y="25527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Retrieve CSV</a:t>
            </a:r>
          </a:p>
        </p:txBody>
      </p:sp>
      <p:sp>
        <p:nvSpPr>
          <p:cNvPr id="16" name="step-03-description">
            <a:extLst xmlns:a="http://schemas.openxmlformats.org/drawingml/2006/main">
              <a:ext uri="{FF2B5EF4-FFF2-40B4-BE49-F238E27FC236}">
                <a16:creationId xmlns:a16="http://schemas.microsoft.com/office/drawing/2014/main" id="{31A62732-6364-49ED-8658-90582945267F}"/>
              </a:ext>
            </a:extLst>
          </p:cNvPr>
          <p:cNvSpPr>
            <a:spLocks xmlns:a="http://schemas.openxmlformats.org/drawingml/2006/main" noGrp="1"/>
          </p:cNvSpPr>
          <p:nvPr/>
        </p:nvSpPr>
        <p:spPr>
          <a:xfrm xmlns:a="http://schemas.openxmlformats.org/drawingml/2006/main">
            <a:off x="6286500" y="2971800"/>
            <a:ext cx="2190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Use Python URL tools and pause one second after successful requests.</a:t>
            </a:r>
          </a:p>
        </p:txBody>
      </p:sp>
      <p:sp>
        <p:nvSpPr>
          <p:cNvPr id="17" name="method-connector-2">
            <a:extLst xmlns:a="http://schemas.openxmlformats.org/drawingml/2006/main">
              <a:ext uri="{FF2B5EF4-FFF2-40B4-BE49-F238E27FC236}">
                <a16:creationId xmlns:a16="http://schemas.microsoft.com/office/drawing/2014/main" id="{0FF772A8-7F90-45BB-9BAC-48FA25D9F5B4}"/>
              </a:ext>
            </a:extLst>
          </p:cNvPr>
          <p:cNvSpPr>
            <a:spLocks xmlns:a="http://schemas.openxmlformats.org/drawingml/2006/main" noGrp="1"/>
          </p:cNvSpPr>
          <p:nvPr/>
        </p:nvSpPr>
        <p:spPr>
          <a:xfrm xmlns:a="http://schemas.openxmlformats.org/drawingml/2006/main">
            <a:off x="8591550" y="2476500"/>
            <a:ext cx="352425" cy="0"/>
          </a:xfrm>
          <a:prstGeom xmlns:a="http://schemas.openxmlformats.org/drawingml/2006/main" prst="line">
            <a:avLst/>
          </a:prstGeom>
          <a:noFill xmlns:a="http://schemas.openxmlformats.org/drawingml/2006/main"/>
          <a:ln xmlns:a="http://schemas.openxmlformats.org/drawingml/2006/main" w="23813">
            <a:solidFill>
              <a:srgbClr val="E97132"/>
            </a:solidFill>
            <a:prstDash val="solid"/>
          </a:ln>
        </p:spPr>
      </p:sp>
      <p:sp>
        <p:nvSpPr>
          <p:cNvPr id="18" name="step-04-number">
            <a:extLst xmlns:a="http://schemas.openxmlformats.org/drawingml/2006/main">
              <a:ext uri="{FF2B5EF4-FFF2-40B4-BE49-F238E27FC236}">
                <a16:creationId xmlns:a16="http://schemas.microsoft.com/office/drawing/2014/main" id="{2F5921A4-5320-4EA2-87A4-D8691B3B5065}"/>
              </a:ext>
            </a:extLst>
          </p:cNvPr>
          <p:cNvSpPr>
            <a:spLocks xmlns:a="http://schemas.openxmlformats.org/drawingml/2006/main" noGrp="1"/>
          </p:cNvSpPr>
          <p:nvPr/>
        </p:nvSpPr>
        <p:spPr>
          <a:xfrm xmlns:a="http://schemas.openxmlformats.org/drawingml/2006/main">
            <a:off x="9096375" y="21431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96B24"/>
                </a:solidFill>
                <a:latin typeface="Arial"/>
                <a:ea typeface="Arial"/>
                <a:cs typeface="Arial"/>
              </a:defRPr>
            </a:defPPr>
          </a:lstStyle>
          <a:p xmlns:a="http://schemas.openxmlformats.org/drawingml/2006/main">
            <a:pPr algn="l">
              <a:defRPr sz="2025" b="1" i="0">
                <a:solidFill>
                  <a:srgbClr val="196B24"/>
                </a:solidFill>
                <a:latin typeface="Arial"/>
                <a:ea typeface="Arial"/>
                <a:cs typeface="Arial"/>
              </a:defRPr>
            </a:pPr>
            <a:r>
              <a:rPr sz="2025" b="1" i="0">
                <a:solidFill>
                  <a:srgbClr val="196B24"/>
                </a:solidFill>
                <a:latin typeface="Arial"/>
                <a:ea typeface="Arial"/>
                <a:cs typeface="Arial"/>
              </a:rPr>
              <a:t>04</a:t>
            </a:r>
          </a:p>
        </p:txBody>
      </p:sp>
      <p:sp>
        <p:nvSpPr>
          <p:cNvPr id="19" name="step-04-title">
            <a:extLst xmlns:a="http://schemas.openxmlformats.org/drawingml/2006/main">
              <a:ext uri="{FF2B5EF4-FFF2-40B4-BE49-F238E27FC236}">
                <a16:creationId xmlns:a16="http://schemas.microsoft.com/office/drawing/2014/main" id="{BB7D1DF7-33B1-447E-BF79-B2AB8B80DBE4}"/>
              </a:ext>
            </a:extLst>
          </p:cNvPr>
          <p:cNvSpPr>
            <a:spLocks xmlns:a="http://schemas.openxmlformats.org/drawingml/2006/main" noGrp="1"/>
          </p:cNvSpPr>
          <p:nvPr/>
        </p:nvSpPr>
        <p:spPr>
          <a:xfrm xmlns:a="http://schemas.openxmlformats.org/drawingml/2006/main">
            <a:off x="9096375" y="25527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Save by city</a:t>
            </a:r>
          </a:p>
        </p:txBody>
      </p:sp>
      <p:sp>
        <p:nvSpPr>
          <p:cNvPr id="20" name="step-04-description">
            <a:extLst xmlns:a="http://schemas.openxmlformats.org/drawingml/2006/main">
              <a:ext uri="{FF2B5EF4-FFF2-40B4-BE49-F238E27FC236}">
                <a16:creationId xmlns:a16="http://schemas.microsoft.com/office/drawing/2014/main" id="{D9B3E3AF-CD9B-42FD-8DF7-B3CCB4E7655C}"/>
              </a:ext>
            </a:extLst>
          </p:cNvPr>
          <p:cNvSpPr>
            <a:spLocks xmlns:a="http://schemas.openxmlformats.org/drawingml/2006/main" noGrp="1"/>
          </p:cNvSpPr>
          <p:nvPr/>
        </p:nvSpPr>
        <p:spPr>
          <a:xfrm xmlns:a="http://schemas.openxmlformats.org/drawingml/2006/main">
            <a:off x="9096375" y="2971800"/>
            <a:ext cx="23812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Write the CSV response into a city folder with point and coordinate details.</a:t>
            </a:r>
          </a:p>
        </p:txBody>
      </p:sp>
      <p:sp>
        <p:nvSpPr>
          <p:cNvPr id="21" name="api-band">
            <a:extLst xmlns:a="http://schemas.openxmlformats.org/drawingml/2006/main">
              <a:ext uri="{FF2B5EF4-FFF2-40B4-BE49-F238E27FC236}">
                <a16:creationId xmlns:a16="http://schemas.microsoft.com/office/drawing/2014/main" id="{00AA7D8B-3739-4DF5-8AD4-5E0100CC624D}"/>
              </a:ext>
            </a:extLst>
          </p:cNvPr>
          <p:cNvSpPr>
            <a:spLocks xmlns:a="http://schemas.openxmlformats.org/drawingml/2006/main" noGrp="1"/>
          </p:cNvSpPr>
          <p:nvPr/>
        </p:nvSpPr>
        <p:spPr>
          <a:xfrm xmlns:a="http://schemas.openxmlformats.org/drawingml/2006/main">
            <a:off x="666750" y="4514850"/>
            <a:ext cx="10839450" cy="1066800"/>
          </a:xfrm>
          <a:prstGeom xmlns:a="http://schemas.openxmlformats.org/drawingml/2006/main" prst="rect">
            <a:avLst/>
          </a:prstGeom>
          <a:solidFill xmlns:a="http://schemas.openxmlformats.org/drawingml/2006/main">
            <a:srgbClr val="EAF2F5"/>
          </a:solidFill>
          <a:ln xmlns:a="http://schemas.openxmlformats.org/drawingml/2006/main" w="0">
            <a:noFill/>
            <a:prstDash val="solid"/>
          </a:ln>
        </p:spPr>
      </p:sp>
      <p:sp>
        <p:nvSpPr>
          <p:cNvPr id="22" name="label-nasa-power-monthly-point-api">
            <a:extLst xmlns:a="http://schemas.openxmlformats.org/drawingml/2006/main">
              <a:ext uri="{FF2B5EF4-FFF2-40B4-BE49-F238E27FC236}">
                <a16:creationId xmlns:a16="http://schemas.microsoft.com/office/drawing/2014/main" id="{AE271BC6-587A-40F5-842C-5440CE333B30}"/>
              </a:ext>
            </a:extLst>
          </p:cNvPr>
          <p:cNvSpPr>
            <a:spLocks xmlns:a="http://schemas.openxmlformats.org/drawingml/2006/main" noGrp="1"/>
          </p:cNvSpPr>
          <p:nvPr/>
        </p:nvSpPr>
        <p:spPr>
          <a:xfrm xmlns:a="http://schemas.openxmlformats.org/drawingml/2006/main">
            <a:off x="876300" y="46672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156082"/>
                </a:solidFill>
                <a:latin typeface="Arial"/>
                <a:ea typeface="Arial"/>
                <a:cs typeface="Arial"/>
              </a:defRPr>
            </a:defPPr>
          </a:lstStyle>
          <a:p xmlns:a="http://schemas.openxmlformats.org/drawingml/2006/main">
            <a:pPr algn="l">
              <a:defRPr sz="1125" b="1" i="0">
                <a:solidFill>
                  <a:srgbClr val="156082"/>
                </a:solidFill>
                <a:latin typeface="Arial"/>
                <a:ea typeface="Arial"/>
                <a:cs typeface="Arial"/>
              </a:defRPr>
            </a:pPr>
            <a:r>
              <a:rPr sz="1125" b="1" i="0">
                <a:solidFill>
                  <a:srgbClr val="156082"/>
                </a:solidFill>
                <a:latin typeface="Arial"/>
                <a:ea typeface="Arial"/>
                <a:cs typeface="Arial"/>
              </a:rPr>
              <a:t>NASA POWER MONTHLY POINT API</a:t>
            </a:r>
          </a:p>
        </p:txBody>
      </p:sp>
      <p:sp>
        <p:nvSpPr>
          <p:cNvPr id="23" name="api-url">
            <a:extLst xmlns:a="http://schemas.openxmlformats.org/drawingml/2006/main">
              <a:ext uri="{FF2B5EF4-FFF2-40B4-BE49-F238E27FC236}">
                <a16:creationId xmlns:a16="http://schemas.microsoft.com/office/drawing/2014/main" id="{1AC8F041-5D55-4CE3-97E8-B9208871D9D4}"/>
              </a:ext>
            </a:extLst>
          </p:cNvPr>
          <p:cNvSpPr>
            <a:spLocks xmlns:a="http://schemas.openxmlformats.org/drawingml/2006/main" noGrp="1"/>
          </p:cNvSpPr>
          <p:nvPr/>
        </p:nvSpPr>
        <p:spPr>
          <a:xfrm xmlns:a="http://schemas.openxmlformats.org/drawingml/2006/main">
            <a:off x="876300" y="49625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i="0">
                <a:solidFill>
                  <a:srgbClr val="0E2841"/>
                </a:solidFill>
                <a:latin typeface="Arial"/>
                <a:ea typeface="Arial"/>
                <a:cs typeface="Arial"/>
              </a:defRPr>
            </a:defPPr>
          </a:lstStyle>
          <a:p xmlns:a="http://schemas.openxmlformats.org/drawingml/2006/main">
            <a:pPr algn="l">
              <a:defRPr sz="1800" b="1" i="0">
                <a:solidFill>
                  <a:srgbClr val="0E2841"/>
                </a:solidFill>
                <a:latin typeface="Arial"/>
                <a:ea typeface="Arial"/>
                <a:cs typeface="Arial"/>
              </a:defRPr>
            </a:pPr>
            <a:r>
              <a:rPr sz="1800" b="1" i="0">
                <a:solidFill>
                  <a:srgbClr val="0E2841"/>
                </a:solidFill>
                <a:latin typeface="Arial"/>
                <a:ea typeface="Arial"/>
                <a:cs typeface="Arial"/>
              </a:rPr>
              <a:t>power.larc.nasa.gov/api/temporal/monthly/point</a:t>
            </a:r>
          </a:p>
        </p:txBody>
      </p:sp>
      <p:sp>
        <p:nvSpPr>
          <p:cNvPr id="24" name="api-settings">
            <a:extLst xmlns:a="http://schemas.openxmlformats.org/drawingml/2006/main">
              <a:ext uri="{FF2B5EF4-FFF2-40B4-BE49-F238E27FC236}">
                <a16:creationId xmlns:a16="http://schemas.microsoft.com/office/drawing/2014/main" id="{112C0B80-6540-4642-B38A-1CC651384B29}"/>
              </a:ext>
            </a:extLst>
          </p:cNvPr>
          <p:cNvSpPr>
            <a:spLocks xmlns:a="http://schemas.openxmlformats.org/drawingml/2006/main" noGrp="1"/>
          </p:cNvSpPr>
          <p:nvPr/>
        </p:nvSpPr>
        <p:spPr>
          <a:xfrm xmlns:a="http://schemas.openxmlformats.org/drawingml/2006/main">
            <a:off x="876300" y="5286375"/>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Community RE  /  CSV  /  2000 to 2025</a:t>
            </a:r>
          </a:p>
        </p:txBody>
      </p:sp>
      <p:sp>
        <p:nvSpPr>
          <p:cNvPr id="25" name="path-example">
            <a:extLst xmlns:a="http://schemas.openxmlformats.org/drawingml/2006/main">
              <a:ext uri="{FF2B5EF4-FFF2-40B4-BE49-F238E27FC236}">
                <a16:creationId xmlns:a16="http://schemas.microsoft.com/office/drawing/2014/main" id="{40BFE88E-A6CD-4AD8-AE41-CF675BAA1D69}"/>
              </a:ext>
            </a:extLst>
          </p:cNvPr>
          <p:cNvSpPr>
            <a:spLocks xmlns:a="http://schemas.openxmlformats.org/drawingml/2006/main" noGrp="1"/>
          </p:cNvSpPr>
          <p:nvPr/>
        </p:nvSpPr>
        <p:spPr>
          <a:xfrm xmlns:a="http://schemas.openxmlformats.org/drawingml/2006/main">
            <a:off x="666750" y="58483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i="0">
                <a:solidFill>
                  <a:srgbClr val="172B3A"/>
                </a:solidFill>
                <a:latin typeface="Arial"/>
                <a:ea typeface="Arial"/>
                <a:cs typeface="Arial"/>
              </a:defRPr>
            </a:defPPr>
          </a:lstStyle>
          <a:p xmlns:a="http://schemas.openxmlformats.org/drawingml/2006/main">
            <a:pPr algn="l">
              <a:defRPr sz="1425" b="0" i="0">
                <a:solidFill>
                  <a:srgbClr val="172B3A"/>
                </a:solidFill>
                <a:latin typeface="Arial"/>
                <a:ea typeface="Arial"/>
                <a:cs typeface="Arial"/>
              </a:defRPr>
            </a:pPr>
            <a:r>
              <a:rPr sz="1425" b="0" i="0">
                <a:solidFill>
                  <a:srgbClr val="172B3A"/>
                </a:solidFill>
                <a:latin typeface="Arial"/>
                <a:ea typeface="Arial"/>
                <a:cs typeface="Arial"/>
              </a:rPr>
              <a:t>Example output: NASA_POWER_RAW/Mumbai/Mumbai_point_1_19.2449_72.8032_monthly_2000_2025.csv</a:t>
            </a:r>
          </a:p>
        </p:txBody>
      </p:sp>
    </p:spTree>
    <p:extLst>
      <p:ext uri="{BB962C8B-B14F-4D97-AF65-F5344CB8AC3E}">
        <p14:creationId xmlns:p14="http://schemas.microsoft.com/office/powerpoint/2010/main" val="1698586107"/>
      </p:ext>
    </p:extLst>
  </p:cSld>
</p:sld>
</file>

<file path=ppt/slides/slide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798AFAD0-2D66-4D25-8FF0-D54BF8E18CB3}"/>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A · COLLECTION</a:t>
            </a:r>
          </a:p>
        </p:txBody>
      </p:sp>
      <p:sp>
        <p:nvSpPr>
          <p:cNvPr id="2" name="slide-number">
            <a:extLst xmlns:a="http://schemas.openxmlformats.org/drawingml/2006/main">
              <a:ext uri="{FF2B5EF4-FFF2-40B4-BE49-F238E27FC236}">
                <a16:creationId xmlns:a16="http://schemas.microsoft.com/office/drawing/2014/main" id="{1945B41D-1330-4014-9DE7-9AA0DB349785}"/>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05</a:t>
            </a:r>
          </a:p>
        </p:txBody>
      </p:sp>
      <p:sp>
        <p:nvSpPr>
          <p:cNvPr id="3" name="slide-title">
            <a:extLst xmlns:a="http://schemas.openxmlformats.org/drawingml/2006/main">
              <a:ext uri="{FF2B5EF4-FFF2-40B4-BE49-F238E27FC236}">
                <a16:creationId xmlns:a16="http://schemas.microsoft.com/office/drawing/2014/main" id="{44DFDE57-C130-4F51-96C8-4905D54A824F}"/>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Scraped Files and the Handoff to Preprocessing</a:t>
            </a:r>
          </a:p>
        </p:txBody>
      </p:sp>
      <p:sp>
        <p:nvSpPr>
          <p:cNvPr id="4" name="header-rule">
            <a:extLst xmlns:a="http://schemas.openxmlformats.org/drawingml/2006/main">
              <a:ext uri="{FF2B5EF4-FFF2-40B4-BE49-F238E27FC236}">
                <a16:creationId xmlns:a16="http://schemas.microsoft.com/office/drawing/2014/main" id="{ED794C6E-26B3-402B-9BE0-D2D0746FACFE}"/>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FC64874D-7B3A-4D9E-A4A5-3089E56F0BAE}"/>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source file structure establishes the unit and temporal resolution before any cleanup begins.</a:t>
            </a:r>
          </a:p>
        </p:txBody>
      </p:sp>
      <p:sp>
        <p:nvSpPr>
          <p:cNvPr id="6" name="label-example-source-file">
            <a:extLst xmlns:a="http://schemas.openxmlformats.org/drawingml/2006/main">
              <a:ext uri="{FF2B5EF4-FFF2-40B4-BE49-F238E27FC236}">
                <a16:creationId xmlns:a16="http://schemas.microsoft.com/office/drawing/2014/main" id="{550E6028-7FC4-4C9D-ABD2-D9CC79E6A691}"/>
              </a:ext>
            </a:extLst>
          </p:cNvPr>
          <p:cNvSpPr>
            <a:spLocks xmlns:a="http://schemas.openxmlformats.org/drawingml/2006/main" noGrp="1"/>
          </p:cNvSpPr>
          <p:nvPr/>
        </p:nvSpPr>
        <p:spPr>
          <a:xfrm xmlns:a="http://schemas.openxmlformats.org/drawingml/2006/main">
            <a:off x="685800" y="17907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156082"/>
                </a:solidFill>
                <a:latin typeface="Arial"/>
                <a:ea typeface="Arial"/>
                <a:cs typeface="Arial"/>
              </a:defRPr>
            </a:defPPr>
          </a:lstStyle>
          <a:p xmlns:a="http://schemas.openxmlformats.org/drawingml/2006/main">
            <a:pPr algn="l">
              <a:defRPr sz="1125" b="1" i="0">
                <a:solidFill>
                  <a:srgbClr val="156082"/>
                </a:solidFill>
                <a:latin typeface="Arial"/>
                <a:ea typeface="Arial"/>
                <a:cs typeface="Arial"/>
              </a:defRPr>
            </a:pPr>
            <a:r>
              <a:rPr sz="1125" b="1" i="0">
                <a:solidFill>
                  <a:srgbClr val="156082"/>
                </a:solidFill>
                <a:latin typeface="Arial"/>
                <a:ea typeface="Arial"/>
                <a:cs typeface="Arial"/>
              </a:rPr>
              <a:t>EXAMPLE SOURCE FILE</a:t>
            </a:r>
          </a:p>
        </p:txBody>
      </p:sp>
      <p:sp>
        <p:nvSpPr>
          <p:cNvPr id="7" name="raw-path">
            <a:extLst xmlns:a="http://schemas.openxmlformats.org/drawingml/2006/main">
              <a:ext uri="{FF2B5EF4-FFF2-40B4-BE49-F238E27FC236}">
                <a16:creationId xmlns:a16="http://schemas.microsoft.com/office/drawing/2014/main" id="{A9CE71B2-1653-4961-852E-E811301E14E5}"/>
              </a:ext>
            </a:extLst>
          </p:cNvPr>
          <p:cNvSpPr>
            <a:spLocks xmlns:a="http://schemas.openxmlformats.org/drawingml/2006/main" noGrp="1"/>
          </p:cNvSpPr>
          <p:nvPr/>
        </p:nvSpPr>
        <p:spPr>
          <a:xfrm xmlns:a="http://schemas.openxmlformats.org/drawingml/2006/main">
            <a:off x="685800" y="2114550"/>
            <a:ext cx="6191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NASA_POWER_RAW/Mumbai/</a:t>
            </a:r>
          </a:p>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Mumbai_point_1_19.2449_72.8032_monthly_2000_2025.csv</a:t>
            </a:r>
          </a:p>
        </p:txBody>
      </p:sp>
      <p:sp>
        <p:nvSpPr>
          <p:cNvPr id="8" name="raw-example-divider">
            <a:extLst xmlns:a="http://schemas.openxmlformats.org/drawingml/2006/main">
              <a:ext uri="{FF2B5EF4-FFF2-40B4-BE49-F238E27FC236}">
                <a16:creationId xmlns:a16="http://schemas.microsoft.com/office/drawing/2014/main" id="{7671C1FC-2E2C-4830-8215-965D8AC4608B}"/>
              </a:ext>
            </a:extLst>
          </p:cNvPr>
          <p:cNvSpPr>
            <a:spLocks xmlns:a="http://schemas.openxmlformats.org/drawingml/2006/main" noGrp="1"/>
          </p:cNvSpPr>
          <p:nvPr/>
        </p:nvSpPr>
        <p:spPr>
          <a:xfrm xmlns:a="http://schemas.openxmlformats.org/drawingml/2006/main">
            <a:off x="685800" y="3219450"/>
            <a:ext cx="107442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9" name="raw-columns">
            <a:extLst xmlns:a="http://schemas.openxmlformats.org/drawingml/2006/main">
              <a:ext uri="{FF2B5EF4-FFF2-40B4-BE49-F238E27FC236}">
                <a16:creationId xmlns:a16="http://schemas.microsoft.com/office/drawing/2014/main" id="{76FA514A-0801-42B9-B1C7-AA834395016D}"/>
              </a:ext>
            </a:extLst>
          </p:cNvPr>
          <p:cNvSpPr>
            <a:spLocks xmlns:a="http://schemas.openxmlformats.org/drawingml/2006/main" noGrp="1"/>
          </p:cNvSpPr>
          <p:nvPr/>
        </p:nvSpPr>
        <p:spPr>
          <a:xfrm xmlns:a="http://schemas.openxmlformats.org/drawingml/2006/main">
            <a:off x="685800" y="3505200"/>
            <a:ext cx="1057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i="0">
                <a:solidFill>
                  <a:srgbClr val="156082"/>
                </a:solidFill>
                <a:latin typeface="Arial"/>
                <a:ea typeface="Arial"/>
                <a:cs typeface="Arial"/>
              </a:defRPr>
            </a:defPPr>
          </a:lstStyle>
          <a:p xmlns:a="http://schemas.openxmlformats.org/drawingml/2006/main">
            <a:pPr algn="l">
              <a:defRPr sz="1800" b="1" i="0">
                <a:solidFill>
                  <a:srgbClr val="156082"/>
                </a:solidFill>
                <a:latin typeface="Arial"/>
                <a:ea typeface="Arial"/>
                <a:cs typeface="Arial"/>
              </a:defRPr>
            </a:pPr>
            <a:r>
              <a:rPr sz="1800" b="1" i="0">
                <a:solidFill>
                  <a:srgbClr val="156082"/>
                </a:solidFill>
                <a:latin typeface="Arial"/>
                <a:ea typeface="Arial"/>
                <a:cs typeface="Arial"/>
              </a:rPr>
              <a:t>PARAMETER     YEAR     JAN  FEB  MAR  ...  DEC     ANN</a:t>
            </a:r>
          </a:p>
        </p:txBody>
      </p:sp>
      <p:sp>
        <p:nvSpPr>
          <p:cNvPr id="10" name="raw-grain">
            <a:extLst xmlns:a="http://schemas.openxmlformats.org/drawingml/2006/main">
              <a:ext uri="{FF2B5EF4-FFF2-40B4-BE49-F238E27FC236}">
                <a16:creationId xmlns:a16="http://schemas.microsoft.com/office/drawing/2014/main" id="{5D726E30-53B0-4C3A-B139-DE234F519B28}"/>
              </a:ext>
            </a:extLst>
          </p:cNvPr>
          <p:cNvSpPr>
            <a:spLocks xmlns:a="http://schemas.openxmlformats.org/drawingml/2006/main" noGrp="1"/>
          </p:cNvSpPr>
          <p:nvPr/>
        </p:nvSpPr>
        <p:spPr>
          <a:xfrm xmlns:a="http://schemas.openxmlformats.org/drawingml/2006/main">
            <a:off x="685800" y="4105275"/>
            <a:ext cx="1038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172B3A"/>
                </a:solidFill>
                <a:latin typeface="Arial"/>
                <a:ea typeface="Arial"/>
                <a:cs typeface="Arial"/>
              </a:defRPr>
            </a:defPPr>
          </a:lstStyle>
          <a:p xmlns:a="http://schemas.openxmlformats.org/drawingml/2006/main">
            <a:pPr algn="l">
              <a:defRPr sz="1575" b="0" i="0">
                <a:solidFill>
                  <a:srgbClr val="172B3A"/>
                </a:solidFill>
                <a:latin typeface="Arial"/>
                <a:ea typeface="Arial"/>
                <a:cs typeface="Arial"/>
              </a:defRPr>
            </a:pPr>
            <a:r>
              <a:rPr sz="1575" b="0" i="0">
                <a:solidFill>
                  <a:srgbClr val="172B3A"/>
                </a:solidFill>
                <a:latin typeface="Arial"/>
                <a:ea typeface="Arial"/>
                <a:cs typeface="Arial"/>
              </a:rPr>
              <a:t>Rows are climate parameters by year. JAN to DEC are monthly summaries. ANN is a separate annual summary.</a:t>
            </a:r>
          </a:p>
        </p:txBody>
      </p:sp>
      <p:sp>
        <p:nvSpPr>
          <p:cNvPr id="11" name="handoff-line">
            <a:extLst xmlns:a="http://schemas.openxmlformats.org/drawingml/2006/main">
              <a:ext uri="{FF2B5EF4-FFF2-40B4-BE49-F238E27FC236}">
                <a16:creationId xmlns:a16="http://schemas.microsoft.com/office/drawing/2014/main" id="{82ACE459-8EF9-4FBA-A406-2655B3499114}"/>
              </a:ext>
            </a:extLst>
          </p:cNvPr>
          <p:cNvSpPr>
            <a:spLocks xmlns:a="http://schemas.openxmlformats.org/drawingml/2006/main" noGrp="1"/>
          </p:cNvSpPr>
          <p:nvPr/>
        </p:nvSpPr>
        <p:spPr>
          <a:xfrm xmlns:a="http://schemas.openxmlformats.org/drawingml/2006/main">
            <a:off x="685800" y="4943475"/>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i="0">
                <a:solidFill>
                  <a:srgbClr val="0E2841"/>
                </a:solidFill>
                <a:latin typeface="Arial"/>
                <a:ea typeface="Arial"/>
                <a:cs typeface="Arial"/>
              </a:defRPr>
            </a:defPPr>
          </a:lstStyle>
          <a:p xmlns:a="http://schemas.openxmlformats.org/drawingml/2006/main">
            <a:pPr algn="l">
              <a:defRPr sz="1875" b="1" i="0">
                <a:solidFill>
                  <a:srgbClr val="0E2841"/>
                </a:solidFill>
                <a:latin typeface="Arial"/>
                <a:ea typeface="Arial"/>
                <a:cs typeface="Arial"/>
              </a:defRPr>
            </a:pPr>
            <a:r>
              <a:rPr sz="1875" b="1" i="0">
                <a:solidFill>
                  <a:srgbClr val="0E2841"/>
                </a:solidFill>
                <a:latin typeface="Arial"/>
                <a:ea typeface="Arial"/>
                <a:cs typeface="Arial"/>
              </a:rPr>
              <a:t>Preprocessing profiles the files, cleans source values, reshapes the records, aggregates points by city and month, then validates the output.</a:t>
            </a:r>
          </a:p>
        </p:txBody>
      </p:sp>
      <p:sp>
        <p:nvSpPr>
          <p:cNvPr id="12" name="handoff-status">
            <a:extLst xmlns:a="http://schemas.openxmlformats.org/drawingml/2006/main">
              <a:ext uri="{FF2B5EF4-FFF2-40B4-BE49-F238E27FC236}">
                <a16:creationId xmlns:a16="http://schemas.microsoft.com/office/drawing/2014/main" id="{4F274ABF-6408-4AA6-8583-9BD41CB34EDE}"/>
              </a:ext>
            </a:extLst>
          </p:cNvPr>
          <p:cNvSpPr>
            <a:spLocks xmlns:a="http://schemas.openxmlformats.org/drawingml/2006/main" noGrp="1"/>
          </p:cNvSpPr>
          <p:nvPr/>
        </p:nvSpPr>
        <p:spPr>
          <a:xfrm xmlns:a="http://schemas.openxmlformats.org/drawingml/2006/main">
            <a:off x="685800" y="585787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E97132"/>
                </a:solidFill>
                <a:latin typeface="Arial"/>
                <a:ea typeface="Arial"/>
                <a:cs typeface="Arial"/>
              </a:defRPr>
            </a:defPPr>
          </a:lstStyle>
          <a:p xmlns:a="http://schemas.openxmlformats.org/drawingml/2006/main">
            <a:pPr algn="l">
              <a:defRPr sz="1425" b="1" i="0">
                <a:solidFill>
                  <a:srgbClr val="E97132"/>
                </a:solidFill>
                <a:latin typeface="Arial"/>
                <a:ea typeface="Arial"/>
                <a:cs typeface="Arial"/>
              </a:defRPr>
            </a:pPr>
            <a:r>
              <a:rPr sz="1425" b="1" i="0">
                <a:solidFill>
                  <a:srgbClr val="E97132"/>
                </a:solidFill>
                <a:latin typeface="Arial"/>
                <a:ea typeface="Arial"/>
                <a:cs typeface="Arial"/>
              </a:rPr>
              <a:t>The source presentation does not confirm a complete 261-file download. The current local preprocessing set contains 89 files across 8 cities.</a:t>
            </a:r>
          </a:p>
        </p:txBody>
      </p:sp>
    </p:spTree>
    <p:extLst>
      <p:ext uri="{BB962C8B-B14F-4D97-AF65-F5344CB8AC3E}">
        <p14:creationId xmlns:p14="http://schemas.microsoft.com/office/powerpoint/2010/main" val="1135960031"/>
      </p:ext>
    </p:extLst>
  </p:cSld>
</p:sld>
</file>

<file path=ppt/slides/slide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6F382B05-AFE4-47BA-B100-48B8C334795C}"/>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PREPROCESSING</a:t>
            </a:r>
          </a:p>
        </p:txBody>
      </p:sp>
      <p:sp>
        <p:nvSpPr>
          <p:cNvPr id="2" name="slide-number">
            <a:extLst xmlns:a="http://schemas.openxmlformats.org/drawingml/2006/main">
              <a:ext uri="{FF2B5EF4-FFF2-40B4-BE49-F238E27FC236}">
                <a16:creationId xmlns:a16="http://schemas.microsoft.com/office/drawing/2014/main" id="{F76513D0-ED2E-450E-AC2C-F5B83E7FFEA2}"/>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06</a:t>
            </a:r>
          </a:p>
        </p:txBody>
      </p:sp>
      <p:sp>
        <p:nvSpPr>
          <p:cNvPr id="3" name="slide-title">
            <a:extLst xmlns:a="http://schemas.openxmlformats.org/drawingml/2006/main">
              <a:ext uri="{FF2B5EF4-FFF2-40B4-BE49-F238E27FC236}">
                <a16:creationId xmlns:a16="http://schemas.microsoft.com/office/drawing/2014/main" id="{80FFBD6F-AAB3-4779-9F8C-AC7A47991A2A}"/>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Current Processing Scope: Eight Cities, Three Batches</a:t>
            </a:r>
          </a:p>
        </p:txBody>
      </p:sp>
      <p:sp>
        <p:nvSpPr>
          <p:cNvPr id="4" name="header-rule">
            <a:extLst xmlns:a="http://schemas.openxmlformats.org/drawingml/2006/main">
              <a:ext uri="{FF2B5EF4-FFF2-40B4-BE49-F238E27FC236}">
                <a16:creationId xmlns:a16="http://schemas.microsoft.com/office/drawing/2014/main" id="{858456B6-C611-4DB8-83A3-535884659154}"/>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9BFA1657-C79F-439C-999F-705E4E893075}"/>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current pipeline processes the eight cities below. The repository does not record their three-batch allocation.</a:t>
            </a:r>
          </a:p>
        </p:txBody>
      </p:sp>
      <p:sp>
        <p:nvSpPr>
          <p:cNvPr id="6" name="eight-city-list">
            <a:extLst xmlns:a="http://schemas.openxmlformats.org/drawingml/2006/main">
              <a:ext uri="{FF2B5EF4-FFF2-40B4-BE49-F238E27FC236}">
                <a16:creationId xmlns:a16="http://schemas.microsoft.com/office/drawing/2014/main" id="{62F9FAF6-3A54-4868-ADE9-21D2B71DFE59}"/>
              </a:ext>
            </a:extLst>
          </p:cNvPr>
          <p:cNvSpPr>
            <a:spLocks xmlns:a="http://schemas.openxmlformats.org/drawingml/2006/main" noGrp="1"/>
          </p:cNvSpPr>
          <p:nvPr/>
        </p:nvSpPr>
        <p:spPr>
          <a:xfrm xmlns:a="http://schemas.openxmlformats.org/drawingml/2006/main">
            <a:off x="685800" y="17526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Ahmedabad, Bengaluru, Bhopal, Bhubaneswar</a:t>
            </a:r>
          </a:p>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Chandigarh, Chennai, Coimbatore, Delhi</a:t>
            </a:r>
          </a:p>
        </p:txBody>
      </p:sp>
      <p:sp>
        <p:nvSpPr>
          <p:cNvPr id="7" name="batch-purpose">
            <a:extLst xmlns:a="http://schemas.openxmlformats.org/drawingml/2006/main">
              <a:ext uri="{FF2B5EF4-FFF2-40B4-BE49-F238E27FC236}">
                <a16:creationId xmlns:a16="http://schemas.microsoft.com/office/drawing/2014/main" id="{A620686F-9C5F-4934-A130-ADFB298255FF}"/>
              </a:ext>
            </a:extLst>
          </p:cNvPr>
          <p:cNvSpPr>
            <a:spLocks xmlns:a="http://schemas.openxmlformats.org/drawingml/2006/main" noGrp="1"/>
          </p:cNvSpPr>
          <p:nvPr/>
        </p:nvSpPr>
        <p:spPr>
          <a:xfrm xmlns:a="http://schemas.openxmlformats.org/drawingml/2006/main">
            <a:off x="685800" y="2419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Batching is intended to test the pipeline, review issues, and refine the workflow before applying it to later cities.</a:t>
            </a:r>
          </a:p>
        </p:txBody>
      </p:sp>
      <p:graphicFrame>
        <p:nvGraphicFramePr>
          <p:cNvPr id="8" name="">
            <a:extLst xmlns:a="http://schemas.openxmlformats.org/drawingml/2006/main">
              <a:ext uri="{FF2B5EF4-FFF2-40B4-BE49-F238E27FC236}">
                <a16:creationId xmlns:a16="http://schemas.microsoft.com/office/drawing/2014/main" id="{6C66CBA6-2BF3-4A16-B991-22FD0EB10F20}"/>
              </a:ext>
            </a:extLst>
          </p:cNvPr>
          <p:cNvGraphicFramePr/>
          <p:nvPr/>
        </p:nvGraphicFramePr>
        <p:xfrm>
          <a:off xmlns:a="http://schemas.openxmlformats.org/drawingml/2006/main" x="685800" y="3257550"/>
          <a:ext xmlns:a="http://schemas.openxmlformats.org/drawingml/2006/main" cx="10572750" cy="2324100"/>
        </p:xfrm>
        <a:graphic xmlns:a="http://schemas.openxmlformats.org/drawingml/2006/main">
          <a:graphicData uri="http://schemas.openxmlformats.org/drawingml/2006/table">
            <a:tbl>
              <a:tblPr/>
              <a:tblGrid>
                <a:gridCol w="1428750"/>
                <a:gridCol w="4191000"/>
                <a:gridCol w="4953000"/>
              </a:tblGrid>
              <a:tr h="476250">
                <a:tc>
                  <a:txBody>
                    <a:bodyPr wrap="square" lIns="47625" tIns="47625" rIns="47625" bIns="47625">
                      <a:normAutofit/>
                    </a:bodyPr>
                    <a:lstStyle/>
                    <a:p>
                      <a:pPr algn="l"/>
                      <a:r>
                        <a:rPr sz="1575" b="1">
                          <a:solidFill>
                            <a:srgbClr val="FFFFFF"/>
                          </a:solidFill>
                          <a:latin typeface="Arial"/>
                          <a:ea typeface="Arial"/>
                          <a:cs typeface="Arial"/>
                        </a:rPr>
                        <a:t>Batch</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City assignment in project files</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Processing evidence</a:t>
                      </a:r>
                    </a:p>
                  </a:txBody>
                  <a:tcPr marL="91440" marR="91440" marT="45720" marB="45720" anchor="ctr">
                    <a:solidFill>
                      <a:srgbClr val="0E2841"/>
                    </a:solidFill>
                  </a:tcPr>
                </a:tc>
              </a:tr>
              <a:tr h="609600">
                <a:tc>
                  <a:txBody>
                    <a:bodyPr wrap="square" lIns="47625" tIns="47625" rIns="47625" bIns="47625">
                      <a:normAutofit/>
                    </a:bodyPr>
                    <a:lstStyle/>
                    <a:p>
                      <a:pPr algn="l"/>
                      <a:r>
                        <a:rPr sz="1575">
                          <a:solidFill>
                            <a:srgbClr val="172B3A"/>
                          </a:solidFill>
                          <a:latin typeface="Arial"/>
                          <a:ea typeface="Arial"/>
                          <a:cs typeface="Arial"/>
                        </a:rPr>
                        <a:t>Batch 1</a:t>
                      </a:r>
                    </a:p>
                  </a:txBody>
                  <a:tcPr marL="91440" marR="91440" marT="45720" marB="45720" anchor="ctr">
                    <a:solidFill>
                      <a:srgbClr val="FFFFFF"/>
                    </a:solidFill>
                  </a:tcPr>
                </a:tc>
                <a:tc>
                  <a:txBody>
                    <a:bodyPr wrap="square" lIns="47625" tIns="47625" rIns="47625" bIns="47625">
                      <a:normAutofit/>
                    </a:bodyPr>
                    <a:lstStyle/>
                    <a:p>
                      <a:pPr algn="l"/>
                      <a:r>
                        <a:rPr sz="1575">
                          <a:solidFill>
                            <a:srgbClr val="172B3A"/>
                          </a:solidFill>
                          <a:latin typeface="Arial"/>
                          <a:ea typeface="Arial"/>
                          <a:cs typeface="Arial"/>
                        </a:rPr>
                        <a:t>Not documented</a:t>
                      </a:r>
                    </a:p>
                  </a:txBody>
                  <a:tcPr marL="91440" marR="91440" marT="45720" marB="45720" anchor="ctr">
                    <a:solidFill>
                      <a:srgbClr val="FFFFFF"/>
                    </a:solidFill>
                  </a:tcPr>
                </a:tc>
                <a:tc>
                  <a:txBody>
                    <a:bodyPr wrap="square" lIns="47625" tIns="47625" rIns="47625" bIns="47625">
                      <a:normAutofit/>
                    </a:bodyPr>
                    <a:lstStyle/>
                    <a:p>
                      <a:pPr algn="l"/>
                      <a:r>
                        <a:rPr sz="1575">
                          <a:solidFill>
                            <a:srgbClr val="172B3A"/>
                          </a:solidFill>
                          <a:latin typeface="Arial"/>
                          <a:ea typeface="Arial"/>
                          <a:cs typeface="Arial"/>
                        </a:rPr>
                        <a:t>No batch run log found</a:t>
                      </a:r>
                    </a:p>
                  </a:txBody>
                  <a:tcPr marL="91440" marR="91440" marT="45720" marB="45720" anchor="ctr">
                    <a:solidFill>
                      <a:srgbClr val="FFFFFF"/>
                    </a:solidFill>
                  </a:tcPr>
                </a:tc>
              </a:tr>
              <a:tr h="609600">
                <a:tc>
                  <a:txBody>
                    <a:bodyPr wrap="square" lIns="47625" tIns="47625" rIns="47625" bIns="47625">
                      <a:normAutofit/>
                    </a:bodyPr>
                    <a:lstStyle/>
                    <a:p>
                      <a:pPr algn="l"/>
                      <a:r>
                        <a:rPr sz="1575">
                          <a:solidFill>
                            <a:srgbClr val="172B3A"/>
                          </a:solidFill>
                          <a:latin typeface="Arial"/>
                          <a:ea typeface="Arial"/>
                          <a:cs typeface="Arial"/>
                        </a:rPr>
                        <a:t>Batch 2</a:t>
                      </a:r>
                    </a:p>
                  </a:txBody>
                  <a:tcPr marL="91440" marR="91440" marT="45720" marB="45720" anchor="ctr">
                    <a:solidFill>
                      <a:srgbClr val="EAF2F5"/>
                    </a:solidFill>
                  </a:tcPr>
                </a:tc>
                <a:tc>
                  <a:txBody>
                    <a:bodyPr wrap="square" lIns="47625" tIns="47625" rIns="47625" bIns="47625">
                      <a:normAutofit/>
                    </a:bodyPr>
                    <a:lstStyle/>
                    <a:p>
                      <a:pPr algn="l"/>
                      <a:r>
                        <a:rPr sz="1575">
                          <a:solidFill>
                            <a:srgbClr val="172B3A"/>
                          </a:solidFill>
                          <a:latin typeface="Arial"/>
                          <a:ea typeface="Arial"/>
                          <a:cs typeface="Arial"/>
                        </a:rPr>
                        <a:t>Not documented</a:t>
                      </a:r>
                    </a:p>
                  </a:txBody>
                  <a:tcPr marL="91440" marR="91440" marT="45720" marB="45720" anchor="ctr">
                    <a:solidFill>
                      <a:srgbClr val="EAF2F5"/>
                    </a:solidFill>
                  </a:tcPr>
                </a:tc>
                <a:tc>
                  <a:txBody>
                    <a:bodyPr wrap="square" lIns="47625" tIns="47625" rIns="47625" bIns="47625">
                      <a:normAutofit/>
                    </a:bodyPr>
                    <a:lstStyle/>
                    <a:p>
                      <a:pPr algn="l"/>
                      <a:r>
                        <a:rPr sz="1575">
                          <a:solidFill>
                            <a:srgbClr val="172B3A"/>
                          </a:solidFill>
                          <a:latin typeface="Arial"/>
                          <a:ea typeface="Arial"/>
                          <a:cs typeface="Arial"/>
                        </a:rPr>
                        <a:t>No refinement history found</a:t>
                      </a:r>
                    </a:p>
                  </a:txBody>
                  <a:tcPr marL="91440" marR="91440" marT="45720" marB="45720" anchor="ctr">
                    <a:solidFill>
                      <a:srgbClr val="EAF2F5"/>
                    </a:solidFill>
                  </a:tcPr>
                </a:tc>
              </a:tr>
              <a:tr h="609600">
                <a:tc>
                  <a:txBody>
                    <a:bodyPr wrap="square" lIns="47625" tIns="47625" rIns="47625" bIns="47625">
                      <a:normAutofit/>
                    </a:bodyPr>
                    <a:lstStyle/>
                    <a:p>
                      <a:pPr algn="l"/>
                      <a:r>
                        <a:rPr sz="1575">
                          <a:solidFill>
                            <a:srgbClr val="172B3A"/>
                          </a:solidFill>
                          <a:latin typeface="Arial"/>
                          <a:ea typeface="Arial"/>
                          <a:cs typeface="Arial"/>
                        </a:rPr>
                        <a:t>Batch 3</a:t>
                      </a:r>
                    </a:p>
                  </a:txBody>
                  <a:tcPr marL="91440" marR="91440" marT="45720" marB="45720" anchor="ctr">
                    <a:solidFill>
                      <a:srgbClr val="FFFFFF"/>
                    </a:solidFill>
                  </a:tcPr>
                </a:tc>
                <a:tc>
                  <a:txBody>
                    <a:bodyPr wrap="square" lIns="47625" tIns="47625" rIns="47625" bIns="47625">
                      <a:normAutofit/>
                    </a:bodyPr>
                    <a:lstStyle/>
                    <a:p>
                      <a:pPr algn="l"/>
                      <a:r>
                        <a:rPr sz="1575">
                          <a:solidFill>
                            <a:srgbClr val="172B3A"/>
                          </a:solidFill>
                          <a:latin typeface="Arial"/>
                          <a:ea typeface="Arial"/>
                          <a:cs typeface="Arial"/>
                        </a:rPr>
                        <a:t>Not documented</a:t>
                      </a:r>
                    </a:p>
                  </a:txBody>
                  <a:tcPr marL="91440" marR="91440" marT="45720" marB="45720" anchor="ctr">
                    <a:solidFill>
                      <a:srgbClr val="FFFFFF"/>
                    </a:solidFill>
                  </a:tcPr>
                </a:tc>
                <a:tc>
                  <a:txBody>
                    <a:bodyPr wrap="square" lIns="47625" tIns="47625" rIns="47625" bIns="47625">
                      <a:normAutofit/>
                    </a:bodyPr>
                    <a:lstStyle/>
                    <a:p>
                      <a:pPr algn="l"/>
                      <a:r>
                        <a:rPr sz="1575">
                          <a:solidFill>
                            <a:srgbClr val="172B3A"/>
                          </a:solidFill>
                          <a:latin typeface="Arial"/>
                          <a:ea typeface="Arial"/>
                          <a:cs typeface="Arial"/>
                        </a:rPr>
                        <a:t>No batch validation log found</a:t>
                      </a:r>
                    </a:p>
                  </a:txBody>
                  <a:tcPr marL="91440" marR="91440" marT="45720" marB="45720" anchor="ctr">
                    <a:solidFill>
                      <a:srgbClr val="FFFFFF"/>
                    </a:solidFill>
                  </a:tcPr>
                </a:tc>
              </a:tr>
            </a:tbl>
          </a:graphicData>
        </a:graphic>
      </p:graphicFrame>
      <p:sp>
        <p:nvSpPr>
          <p:cNvPr id="9" name="batch-evidence-caveat">
            <a:extLst xmlns:a="http://schemas.openxmlformats.org/drawingml/2006/main">
              <a:ext uri="{FF2B5EF4-FFF2-40B4-BE49-F238E27FC236}">
                <a16:creationId xmlns:a16="http://schemas.microsoft.com/office/drawing/2014/main" id="{B918B532-6176-4991-A8D0-ABE298F6D208}"/>
              </a:ext>
            </a:extLst>
          </p:cNvPr>
          <p:cNvSpPr>
            <a:spLocks xmlns:a="http://schemas.openxmlformats.org/drawingml/2006/main" noGrp="1"/>
          </p:cNvSpPr>
          <p:nvPr/>
        </p:nvSpPr>
        <p:spPr>
          <a:xfrm xmlns:a="http://schemas.openxmlformats.org/drawingml/2006/main">
            <a:off x="685800" y="584835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196B24"/>
                </a:solidFill>
                <a:latin typeface="Arial"/>
                <a:ea typeface="Arial"/>
                <a:cs typeface="Arial"/>
              </a:defRPr>
            </a:defPPr>
          </a:lstStyle>
          <a:p xmlns:a="http://schemas.openxmlformats.org/drawingml/2006/main">
            <a:pPr algn="l">
              <a:defRPr sz="1500" b="1" i="0">
                <a:solidFill>
                  <a:srgbClr val="196B24"/>
                </a:solidFill>
                <a:latin typeface="Arial"/>
                <a:ea typeface="Arial"/>
                <a:cs typeface="Arial"/>
              </a:defRPr>
            </a:pPr>
            <a:r>
              <a:rPr sz="1500" b="1" i="0">
                <a:solidFill>
                  <a:srgbClr val="196B24"/>
                </a:solidFill>
                <a:latin typeface="Arial"/>
                <a:ea typeface="Arial"/>
                <a:cs typeface="Arial"/>
              </a:rPr>
              <a:t>Verified output is available for all eight cities together: 89 point files and 2,496 city-month rows.</a:t>
            </a:r>
          </a:p>
        </p:txBody>
      </p:sp>
    </p:spTree>
    <p:extLst>
      <p:ext uri="{BB962C8B-B14F-4D97-AF65-F5344CB8AC3E}">
        <p14:creationId xmlns:p14="http://schemas.microsoft.com/office/powerpoint/2010/main" val="2049374648"/>
      </p:ext>
    </p:extLst>
  </p:cSld>
</p:sld>
</file>

<file path=ppt/slides/slide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36" name="section-label">
            <a:extLst xmlns:a="http://schemas.openxmlformats.org/drawingml/2006/main">
              <a:ext uri="{FF2B5EF4-FFF2-40B4-BE49-F238E27FC236}">
                <a16:creationId xmlns:a16="http://schemas.microsoft.com/office/drawing/2014/main" id="{8568F227-757B-4C83-A005-EEC4472C72E2}"/>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PREPROCESSING</a:t>
            </a:r>
          </a:p>
        </p:txBody>
      </p:sp>
      <p:sp>
        <p:nvSpPr>
          <p:cNvPr id="2" name="slide-number">
            <a:extLst xmlns:a="http://schemas.openxmlformats.org/drawingml/2006/main">
              <a:ext uri="{FF2B5EF4-FFF2-40B4-BE49-F238E27FC236}">
                <a16:creationId xmlns:a16="http://schemas.microsoft.com/office/drawing/2014/main" id="{AD595433-1E75-4522-A08C-29172DFCA93B}"/>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07</a:t>
            </a:r>
          </a:p>
        </p:txBody>
      </p:sp>
      <p:sp>
        <p:nvSpPr>
          <p:cNvPr id="3" name="slide-title">
            <a:extLst xmlns:a="http://schemas.openxmlformats.org/drawingml/2006/main">
              <a:ext uri="{FF2B5EF4-FFF2-40B4-BE49-F238E27FC236}">
                <a16:creationId xmlns:a16="http://schemas.microsoft.com/office/drawing/2014/main" id="{4846699F-F1A9-4F84-AEF1-62105743E0CA}"/>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End-to-End Preprocessing Pipeline</a:t>
            </a:r>
          </a:p>
        </p:txBody>
      </p:sp>
      <p:sp>
        <p:nvSpPr>
          <p:cNvPr id="4" name="header-rule">
            <a:extLst xmlns:a="http://schemas.openxmlformats.org/drawingml/2006/main">
              <a:ext uri="{FF2B5EF4-FFF2-40B4-BE49-F238E27FC236}">
                <a16:creationId xmlns:a16="http://schemas.microsoft.com/office/drawing/2014/main" id="{B19917D4-4FE1-4E56-A9F8-5018D28B6C3E}"/>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2BBFCD85-1BD2-4743-B547-C1758B6285A5}"/>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stage order describes how records move. Batch review describes how the workflow can be evaluated.</a:t>
            </a:r>
          </a:p>
        </p:txBody>
      </p:sp>
      <p:sp>
        <p:nvSpPr>
          <p:cNvPr id="6" name="step-01-number">
            <a:extLst xmlns:a="http://schemas.openxmlformats.org/drawingml/2006/main">
              <a:ext uri="{FF2B5EF4-FFF2-40B4-BE49-F238E27FC236}">
                <a16:creationId xmlns:a16="http://schemas.microsoft.com/office/drawing/2014/main" id="{54EAF3B8-EFDB-4876-B287-80DE6E13F537}"/>
              </a:ext>
            </a:extLst>
          </p:cNvPr>
          <p:cNvSpPr>
            <a:spLocks xmlns:a="http://schemas.openxmlformats.org/drawingml/2006/main" noGrp="1"/>
          </p:cNvSpPr>
          <p:nvPr/>
        </p:nvSpPr>
        <p:spPr>
          <a:xfrm xmlns:a="http://schemas.openxmlformats.org/drawingml/2006/main">
            <a:off x="704850" y="18288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56082"/>
                </a:solidFill>
                <a:latin typeface="Arial"/>
                <a:ea typeface="Arial"/>
                <a:cs typeface="Arial"/>
              </a:defRPr>
            </a:defPPr>
          </a:lstStyle>
          <a:p xmlns:a="http://schemas.openxmlformats.org/drawingml/2006/main">
            <a:pPr algn="l">
              <a:defRPr sz="2025" b="1" i="0">
                <a:solidFill>
                  <a:srgbClr val="156082"/>
                </a:solidFill>
                <a:latin typeface="Arial"/>
                <a:ea typeface="Arial"/>
                <a:cs typeface="Arial"/>
              </a:defRPr>
            </a:pPr>
            <a:r>
              <a:rPr sz="2025" b="1" i="0">
                <a:solidFill>
                  <a:srgbClr val="156082"/>
                </a:solidFill>
                <a:latin typeface="Arial"/>
                <a:ea typeface="Arial"/>
                <a:cs typeface="Arial"/>
              </a:rPr>
              <a:t>01</a:t>
            </a:r>
          </a:p>
        </p:txBody>
      </p:sp>
      <p:sp>
        <p:nvSpPr>
          <p:cNvPr id="7" name="step-01-title">
            <a:extLst xmlns:a="http://schemas.openxmlformats.org/drawingml/2006/main">
              <a:ext uri="{FF2B5EF4-FFF2-40B4-BE49-F238E27FC236}">
                <a16:creationId xmlns:a16="http://schemas.microsoft.com/office/drawing/2014/main" id="{0163DF7D-AAD4-41A8-8139-6F08EEEAADB0}"/>
              </a:ext>
            </a:extLst>
          </p:cNvPr>
          <p:cNvSpPr>
            <a:spLocks xmlns:a="http://schemas.openxmlformats.org/drawingml/2006/main" noGrp="1"/>
          </p:cNvSpPr>
          <p:nvPr/>
        </p:nvSpPr>
        <p:spPr>
          <a:xfrm xmlns:a="http://schemas.openxmlformats.org/drawingml/2006/main">
            <a:off x="704850" y="2238375"/>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Raw files</a:t>
            </a:r>
          </a:p>
        </p:txBody>
      </p:sp>
      <p:sp>
        <p:nvSpPr>
          <p:cNvPr id="8" name="step-01-description">
            <a:extLst xmlns:a="http://schemas.openxmlformats.org/drawingml/2006/main">
              <a:ext uri="{FF2B5EF4-FFF2-40B4-BE49-F238E27FC236}">
                <a16:creationId xmlns:a16="http://schemas.microsoft.com/office/drawing/2014/main" id="{5A5AD5FF-B181-4E73-8253-A61203FB228B}"/>
              </a:ext>
            </a:extLst>
          </p:cNvPr>
          <p:cNvSpPr>
            <a:spLocks xmlns:a="http://schemas.openxmlformats.org/drawingml/2006/main" noGrp="1"/>
          </p:cNvSpPr>
          <p:nvPr/>
        </p:nvSpPr>
        <p:spPr>
          <a:xfrm xmlns:a="http://schemas.openxmlformats.org/drawingml/2006/main">
            <a:off x="704850" y="2657475"/>
            <a:ext cx="2266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89 source CSVs</a:t>
            </a:r>
          </a:p>
        </p:txBody>
      </p:sp>
      <p:sp>
        <p:nvSpPr>
          <p:cNvPr id="9" name="pipeline-top-line-0">
            <a:extLst xmlns:a="http://schemas.openxmlformats.org/drawingml/2006/main">
              <a:ext uri="{FF2B5EF4-FFF2-40B4-BE49-F238E27FC236}">
                <a16:creationId xmlns:a16="http://schemas.microsoft.com/office/drawing/2014/main" id="{F7FD9943-8311-46B2-B06A-631D6204A6D1}"/>
              </a:ext>
            </a:extLst>
          </p:cNvPr>
          <p:cNvSpPr>
            <a:spLocks xmlns:a="http://schemas.openxmlformats.org/drawingml/2006/main" noGrp="1"/>
          </p:cNvSpPr>
          <p:nvPr/>
        </p:nvSpPr>
        <p:spPr>
          <a:xfrm xmlns:a="http://schemas.openxmlformats.org/drawingml/2006/main">
            <a:off x="3038475" y="1981200"/>
            <a:ext cx="304800" cy="0"/>
          </a:xfrm>
          <a:prstGeom xmlns:a="http://schemas.openxmlformats.org/drawingml/2006/main" prst="line">
            <a:avLst/>
          </a:prstGeom>
          <a:noFill xmlns:a="http://schemas.openxmlformats.org/drawingml/2006/main"/>
          <a:ln xmlns:a="http://schemas.openxmlformats.org/drawingml/2006/main" w="20955">
            <a:solidFill>
              <a:srgbClr val="E97132"/>
            </a:solidFill>
            <a:prstDash val="solid"/>
          </a:ln>
        </p:spPr>
      </p:sp>
      <p:sp>
        <p:nvSpPr>
          <p:cNvPr id="10" name="step-02-number">
            <a:extLst xmlns:a="http://schemas.openxmlformats.org/drawingml/2006/main">
              <a:ext uri="{FF2B5EF4-FFF2-40B4-BE49-F238E27FC236}">
                <a16:creationId xmlns:a16="http://schemas.microsoft.com/office/drawing/2014/main" id="{366871E5-43C9-4EB1-AC33-94771050A98B}"/>
              </a:ext>
            </a:extLst>
          </p:cNvPr>
          <p:cNvSpPr>
            <a:spLocks xmlns:a="http://schemas.openxmlformats.org/drawingml/2006/main" noGrp="1"/>
          </p:cNvSpPr>
          <p:nvPr/>
        </p:nvSpPr>
        <p:spPr>
          <a:xfrm xmlns:a="http://schemas.openxmlformats.org/drawingml/2006/main">
            <a:off x="3486150" y="18288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56082"/>
                </a:solidFill>
                <a:latin typeface="Arial"/>
                <a:ea typeface="Arial"/>
                <a:cs typeface="Arial"/>
              </a:defRPr>
            </a:defPPr>
          </a:lstStyle>
          <a:p xmlns:a="http://schemas.openxmlformats.org/drawingml/2006/main">
            <a:pPr algn="l">
              <a:defRPr sz="2025" b="1" i="0">
                <a:solidFill>
                  <a:srgbClr val="156082"/>
                </a:solidFill>
                <a:latin typeface="Arial"/>
                <a:ea typeface="Arial"/>
                <a:cs typeface="Arial"/>
              </a:defRPr>
            </a:pPr>
            <a:r>
              <a:rPr sz="2025" b="1" i="0">
                <a:solidFill>
                  <a:srgbClr val="156082"/>
                </a:solidFill>
                <a:latin typeface="Arial"/>
                <a:ea typeface="Arial"/>
                <a:cs typeface="Arial"/>
              </a:rPr>
              <a:t>02</a:t>
            </a:r>
          </a:p>
        </p:txBody>
      </p:sp>
      <p:sp>
        <p:nvSpPr>
          <p:cNvPr id="11" name="step-02-title">
            <a:extLst xmlns:a="http://schemas.openxmlformats.org/drawingml/2006/main">
              <a:ext uri="{FF2B5EF4-FFF2-40B4-BE49-F238E27FC236}">
                <a16:creationId xmlns:a16="http://schemas.microsoft.com/office/drawing/2014/main" id="{DA498CD3-B2F3-4377-86E3-18191CAD9660}"/>
              </a:ext>
            </a:extLst>
          </p:cNvPr>
          <p:cNvSpPr>
            <a:spLocks xmlns:a="http://schemas.openxmlformats.org/drawingml/2006/main" noGrp="1"/>
          </p:cNvSpPr>
          <p:nvPr/>
        </p:nvSpPr>
        <p:spPr>
          <a:xfrm xmlns:a="http://schemas.openxmlformats.org/drawingml/2006/main">
            <a:off x="3486150" y="2238375"/>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Profile</a:t>
            </a:r>
          </a:p>
        </p:txBody>
      </p:sp>
      <p:sp>
        <p:nvSpPr>
          <p:cNvPr id="12" name="step-02-description">
            <a:extLst xmlns:a="http://schemas.openxmlformats.org/drawingml/2006/main">
              <a:ext uri="{FF2B5EF4-FFF2-40B4-BE49-F238E27FC236}">
                <a16:creationId xmlns:a16="http://schemas.microsoft.com/office/drawing/2014/main" id="{7AD7C14C-23E5-4F0A-A05A-589971743C0A}"/>
              </a:ext>
            </a:extLst>
          </p:cNvPr>
          <p:cNvSpPr>
            <a:spLocks xmlns:a="http://schemas.openxmlformats.org/drawingml/2006/main" noGrp="1"/>
          </p:cNvSpPr>
          <p:nvPr/>
        </p:nvSpPr>
        <p:spPr>
          <a:xfrm xmlns:a="http://schemas.openxmlformats.org/drawingml/2006/main">
            <a:off x="3486150" y="2657475"/>
            <a:ext cx="2266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Structure and coverage</a:t>
            </a:r>
          </a:p>
        </p:txBody>
      </p:sp>
      <p:sp>
        <p:nvSpPr>
          <p:cNvPr id="13" name="pipeline-top-line-1">
            <a:extLst xmlns:a="http://schemas.openxmlformats.org/drawingml/2006/main">
              <a:ext uri="{FF2B5EF4-FFF2-40B4-BE49-F238E27FC236}">
                <a16:creationId xmlns:a16="http://schemas.microsoft.com/office/drawing/2014/main" id="{698D9C93-1D95-439B-BAC2-D2BBBEA36428}"/>
              </a:ext>
            </a:extLst>
          </p:cNvPr>
          <p:cNvSpPr>
            <a:spLocks xmlns:a="http://schemas.openxmlformats.org/drawingml/2006/main" noGrp="1"/>
          </p:cNvSpPr>
          <p:nvPr/>
        </p:nvSpPr>
        <p:spPr>
          <a:xfrm xmlns:a="http://schemas.openxmlformats.org/drawingml/2006/main">
            <a:off x="5819775" y="1981200"/>
            <a:ext cx="304800" cy="0"/>
          </a:xfrm>
          <a:prstGeom xmlns:a="http://schemas.openxmlformats.org/drawingml/2006/main" prst="line">
            <a:avLst/>
          </a:prstGeom>
          <a:noFill xmlns:a="http://schemas.openxmlformats.org/drawingml/2006/main"/>
          <a:ln xmlns:a="http://schemas.openxmlformats.org/drawingml/2006/main" w="20955">
            <a:solidFill>
              <a:srgbClr val="E97132"/>
            </a:solidFill>
            <a:prstDash val="solid"/>
          </a:ln>
        </p:spPr>
      </p:sp>
      <p:sp>
        <p:nvSpPr>
          <p:cNvPr id="14" name="step-03-number">
            <a:extLst xmlns:a="http://schemas.openxmlformats.org/drawingml/2006/main">
              <a:ext uri="{FF2B5EF4-FFF2-40B4-BE49-F238E27FC236}">
                <a16:creationId xmlns:a16="http://schemas.microsoft.com/office/drawing/2014/main" id="{394E494B-6544-4F5E-8AAC-2C702995ED76}"/>
              </a:ext>
            </a:extLst>
          </p:cNvPr>
          <p:cNvSpPr>
            <a:spLocks xmlns:a="http://schemas.openxmlformats.org/drawingml/2006/main" noGrp="1"/>
          </p:cNvSpPr>
          <p:nvPr/>
        </p:nvSpPr>
        <p:spPr>
          <a:xfrm xmlns:a="http://schemas.openxmlformats.org/drawingml/2006/main">
            <a:off x="6267450" y="18288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E97132"/>
                </a:solidFill>
                <a:latin typeface="Arial"/>
                <a:ea typeface="Arial"/>
                <a:cs typeface="Arial"/>
              </a:defRPr>
            </a:defPPr>
          </a:lstStyle>
          <a:p xmlns:a="http://schemas.openxmlformats.org/drawingml/2006/main">
            <a:pPr algn="l">
              <a:defRPr sz="2025" b="1" i="0">
                <a:solidFill>
                  <a:srgbClr val="E97132"/>
                </a:solidFill>
                <a:latin typeface="Arial"/>
                <a:ea typeface="Arial"/>
                <a:cs typeface="Arial"/>
              </a:defRPr>
            </a:pPr>
            <a:r>
              <a:rPr sz="2025" b="1" i="0">
                <a:solidFill>
                  <a:srgbClr val="E97132"/>
                </a:solidFill>
                <a:latin typeface="Arial"/>
                <a:ea typeface="Arial"/>
                <a:cs typeface="Arial"/>
              </a:rPr>
              <a:t>03</a:t>
            </a:r>
          </a:p>
        </p:txBody>
      </p:sp>
      <p:sp>
        <p:nvSpPr>
          <p:cNvPr id="15" name="step-03-title">
            <a:extLst xmlns:a="http://schemas.openxmlformats.org/drawingml/2006/main">
              <a:ext uri="{FF2B5EF4-FFF2-40B4-BE49-F238E27FC236}">
                <a16:creationId xmlns:a16="http://schemas.microsoft.com/office/drawing/2014/main" id="{557894E5-1F59-4D2E-A1A5-A56B4D4F70C6}"/>
              </a:ext>
            </a:extLst>
          </p:cNvPr>
          <p:cNvSpPr>
            <a:spLocks xmlns:a="http://schemas.openxmlformats.org/drawingml/2006/main" noGrp="1"/>
          </p:cNvSpPr>
          <p:nvPr/>
        </p:nvSpPr>
        <p:spPr>
          <a:xfrm xmlns:a="http://schemas.openxmlformats.org/drawingml/2006/main">
            <a:off x="6267450" y="2238375"/>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Clean</a:t>
            </a:r>
          </a:p>
        </p:txBody>
      </p:sp>
      <p:sp>
        <p:nvSpPr>
          <p:cNvPr id="16" name="step-03-description">
            <a:extLst xmlns:a="http://schemas.openxmlformats.org/drawingml/2006/main">
              <a:ext uri="{FF2B5EF4-FFF2-40B4-BE49-F238E27FC236}">
                <a16:creationId xmlns:a16="http://schemas.microsoft.com/office/drawing/2014/main" id="{FB266AE0-D928-419B-83BE-CC706BDC760B}"/>
              </a:ext>
            </a:extLst>
          </p:cNvPr>
          <p:cNvSpPr>
            <a:spLocks xmlns:a="http://schemas.openxmlformats.org/drawingml/2006/main" noGrp="1"/>
          </p:cNvSpPr>
          <p:nvPr/>
        </p:nvSpPr>
        <p:spPr>
          <a:xfrm xmlns:a="http://schemas.openxmlformats.org/drawingml/2006/main">
            <a:off x="6267450" y="2657475"/>
            <a:ext cx="2266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Types, labels, sentinels</a:t>
            </a:r>
          </a:p>
        </p:txBody>
      </p:sp>
      <p:sp>
        <p:nvSpPr>
          <p:cNvPr id="17" name="pipeline-top-line-2">
            <a:extLst xmlns:a="http://schemas.openxmlformats.org/drawingml/2006/main">
              <a:ext uri="{FF2B5EF4-FFF2-40B4-BE49-F238E27FC236}">
                <a16:creationId xmlns:a16="http://schemas.microsoft.com/office/drawing/2014/main" id="{2ED33308-D2B8-4045-89AA-0E43FE5FDC96}"/>
              </a:ext>
            </a:extLst>
          </p:cNvPr>
          <p:cNvSpPr>
            <a:spLocks xmlns:a="http://schemas.openxmlformats.org/drawingml/2006/main" noGrp="1"/>
          </p:cNvSpPr>
          <p:nvPr/>
        </p:nvSpPr>
        <p:spPr>
          <a:xfrm xmlns:a="http://schemas.openxmlformats.org/drawingml/2006/main">
            <a:off x="8601075" y="1981200"/>
            <a:ext cx="304800" cy="0"/>
          </a:xfrm>
          <a:prstGeom xmlns:a="http://schemas.openxmlformats.org/drawingml/2006/main" prst="line">
            <a:avLst/>
          </a:prstGeom>
          <a:noFill xmlns:a="http://schemas.openxmlformats.org/drawingml/2006/main"/>
          <a:ln xmlns:a="http://schemas.openxmlformats.org/drawingml/2006/main" w="20955">
            <a:solidFill>
              <a:srgbClr val="E97132"/>
            </a:solidFill>
            <a:prstDash val="solid"/>
          </a:ln>
        </p:spPr>
      </p:sp>
      <p:sp>
        <p:nvSpPr>
          <p:cNvPr id="18" name="step-04-number">
            <a:extLst xmlns:a="http://schemas.openxmlformats.org/drawingml/2006/main">
              <a:ext uri="{FF2B5EF4-FFF2-40B4-BE49-F238E27FC236}">
                <a16:creationId xmlns:a16="http://schemas.microsoft.com/office/drawing/2014/main" id="{655FC4DD-DAD9-4DC6-929C-BF8ECAC85A5F}"/>
              </a:ext>
            </a:extLst>
          </p:cNvPr>
          <p:cNvSpPr>
            <a:spLocks xmlns:a="http://schemas.openxmlformats.org/drawingml/2006/main" noGrp="1"/>
          </p:cNvSpPr>
          <p:nvPr/>
        </p:nvSpPr>
        <p:spPr>
          <a:xfrm xmlns:a="http://schemas.openxmlformats.org/drawingml/2006/main">
            <a:off x="9048750" y="18288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56082"/>
                </a:solidFill>
                <a:latin typeface="Arial"/>
                <a:ea typeface="Arial"/>
                <a:cs typeface="Arial"/>
              </a:defRPr>
            </a:defPPr>
          </a:lstStyle>
          <a:p xmlns:a="http://schemas.openxmlformats.org/drawingml/2006/main">
            <a:pPr algn="l">
              <a:defRPr sz="2025" b="1" i="0">
                <a:solidFill>
                  <a:srgbClr val="156082"/>
                </a:solidFill>
                <a:latin typeface="Arial"/>
                <a:ea typeface="Arial"/>
                <a:cs typeface="Arial"/>
              </a:defRPr>
            </a:pPr>
            <a:r>
              <a:rPr sz="2025" b="1" i="0">
                <a:solidFill>
                  <a:srgbClr val="156082"/>
                </a:solidFill>
                <a:latin typeface="Arial"/>
                <a:ea typeface="Arial"/>
                <a:cs typeface="Arial"/>
              </a:rPr>
              <a:t>04</a:t>
            </a:r>
          </a:p>
        </p:txBody>
      </p:sp>
      <p:sp>
        <p:nvSpPr>
          <p:cNvPr id="19" name="step-04-title">
            <a:extLst xmlns:a="http://schemas.openxmlformats.org/drawingml/2006/main">
              <a:ext uri="{FF2B5EF4-FFF2-40B4-BE49-F238E27FC236}">
                <a16:creationId xmlns:a16="http://schemas.microsoft.com/office/drawing/2014/main" id="{C947FDE9-E912-4926-8328-873DE4FB1D64}"/>
              </a:ext>
            </a:extLst>
          </p:cNvPr>
          <p:cNvSpPr>
            <a:spLocks xmlns:a="http://schemas.openxmlformats.org/drawingml/2006/main" noGrp="1"/>
          </p:cNvSpPr>
          <p:nvPr/>
        </p:nvSpPr>
        <p:spPr>
          <a:xfrm xmlns:a="http://schemas.openxmlformats.org/drawingml/2006/main">
            <a:off x="9048750" y="2238375"/>
            <a:ext cx="2266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Transform</a:t>
            </a:r>
          </a:p>
        </p:txBody>
      </p:sp>
      <p:sp>
        <p:nvSpPr>
          <p:cNvPr id="20" name="step-04-description">
            <a:extLst xmlns:a="http://schemas.openxmlformats.org/drawingml/2006/main">
              <a:ext uri="{FF2B5EF4-FFF2-40B4-BE49-F238E27FC236}">
                <a16:creationId xmlns:a16="http://schemas.microsoft.com/office/drawing/2014/main" id="{8B3D70E1-6618-4BC3-81DF-847027479355}"/>
              </a:ext>
            </a:extLst>
          </p:cNvPr>
          <p:cNvSpPr>
            <a:spLocks xmlns:a="http://schemas.openxmlformats.org/drawingml/2006/main" noGrp="1"/>
          </p:cNvSpPr>
          <p:nvPr/>
        </p:nvSpPr>
        <p:spPr>
          <a:xfrm xmlns:a="http://schemas.openxmlformats.org/drawingml/2006/main">
            <a:off x="9048750" y="2657475"/>
            <a:ext cx="22669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Point-month tables</a:t>
            </a:r>
          </a:p>
        </p:txBody>
      </p:sp>
      <p:sp>
        <p:nvSpPr>
          <p:cNvPr id="21" name="pipeline-continuation">
            <a:extLst xmlns:a="http://schemas.openxmlformats.org/drawingml/2006/main">
              <a:ext uri="{FF2B5EF4-FFF2-40B4-BE49-F238E27FC236}">
                <a16:creationId xmlns:a16="http://schemas.microsoft.com/office/drawing/2014/main" id="{662C4163-0EE8-4ECC-A805-2869F6D03680}"/>
              </a:ext>
            </a:extLst>
          </p:cNvPr>
          <p:cNvSpPr>
            <a:spLocks xmlns:a="http://schemas.openxmlformats.org/drawingml/2006/main" noGrp="1"/>
          </p:cNvSpPr>
          <p:nvPr/>
        </p:nvSpPr>
        <p:spPr>
          <a:xfrm xmlns:a="http://schemas.openxmlformats.org/drawingml/2006/main">
            <a:off x="666750" y="3752850"/>
            <a:ext cx="1071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i="1">
                <a:solidFill>
                  <a:srgbClr val="52636D"/>
                </a:solidFill>
                <a:latin typeface="Arial"/>
                <a:ea typeface="Arial"/>
                <a:cs typeface="Arial"/>
              </a:defRPr>
            </a:defPPr>
          </a:lstStyle>
          <a:p xmlns:a="http://schemas.openxmlformats.org/drawingml/2006/main">
            <a:pPr algn="ctr">
              <a:defRPr sz="1275" b="0" i="1">
                <a:solidFill>
                  <a:srgbClr val="52636D"/>
                </a:solidFill>
                <a:latin typeface="Arial"/>
                <a:ea typeface="Arial"/>
                <a:cs typeface="Arial"/>
              </a:defRPr>
            </a:pPr>
            <a:r>
              <a:rPr sz="1275" b="0" i="1">
                <a:solidFill>
                  <a:srgbClr val="52636D"/>
                </a:solidFill>
                <a:latin typeface="Arial"/>
                <a:ea typeface="Arial"/>
                <a:cs typeface="Arial"/>
              </a:rPr>
              <a:t>Stage order continues</a:t>
            </a:r>
          </a:p>
        </p:txBody>
      </p:sp>
      <p:sp>
        <p:nvSpPr>
          <p:cNvPr id="22" name="step-05-number">
            <a:extLst xmlns:a="http://schemas.openxmlformats.org/drawingml/2006/main">
              <a:ext uri="{FF2B5EF4-FFF2-40B4-BE49-F238E27FC236}">
                <a16:creationId xmlns:a16="http://schemas.microsoft.com/office/drawing/2014/main" id="{A033BE2C-3592-4C96-996D-E0B0B0D838F4}"/>
              </a:ext>
            </a:extLst>
          </p:cNvPr>
          <p:cNvSpPr>
            <a:spLocks xmlns:a="http://schemas.openxmlformats.org/drawingml/2006/main" noGrp="1"/>
          </p:cNvSpPr>
          <p:nvPr/>
        </p:nvSpPr>
        <p:spPr>
          <a:xfrm xmlns:a="http://schemas.openxmlformats.org/drawingml/2006/main">
            <a:off x="2095500" y="41243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56082"/>
                </a:solidFill>
                <a:latin typeface="Arial"/>
                <a:ea typeface="Arial"/>
                <a:cs typeface="Arial"/>
              </a:defRPr>
            </a:defPPr>
          </a:lstStyle>
          <a:p xmlns:a="http://schemas.openxmlformats.org/drawingml/2006/main">
            <a:pPr algn="l">
              <a:defRPr sz="2025" b="1" i="0">
                <a:solidFill>
                  <a:srgbClr val="156082"/>
                </a:solidFill>
                <a:latin typeface="Arial"/>
                <a:ea typeface="Arial"/>
                <a:cs typeface="Arial"/>
              </a:defRPr>
            </a:pPr>
            <a:r>
              <a:rPr sz="2025" b="1" i="0">
                <a:solidFill>
                  <a:srgbClr val="156082"/>
                </a:solidFill>
                <a:latin typeface="Arial"/>
                <a:ea typeface="Arial"/>
                <a:cs typeface="Arial"/>
              </a:rPr>
              <a:t>05</a:t>
            </a:r>
          </a:p>
        </p:txBody>
      </p:sp>
      <p:sp>
        <p:nvSpPr>
          <p:cNvPr id="23" name="step-05-title">
            <a:extLst xmlns:a="http://schemas.openxmlformats.org/drawingml/2006/main">
              <a:ext uri="{FF2B5EF4-FFF2-40B4-BE49-F238E27FC236}">
                <a16:creationId xmlns:a16="http://schemas.microsoft.com/office/drawing/2014/main" id="{697D954F-ECBA-46F6-B0D3-33EF5D2E5829}"/>
              </a:ext>
            </a:extLst>
          </p:cNvPr>
          <p:cNvSpPr>
            <a:spLocks xmlns:a="http://schemas.openxmlformats.org/drawingml/2006/main" noGrp="1"/>
          </p:cNvSpPr>
          <p:nvPr/>
        </p:nvSpPr>
        <p:spPr>
          <a:xfrm xmlns:a="http://schemas.openxmlformats.org/drawingml/2006/main">
            <a:off x="2095500" y="45339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Aggregate</a:t>
            </a:r>
          </a:p>
        </p:txBody>
      </p:sp>
      <p:sp>
        <p:nvSpPr>
          <p:cNvPr id="24" name="step-05-description">
            <a:extLst xmlns:a="http://schemas.openxmlformats.org/drawingml/2006/main">
              <a:ext uri="{FF2B5EF4-FFF2-40B4-BE49-F238E27FC236}">
                <a16:creationId xmlns:a16="http://schemas.microsoft.com/office/drawing/2014/main" id="{A9BFBE26-CE8F-432C-B64F-756204004096}"/>
              </a:ext>
            </a:extLst>
          </p:cNvPr>
          <p:cNvSpPr>
            <a:spLocks xmlns:a="http://schemas.openxmlformats.org/drawingml/2006/main" noGrp="1"/>
          </p:cNvSpPr>
          <p:nvPr/>
        </p:nvSpPr>
        <p:spPr>
          <a:xfrm xmlns:a="http://schemas.openxmlformats.org/drawingml/2006/main">
            <a:off x="2095500" y="4953000"/>
            <a:ext cx="27146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Points to city-month</a:t>
            </a:r>
          </a:p>
        </p:txBody>
      </p:sp>
      <p:sp>
        <p:nvSpPr>
          <p:cNvPr id="25" name="pipeline-bottom-line-0">
            <a:extLst xmlns:a="http://schemas.openxmlformats.org/drawingml/2006/main">
              <a:ext uri="{FF2B5EF4-FFF2-40B4-BE49-F238E27FC236}">
                <a16:creationId xmlns:a16="http://schemas.microsoft.com/office/drawing/2014/main" id="{18BF1246-6330-4727-89F5-B975A4B4C4E8}"/>
              </a:ext>
            </a:extLst>
          </p:cNvPr>
          <p:cNvSpPr>
            <a:spLocks xmlns:a="http://schemas.openxmlformats.org/drawingml/2006/main" noGrp="1"/>
          </p:cNvSpPr>
          <p:nvPr/>
        </p:nvSpPr>
        <p:spPr>
          <a:xfrm xmlns:a="http://schemas.openxmlformats.org/drawingml/2006/main">
            <a:off x="4857750" y="4276725"/>
            <a:ext cx="400050" cy="0"/>
          </a:xfrm>
          <a:prstGeom xmlns:a="http://schemas.openxmlformats.org/drawingml/2006/main" prst="line">
            <a:avLst/>
          </a:prstGeom>
          <a:noFill xmlns:a="http://schemas.openxmlformats.org/drawingml/2006/main"/>
          <a:ln xmlns:a="http://schemas.openxmlformats.org/drawingml/2006/main" w="20955">
            <a:solidFill>
              <a:srgbClr val="E97132"/>
            </a:solidFill>
            <a:prstDash val="solid"/>
          </a:ln>
        </p:spPr>
      </p:sp>
      <p:sp>
        <p:nvSpPr>
          <p:cNvPr id="26" name="step-06-number">
            <a:extLst xmlns:a="http://schemas.openxmlformats.org/drawingml/2006/main">
              <a:ext uri="{FF2B5EF4-FFF2-40B4-BE49-F238E27FC236}">
                <a16:creationId xmlns:a16="http://schemas.microsoft.com/office/drawing/2014/main" id="{4BAA7418-87E0-483D-ACA3-DCC6FCAC5BBD}"/>
              </a:ext>
            </a:extLst>
          </p:cNvPr>
          <p:cNvSpPr>
            <a:spLocks xmlns:a="http://schemas.openxmlformats.org/drawingml/2006/main" noGrp="1"/>
          </p:cNvSpPr>
          <p:nvPr/>
        </p:nvSpPr>
        <p:spPr>
          <a:xfrm xmlns:a="http://schemas.openxmlformats.org/drawingml/2006/main">
            <a:off x="5429250" y="41243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56082"/>
                </a:solidFill>
                <a:latin typeface="Arial"/>
                <a:ea typeface="Arial"/>
                <a:cs typeface="Arial"/>
              </a:defRPr>
            </a:defPPr>
          </a:lstStyle>
          <a:p xmlns:a="http://schemas.openxmlformats.org/drawingml/2006/main">
            <a:pPr algn="l">
              <a:defRPr sz="2025" b="1" i="0">
                <a:solidFill>
                  <a:srgbClr val="156082"/>
                </a:solidFill>
                <a:latin typeface="Arial"/>
                <a:ea typeface="Arial"/>
                <a:cs typeface="Arial"/>
              </a:defRPr>
            </a:pPr>
            <a:r>
              <a:rPr sz="2025" b="1" i="0">
                <a:solidFill>
                  <a:srgbClr val="156082"/>
                </a:solidFill>
                <a:latin typeface="Arial"/>
                <a:ea typeface="Arial"/>
                <a:cs typeface="Arial"/>
              </a:rPr>
              <a:t>06</a:t>
            </a:r>
          </a:p>
        </p:txBody>
      </p:sp>
      <p:sp>
        <p:nvSpPr>
          <p:cNvPr id="27" name="step-06-title">
            <a:extLst xmlns:a="http://schemas.openxmlformats.org/drawingml/2006/main">
              <a:ext uri="{FF2B5EF4-FFF2-40B4-BE49-F238E27FC236}">
                <a16:creationId xmlns:a16="http://schemas.microsoft.com/office/drawing/2014/main" id="{F10849AA-93CE-4942-998B-E0AA83CEAF45}"/>
              </a:ext>
            </a:extLst>
          </p:cNvPr>
          <p:cNvSpPr>
            <a:spLocks xmlns:a="http://schemas.openxmlformats.org/drawingml/2006/main" noGrp="1"/>
          </p:cNvSpPr>
          <p:nvPr/>
        </p:nvSpPr>
        <p:spPr>
          <a:xfrm xmlns:a="http://schemas.openxmlformats.org/drawingml/2006/main">
            <a:off x="5429250" y="45339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Validate</a:t>
            </a:r>
          </a:p>
        </p:txBody>
      </p:sp>
      <p:sp>
        <p:nvSpPr>
          <p:cNvPr id="28" name="step-06-description">
            <a:extLst xmlns:a="http://schemas.openxmlformats.org/drawingml/2006/main">
              <a:ext uri="{FF2B5EF4-FFF2-40B4-BE49-F238E27FC236}">
                <a16:creationId xmlns:a16="http://schemas.microsoft.com/office/drawing/2014/main" id="{1272A4DD-4792-4A05-97AE-76ABFF41995C}"/>
              </a:ext>
            </a:extLst>
          </p:cNvPr>
          <p:cNvSpPr>
            <a:spLocks xmlns:a="http://schemas.openxmlformats.org/drawingml/2006/main" noGrp="1"/>
          </p:cNvSpPr>
          <p:nvPr/>
        </p:nvSpPr>
        <p:spPr>
          <a:xfrm xmlns:a="http://schemas.openxmlformats.org/drawingml/2006/main">
            <a:off x="5429250" y="4953000"/>
            <a:ext cx="27146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8 defined checks</a:t>
            </a:r>
          </a:p>
        </p:txBody>
      </p:sp>
      <p:sp>
        <p:nvSpPr>
          <p:cNvPr id="29" name="pipeline-bottom-line-1">
            <a:extLst xmlns:a="http://schemas.openxmlformats.org/drawingml/2006/main">
              <a:ext uri="{FF2B5EF4-FFF2-40B4-BE49-F238E27FC236}">
                <a16:creationId xmlns:a16="http://schemas.microsoft.com/office/drawing/2014/main" id="{68A553EA-A6BC-4A7F-B6DE-AA59FD0D87AA}"/>
              </a:ext>
            </a:extLst>
          </p:cNvPr>
          <p:cNvSpPr>
            <a:spLocks xmlns:a="http://schemas.openxmlformats.org/drawingml/2006/main" noGrp="1"/>
          </p:cNvSpPr>
          <p:nvPr/>
        </p:nvSpPr>
        <p:spPr>
          <a:xfrm xmlns:a="http://schemas.openxmlformats.org/drawingml/2006/main">
            <a:off x="8191500" y="4276725"/>
            <a:ext cx="400050" cy="0"/>
          </a:xfrm>
          <a:prstGeom xmlns:a="http://schemas.openxmlformats.org/drawingml/2006/main" prst="line">
            <a:avLst/>
          </a:prstGeom>
          <a:noFill xmlns:a="http://schemas.openxmlformats.org/drawingml/2006/main"/>
          <a:ln xmlns:a="http://schemas.openxmlformats.org/drawingml/2006/main" w="20955">
            <a:solidFill>
              <a:srgbClr val="E97132"/>
            </a:solidFill>
            <a:prstDash val="solid"/>
          </a:ln>
        </p:spPr>
      </p:sp>
      <p:sp>
        <p:nvSpPr>
          <p:cNvPr id="30" name="step-07-number">
            <a:extLst xmlns:a="http://schemas.openxmlformats.org/drawingml/2006/main">
              <a:ext uri="{FF2B5EF4-FFF2-40B4-BE49-F238E27FC236}">
                <a16:creationId xmlns:a16="http://schemas.microsoft.com/office/drawing/2014/main" id="{0870EBF0-69B1-4D1C-90AE-0654524CDC19}"/>
              </a:ext>
            </a:extLst>
          </p:cNvPr>
          <p:cNvSpPr>
            <a:spLocks xmlns:a="http://schemas.openxmlformats.org/drawingml/2006/main" noGrp="1"/>
          </p:cNvSpPr>
          <p:nvPr/>
        </p:nvSpPr>
        <p:spPr>
          <a:xfrm xmlns:a="http://schemas.openxmlformats.org/drawingml/2006/main">
            <a:off x="8763000" y="412432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196B24"/>
                </a:solidFill>
                <a:latin typeface="Arial"/>
                <a:ea typeface="Arial"/>
                <a:cs typeface="Arial"/>
              </a:defRPr>
            </a:defPPr>
          </a:lstStyle>
          <a:p xmlns:a="http://schemas.openxmlformats.org/drawingml/2006/main">
            <a:pPr algn="l">
              <a:defRPr sz="2025" b="1" i="0">
                <a:solidFill>
                  <a:srgbClr val="196B24"/>
                </a:solidFill>
                <a:latin typeface="Arial"/>
                <a:ea typeface="Arial"/>
                <a:cs typeface="Arial"/>
              </a:defRPr>
            </a:pPr>
            <a:r>
              <a:rPr sz="2025" b="1" i="0">
                <a:solidFill>
                  <a:srgbClr val="196B24"/>
                </a:solidFill>
                <a:latin typeface="Arial"/>
                <a:ea typeface="Arial"/>
                <a:cs typeface="Arial"/>
              </a:rPr>
              <a:t>07</a:t>
            </a:r>
          </a:p>
        </p:txBody>
      </p:sp>
      <p:sp>
        <p:nvSpPr>
          <p:cNvPr id="31" name="step-07-title">
            <a:extLst xmlns:a="http://schemas.openxmlformats.org/drawingml/2006/main">
              <a:ext uri="{FF2B5EF4-FFF2-40B4-BE49-F238E27FC236}">
                <a16:creationId xmlns:a16="http://schemas.microsoft.com/office/drawing/2014/main" id="{1512FA5D-EF3C-4F82-9504-EA389E4FBE0A}"/>
              </a:ext>
            </a:extLst>
          </p:cNvPr>
          <p:cNvSpPr>
            <a:spLocks xmlns:a="http://schemas.openxmlformats.org/drawingml/2006/main" noGrp="1"/>
          </p:cNvSpPr>
          <p:nvPr/>
        </p:nvSpPr>
        <p:spPr>
          <a:xfrm xmlns:a="http://schemas.openxmlformats.org/drawingml/2006/main">
            <a:off x="8763000" y="45339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Dataset</a:t>
            </a:r>
          </a:p>
        </p:txBody>
      </p:sp>
      <p:sp>
        <p:nvSpPr>
          <p:cNvPr id="32" name="step-07-description">
            <a:extLst xmlns:a="http://schemas.openxmlformats.org/drawingml/2006/main">
              <a:ext uri="{FF2B5EF4-FFF2-40B4-BE49-F238E27FC236}">
                <a16:creationId xmlns:a16="http://schemas.microsoft.com/office/drawing/2014/main" id="{3D9C9D55-9A02-483D-82FA-FDA2A4A66FE9}"/>
              </a:ext>
            </a:extLst>
          </p:cNvPr>
          <p:cNvSpPr>
            <a:spLocks xmlns:a="http://schemas.openxmlformats.org/drawingml/2006/main" noGrp="1"/>
          </p:cNvSpPr>
          <p:nvPr/>
        </p:nvSpPr>
        <p:spPr>
          <a:xfrm xmlns:a="http://schemas.openxmlformats.org/drawingml/2006/main">
            <a:off x="8763000" y="4953000"/>
            <a:ext cx="27146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52636D"/>
                </a:solidFill>
                <a:latin typeface="Arial"/>
                <a:ea typeface="Arial"/>
                <a:cs typeface="Arial"/>
              </a:defRPr>
            </a:defPPr>
          </a:lstStyle>
          <a:p xmlns:a="http://schemas.openxmlformats.org/drawingml/2006/main">
            <a:pPr algn="l">
              <a:defRPr sz="1500" b="0" i="0">
                <a:solidFill>
                  <a:srgbClr val="52636D"/>
                </a:solidFill>
                <a:latin typeface="Arial"/>
                <a:ea typeface="Arial"/>
                <a:cs typeface="Arial"/>
              </a:defRPr>
            </a:pPr>
            <a:r>
              <a:rPr sz="1500" b="0" i="0">
                <a:solidFill>
                  <a:srgbClr val="52636D"/>
                </a:solidFill>
                <a:latin typeface="Arial"/>
                <a:ea typeface="Arial"/>
                <a:cs typeface="Arial"/>
              </a:rPr>
              <a:t>2,496 monthly rows</a:t>
            </a:r>
          </a:p>
        </p:txBody>
      </p:sp>
      <p:sp>
        <p:nvSpPr>
          <p:cNvPr id="33" name="feedback-line-left">
            <a:extLst xmlns:a="http://schemas.openxmlformats.org/drawingml/2006/main">
              <a:ext uri="{FF2B5EF4-FFF2-40B4-BE49-F238E27FC236}">
                <a16:creationId xmlns:a16="http://schemas.microsoft.com/office/drawing/2014/main" id="{14FFB35A-B14A-43A5-846F-CC769FB7666B}"/>
              </a:ext>
            </a:extLst>
          </p:cNvPr>
          <p:cNvSpPr>
            <a:spLocks xmlns:a="http://schemas.openxmlformats.org/drawingml/2006/main" noGrp="1"/>
          </p:cNvSpPr>
          <p:nvPr/>
        </p:nvSpPr>
        <p:spPr>
          <a:xfrm xmlns:a="http://schemas.openxmlformats.org/drawingml/2006/main">
            <a:off x="9877425" y="5857875"/>
            <a:ext cx="0" cy="152400"/>
          </a:xfrm>
          <a:prstGeom xmlns:a="http://schemas.openxmlformats.org/drawingml/2006/main" prst="line">
            <a:avLst/>
          </a:prstGeom>
          <a:noFill xmlns:a="http://schemas.openxmlformats.org/drawingml/2006/main"/>
          <a:ln xmlns:a="http://schemas.openxmlformats.org/drawingml/2006/main" w="19050">
            <a:solidFill>
              <a:srgbClr val="196B24"/>
            </a:solidFill>
            <a:prstDash val="solid"/>
          </a:ln>
        </p:spPr>
      </p:sp>
      <p:sp>
        <p:nvSpPr>
          <p:cNvPr id="34" name="feedback-line-base">
            <a:extLst xmlns:a="http://schemas.openxmlformats.org/drawingml/2006/main">
              <a:ext uri="{FF2B5EF4-FFF2-40B4-BE49-F238E27FC236}">
                <a16:creationId xmlns:a16="http://schemas.microsoft.com/office/drawing/2014/main" id="{D3DF15D5-257E-49CD-9662-B6F682F3307E}"/>
              </a:ext>
            </a:extLst>
          </p:cNvPr>
          <p:cNvSpPr>
            <a:spLocks xmlns:a="http://schemas.openxmlformats.org/drawingml/2006/main" noGrp="1"/>
          </p:cNvSpPr>
          <p:nvPr/>
        </p:nvSpPr>
        <p:spPr>
          <a:xfrm xmlns:a="http://schemas.openxmlformats.org/drawingml/2006/main">
            <a:off x="2857500" y="6010275"/>
            <a:ext cx="7019925" cy="0"/>
          </a:xfrm>
          <a:prstGeom xmlns:a="http://schemas.openxmlformats.org/drawingml/2006/main" prst="line">
            <a:avLst/>
          </a:prstGeom>
          <a:noFill xmlns:a="http://schemas.openxmlformats.org/drawingml/2006/main"/>
          <a:ln xmlns:a="http://schemas.openxmlformats.org/drawingml/2006/main" w="19050">
            <a:solidFill>
              <a:srgbClr val="196B24"/>
            </a:solidFill>
            <a:prstDash val="solid"/>
          </a:ln>
        </p:spPr>
      </p:sp>
      <p:sp>
        <p:nvSpPr>
          <p:cNvPr id="35" name="feedback-label">
            <a:extLst xmlns:a="http://schemas.openxmlformats.org/drawingml/2006/main">
              <a:ext uri="{FF2B5EF4-FFF2-40B4-BE49-F238E27FC236}">
                <a16:creationId xmlns:a16="http://schemas.microsoft.com/office/drawing/2014/main" id="{838D3107-D97D-4EA4-9EF3-5A07403704E3}"/>
              </a:ext>
            </a:extLst>
          </p:cNvPr>
          <p:cNvSpPr>
            <a:spLocks xmlns:a="http://schemas.openxmlformats.org/drawingml/2006/main" noGrp="1"/>
          </p:cNvSpPr>
          <p:nvPr/>
        </p:nvSpPr>
        <p:spPr>
          <a:xfrm xmlns:a="http://schemas.openxmlformats.org/drawingml/2006/main">
            <a:off x="3048000" y="6057900"/>
            <a:ext cx="676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i="0">
                <a:solidFill>
                  <a:srgbClr val="196B24"/>
                </a:solidFill>
                <a:latin typeface="Arial"/>
                <a:ea typeface="Arial"/>
                <a:cs typeface="Arial"/>
              </a:defRPr>
            </a:defPPr>
          </a:lstStyle>
          <a:p xmlns:a="http://schemas.openxmlformats.org/drawingml/2006/main">
            <a:pPr algn="ctr">
              <a:defRPr sz="1350" b="1" i="0">
                <a:solidFill>
                  <a:srgbClr val="196B24"/>
                </a:solidFill>
                <a:latin typeface="Arial"/>
                <a:ea typeface="Arial"/>
                <a:cs typeface="Arial"/>
              </a:defRPr>
            </a:pPr>
            <a:r>
              <a:rPr sz="1350" b="1" i="0">
                <a:solidFill>
                  <a:srgbClr val="196B24"/>
                </a:solidFill>
                <a:latin typeface="Arial"/>
                <a:ea typeface="Arial"/>
                <a:cs typeface="Arial"/>
              </a:rPr>
              <a:t>Batch review can feed justified changes back into earlier stages</a:t>
            </a:r>
          </a:p>
        </p:txBody>
      </p:sp>
    </p:spTree>
    <p:extLst>
      <p:ext uri="{BB962C8B-B14F-4D97-AF65-F5344CB8AC3E}">
        <p14:creationId xmlns:p14="http://schemas.microsoft.com/office/powerpoint/2010/main" val="1663652532"/>
      </p:ext>
    </p:extLst>
  </p:cSld>
</p:sld>
</file>

<file path=ppt/slides/slide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DA8FA7B9-3652-4316-8B2A-2F13356D8A21}"/>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DATA PROFILING</a:t>
            </a:r>
          </a:p>
        </p:txBody>
      </p:sp>
      <p:sp>
        <p:nvSpPr>
          <p:cNvPr id="2" name="slide-number">
            <a:extLst xmlns:a="http://schemas.openxmlformats.org/drawingml/2006/main">
              <a:ext uri="{FF2B5EF4-FFF2-40B4-BE49-F238E27FC236}">
                <a16:creationId xmlns:a16="http://schemas.microsoft.com/office/drawing/2014/main" id="{F1EEA4A2-C3B6-401C-A5F9-976F2B933A8B}"/>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08</a:t>
            </a:r>
          </a:p>
        </p:txBody>
      </p:sp>
      <p:sp>
        <p:nvSpPr>
          <p:cNvPr id="3" name="slide-title">
            <a:extLst xmlns:a="http://schemas.openxmlformats.org/drawingml/2006/main">
              <a:ext uri="{FF2B5EF4-FFF2-40B4-BE49-F238E27FC236}">
                <a16:creationId xmlns:a16="http://schemas.microsoft.com/office/drawing/2014/main" id="{70138C31-EC5E-4DFD-8D47-36D7B48F6D71}"/>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Data Profiling: What We Checked and Why</a:t>
            </a:r>
          </a:p>
        </p:txBody>
      </p:sp>
      <p:sp>
        <p:nvSpPr>
          <p:cNvPr id="4" name="header-rule">
            <a:extLst xmlns:a="http://schemas.openxmlformats.org/drawingml/2006/main">
              <a:ext uri="{FF2B5EF4-FFF2-40B4-BE49-F238E27FC236}">
                <a16:creationId xmlns:a16="http://schemas.microsoft.com/office/drawing/2014/main" id="{D49339A0-7115-4BB5-AE6E-F1CFD4AF2181}"/>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06760331-BDFA-4D1B-9AD3-626AA6033C05}"/>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Profiling records what is in the files before cleaning changes their values or structure.</a:t>
            </a:r>
          </a:p>
        </p:txBody>
      </p:sp>
      <p:graphicFrame>
        <p:nvGraphicFramePr>
          <p:cNvPr id="6" name="">
            <a:extLst xmlns:a="http://schemas.openxmlformats.org/drawingml/2006/main">
              <a:ext uri="{FF2B5EF4-FFF2-40B4-BE49-F238E27FC236}">
                <a16:creationId xmlns:a16="http://schemas.microsoft.com/office/drawing/2014/main" id="{D1A8BC33-9CDA-491E-920C-475115E8D00B}"/>
              </a:ext>
            </a:extLst>
          </p:cNvPr>
          <p:cNvGraphicFramePr/>
          <p:nvPr/>
        </p:nvGraphicFramePr>
        <p:xfrm>
          <a:off xmlns:a="http://schemas.openxmlformats.org/drawingml/2006/main" x="609600" y="1790700"/>
          <a:ext xmlns:a="http://schemas.openxmlformats.org/drawingml/2006/main" cx="10972800" cy="3562350"/>
        </p:xfrm>
        <a:graphic xmlns:a="http://schemas.openxmlformats.org/drawingml/2006/main">
          <a:graphicData uri="http://schemas.openxmlformats.org/drawingml/2006/table">
            <a:tbl>
              <a:tblPr/>
              <a:tblGrid>
                <a:gridCol w="3905250"/>
                <a:gridCol w="3619500"/>
                <a:gridCol w="3448050"/>
              </a:tblGrid>
              <a:tr h="495300">
                <a:tc>
                  <a:txBody>
                    <a:bodyPr wrap="square" lIns="47625" tIns="47625" rIns="47625" bIns="47625">
                      <a:normAutofit/>
                    </a:bodyPr>
                    <a:lstStyle/>
                    <a:p>
                      <a:pPr algn="l"/>
                      <a:r>
                        <a:rPr sz="1500" b="1">
                          <a:solidFill>
                            <a:srgbClr val="FFFFFF"/>
                          </a:solidFill>
                          <a:latin typeface="Arial"/>
                          <a:ea typeface="Arial"/>
                          <a:cs typeface="Arial"/>
                        </a:rPr>
                        <a:t>Check performed</a:t>
                      </a:r>
                    </a:p>
                  </a:txBody>
                  <a:tcPr marL="91440" marR="91440" marT="45720" marB="45720" anchor="ctr">
                    <a:solidFill>
                      <a:srgbClr val="0E2841"/>
                    </a:solidFill>
                  </a:tcPr>
                </a:tc>
                <a:tc>
                  <a:txBody>
                    <a:bodyPr wrap="square" lIns="47625" tIns="47625" rIns="47625" bIns="47625">
                      <a:normAutofit/>
                    </a:bodyPr>
                    <a:lstStyle/>
                    <a:p>
                      <a:pPr algn="l"/>
                      <a:r>
                        <a:rPr sz="1500" b="1">
                          <a:solidFill>
                            <a:srgbClr val="FFFFFF"/>
                          </a:solidFill>
                          <a:latin typeface="Arial"/>
                          <a:ea typeface="Arial"/>
                          <a:cs typeface="Arial"/>
                        </a:rPr>
                        <a:t>Why it matters</a:t>
                      </a:r>
                    </a:p>
                  </a:txBody>
                  <a:tcPr marL="91440" marR="91440" marT="45720" marB="45720" anchor="ctr">
                    <a:solidFill>
                      <a:srgbClr val="0E2841"/>
                    </a:solidFill>
                  </a:tcPr>
                </a:tc>
                <a:tc>
                  <a:txBody>
                    <a:bodyPr wrap="square" lIns="47625" tIns="47625" rIns="47625" bIns="47625">
                      <a:normAutofit/>
                    </a:bodyPr>
                    <a:lstStyle/>
                    <a:p>
                      <a:pPr algn="l"/>
                      <a:r>
                        <a:rPr sz="1500" b="1">
                          <a:solidFill>
                            <a:srgbClr val="FFFFFF"/>
                          </a:solidFill>
                          <a:latin typeface="Arial"/>
                          <a:ea typeface="Arial"/>
                          <a:cs typeface="Arial"/>
                        </a:rPr>
                        <a:t>What it reveals</a:t>
                      </a:r>
                    </a:p>
                  </a:txBody>
                  <a:tcPr marL="91440" marR="91440" marT="45720" marB="45720" anchor="ctr">
                    <a:solidFill>
                      <a:srgbClr val="0E2841"/>
                    </a:solidFill>
                  </a:tcPr>
                </a:tc>
              </a:tr>
              <a:tr h="809625">
                <a:tc>
                  <a:txBody>
                    <a:bodyPr wrap="square" lIns="47625" tIns="47625" rIns="47625" bIns="47625">
                      <a:normAutofit/>
                    </a:bodyPr>
                    <a:lstStyle/>
                    <a:p>
                      <a:pPr algn="l"/>
                      <a:r>
                        <a:rPr sz="1500">
                          <a:solidFill>
                            <a:srgbClr val="172B3A"/>
                          </a:solidFill>
                          <a:latin typeface="Arial"/>
                          <a:ea typeface="Arial"/>
                          <a:cs typeface="Arial"/>
                        </a:rPr>
                        <a:t>File count, schema, row count, date span by city</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Confirm coverage and a consistent source layout</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Files, parameter-year rows, available years</a:t>
                      </a:r>
                    </a:p>
                  </a:txBody>
                  <a:tcPr marL="91440" marR="91440" marT="45720" marB="45720" anchor="ctr">
                    <a:solidFill>
                      <a:srgbClr val="FFFFFF"/>
                    </a:solidFill>
                  </a:tcPr>
                </a:tc>
              </a:tr>
              <a:tr h="809625">
                <a:tc>
                  <a:txBody>
                    <a:bodyPr wrap="square" lIns="47625" tIns="47625" rIns="47625" bIns="47625">
                      <a:normAutofit/>
                    </a:bodyPr>
                    <a:lstStyle/>
                    <a:p>
                      <a:pPr algn="l"/>
                      <a:r>
                        <a:rPr sz="1500">
                          <a:solidFill>
                            <a:srgbClr val="172B3A"/>
                          </a:solidFill>
                          <a:latin typeface="Arial"/>
                          <a:ea typeface="Arial"/>
                          <a:cs typeface="Arial"/>
                        </a:rPr>
                        <a:t>Columns, data types, missing count and percentage</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Find fields that need conversion or may be incomplete</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Null patterns and numeric/text types</a:t>
                      </a:r>
                    </a:p>
                  </a:txBody>
                  <a:tcPr marL="91440" marR="91440" marT="45720" marB="45720" anchor="ctr">
                    <a:solidFill>
                      <a:srgbClr val="EAF2F5"/>
                    </a:solidFill>
                  </a:tcPr>
                </a:tc>
              </a:tr>
              <a:tr h="723900">
                <a:tc>
                  <a:txBody>
                    <a:bodyPr wrap="square" lIns="47625" tIns="47625" rIns="47625" bIns="47625">
                      <a:normAutofit/>
                    </a:bodyPr>
                    <a:lstStyle/>
                    <a:p>
                      <a:pPr algn="l"/>
                      <a:r>
                        <a:rPr sz="1500">
                          <a:solidFill>
                            <a:srgbClr val="172B3A"/>
                          </a:solidFill>
                          <a:latin typeface="Arial"/>
                          <a:ea typeface="Arial"/>
                          <a:cs typeface="Arial"/>
                        </a:rPr>
                        <a:t>Exact duplicates and unique-value counts</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Check repeated records and identifier cardinality</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Duplicate rows and distinct values per field</a:t>
                      </a:r>
                    </a:p>
                  </a:txBody>
                  <a:tcPr marL="91440" marR="91440" marT="45720" marB="45720" anchor="ctr">
                    <a:solidFill>
                      <a:srgbClr val="FFFFFF"/>
                    </a:solidFill>
                  </a:tcPr>
                </a:tc>
              </a:tr>
              <a:tr h="723900">
                <a:tc>
                  <a:txBody>
                    <a:bodyPr wrap="square" lIns="47625" tIns="47625" rIns="47625" bIns="47625">
                      <a:normAutofit/>
                    </a:bodyPr>
                    <a:lstStyle/>
                    <a:p>
                      <a:pPr algn="l"/>
                      <a:r>
                        <a:rPr sz="1500">
                          <a:solidFill>
                            <a:srgbClr val="172B3A"/>
                          </a:solidFill>
                          <a:latin typeface="Arial"/>
                          <a:ea typeface="Arial"/>
                          <a:cs typeface="Arial"/>
                        </a:rPr>
                        <a:t>Parameter missingness and valid numeric ranges</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Understand whether parameter values are present and plausible</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Source-level coverage summaries</a:t>
                      </a:r>
                    </a:p>
                  </a:txBody>
                  <a:tcPr marL="91440" marR="91440" marT="45720" marB="45720" anchor="ctr">
                    <a:solidFill>
                      <a:srgbClr val="EAF2F5"/>
                    </a:solidFill>
                  </a:tcPr>
                </a:tc>
              </a:tr>
            </a:tbl>
          </a:graphicData>
        </a:graphic>
      </p:graphicFrame>
      <p:sp>
        <p:nvSpPr>
          <p:cNvPr id="7" name="profile-not-daily">
            <a:extLst xmlns:a="http://schemas.openxmlformats.org/drawingml/2006/main">
              <a:ext uri="{FF2B5EF4-FFF2-40B4-BE49-F238E27FC236}">
                <a16:creationId xmlns:a16="http://schemas.microsoft.com/office/drawing/2014/main" id="{514EE9F6-039F-4921-B8A4-2067FFCA410A}"/>
              </a:ext>
            </a:extLst>
          </p:cNvPr>
          <p:cNvSpPr>
            <a:spLocks xmlns:a="http://schemas.openxmlformats.org/drawingml/2006/main" noGrp="1"/>
          </p:cNvSpPr>
          <p:nvPr/>
        </p:nvSpPr>
        <p:spPr>
          <a:xfrm xmlns:a="http://schemas.openxmlformats.org/drawingml/2006/main">
            <a:off x="666750" y="5638800"/>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E97132"/>
                </a:solidFill>
                <a:latin typeface="Arial"/>
                <a:ea typeface="Arial"/>
                <a:cs typeface="Arial"/>
              </a:defRPr>
            </a:defPPr>
          </a:lstStyle>
          <a:p xmlns:a="http://schemas.openxmlformats.org/drawingml/2006/main">
            <a:pPr algn="l">
              <a:defRPr sz="1425" b="1" i="0">
                <a:solidFill>
                  <a:srgbClr val="E97132"/>
                </a:solidFill>
                <a:latin typeface="Arial"/>
                <a:ea typeface="Arial"/>
                <a:cs typeface="Arial"/>
              </a:defRPr>
            </a:pPr>
            <a:r>
              <a:rPr sz="1425" b="1" i="0">
                <a:solidFill>
                  <a:srgbClr val="E97132"/>
                </a:solidFill>
                <a:latin typeface="Arial"/>
                <a:ea typeface="Arial"/>
                <a:cs typeface="Arial"/>
              </a:rPr>
              <a:t>The profiling functions do not claim that every possible suspicious-value or between-city comparison was completed.</a:t>
            </a:r>
          </a:p>
        </p:txBody>
      </p:sp>
    </p:spTree>
    <p:extLst>
      <p:ext uri="{BB962C8B-B14F-4D97-AF65-F5344CB8AC3E}">
        <p14:creationId xmlns:p14="http://schemas.microsoft.com/office/powerpoint/2010/main" val="2023524802"/>
      </p:ext>
    </p:extLst>
  </p:cSld>
</p:sld>
</file>

<file path=ppt/slides/slide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F0650A4B-E274-4BEB-A0E0-37CA543D709D}"/>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DATA PROFILING</a:t>
            </a:r>
          </a:p>
        </p:txBody>
      </p:sp>
      <p:sp>
        <p:nvSpPr>
          <p:cNvPr id="2" name="slide-number">
            <a:extLst xmlns:a="http://schemas.openxmlformats.org/drawingml/2006/main">
              <a:ext uri="{FF2B5EF4-FFF2-40B4-BE49-F238E27FC236}">
                <a16:creationId xmlns:a16="http://schemas.microsoft.com/office/drawing/2014/main" id="{BEBD0B59-4B56-4AAF-A4AC-78277333A60D}"/>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09</a:t>
            </a:r>
          </a:p>
        </p:txBody>
      </p:sp>
      <p:sp>
        <p:nvSpPr>
          <p:cNvPr id="3" name="slide-title">
            <a:extLst xmlns:a="http://schemas.openxmlformats.org/drawingml/2006/main">
              <a:ext uri="{FF2B5EF4-FFF2-40B4-BE49-F238E27FC236}">
                <a16:creationId xmlns:a16="http://schemas.microsoft.com/office/drawing/2014/main" id="{6C3D50C5-4878-4AE7-92CB-3FE48748E5C5}"/>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Data Profiling: Findings from the Available Files</a:t>
            </a:r>
          </a:p>
        </p:txBody>
      </p:sp>
      <p:sp>
        <p:nvSpPr>
          <p:cNvPr id="4" name="header-rule">
            <a:extLst xmlns:a="http://schemas.openxmlformats.org/drawingml/2006/main">
              <a:ext uri="{FF2B5EF4-FFF2-40B4-BE49-F238E27FC236}">
                <a16:creationId xmlns:a16="http://schemas.microsoft.com/office/drawing/2014/main" id="{61158A73-8792-4A2F-B5E2-D18EF1199EE3}"/>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4426A769-AA74-4D34-AD23-8861BC827826}"/>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repository has a complete monthly record for each processed city, with limited gaps in three source fields.</a:t>
            </a:r>
          </a:p>
        </p:txBody>
      </p:sp>
      <p:sp>
        <p:nvSpPr>
          <p:cNvPr id="6" name="stat-point-level-input-files">
            <a:extLst xmlns:a="http://schemas.openxmlformats.org/drawingml/2006/main">
              <a:ext uri="{FF2B5EF4-FFF2-40B4-BE49-F238E27FC236}">
                <a16:creationId xmlns:a16="http://schemas.microsoft.com/office/drawing/2014/main" id="{FF433826-314F-4437-91F2-D6BE91F51AB0}"/>
              </a:ext>
            </a:extLst>
          </p:cNvPr>
          <p:cNvSpPr>
            <a:spLocks xmlns:a="http://schemas.openxmlformats.org/drawingml/2006/main" noGrp="1"/>
          </p:cNvSpPr>
          <p:nvPr/>
        </p:nvSpPr>
        <p:spPr>
          <a:xfrm xmlns:a="http://schemas.openxmlformats.org/drawingml/2006/main">
            <a:off x="685800" y="1762125"/>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i="0">
                <a:solidFill>
                  <a:srgbClr val="156082"/>
                </a:solidFill>
                <a:latin typeface="Arial"/>
                <a:ea typeface="Arial"/>
                <a:cs typeface="Arial"/>
              </a:defRPr>
            </a:defPPr>
          </a:lstStyle>
          <a:p xmlns:a="http://schemas.openxmlformats.org/drawingml/2006/main">
            <a:pPr algn="l">
              <a:defRPr sz="4350" b="1" i="0">
                <a:solidFill>
                  <a:srgbClr val="156082"/>
                </a:solidFill>
                <a:latin typeface="Arial"/>
                <a:ea typeface="Arial"/>
                <a:cs typeface="Arial"/>
              </a:defRPr>
            </a:pPr>
            <a:r>
              <a:rPr sz="4350" b="1" i="0">
                <a:solidFill>
                  <a:srgbClr val="156082"/>
                </a:solidFill>
                <a:latin typeface="Arial"/>
                <a:ea typeface="Arial"/>
                <a:cs typeface="Arial"/>
              </a:rPr>
              <a:t>89</a:t>
            </a:r>
          </a:p>
        </p:txBody>
      </p:sp>
      <p:sp>
        <p:nvSpPr>
          <p:cNvPr id="7" name="stat-label-point-level-input-files">
            <a:extLst xmlns:a="http://schemas.openxmlformats.org/drawingml/2006/main">
              <a:ext uri="{FF2B5EF4-FFF2-40B4-BE49-F238E27FC236}">
                <a16:creationId xmlns:a16="http://schemas.microsoft.com/office/drawing/2014/main" id="{C5CA4F84-4279-4E4E-9B37-6C2D684BF357}"/>
              </a:ext>
            </a:extLst>
          </p:cNvPr>
          <p:cNvSpPr>
            <a:spLocks xmlns:a="http://schemas.openxmlformats.org/drawingml/2006/main" noGrp="1"/>
          </p:cNvSpPr>
          <p:nvPr/>
        </p:nvSpPr>
        <p:spPr>
          <a:xfrm xmlns:a="http://schemas.openxmlformats.org/drawingml/2006/main">
            <a:off x="685800" y="24574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point-level input files</a:t>
            </a:r>
          </a:p>
        </p:txBody>
      </p:sp>
      <p:sp>
        <p:nvSpPr>
          <p:cNvPr id="8" name="stat-parameter-year-source-rows">
            <a:extLst xmlns:a="http://schemas.openxmlformats.org/drawingml/2006/main">
              <a:ext uri="{FF2B5EF4-FFF2-40B4-BE49-F238E27FC236}">
                <a16:creationId xmlns:a16="http://schemas.microsoft.com/office/drawing/2014/main" id="{5B298789-0BAF-4D75-8F98-5CF466EE4A8B}"/>
              </a:ext>
            </a:extLst>
          </p:cNvPr>
          <p:cNvSpPr>
            <a:spLocks xmlns:a="http://schemas.openxmlformats.org/drawingml/2006/main" noGrp="1"/>
          </p:cNvSpPr>
          <p:nvPr/>
        </p:nvSpPr>
        <p:spPr>
          <a:xfrm xmlns:a="http://schemas.openxmlformats.org/drawingml/2006/main">
            <a:off x="3981450" y="17621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i="0">
                <a:solidFill>
                  <a:srgbClr val="E97132"/>
                </a:solidFill>
                <a:latin typeface="Arial"/>
                <a:ea typeface="Arial"/>
                <a:cs typeface="Arial"/>
              </a:defRPr>
            </a:defPPr>
          </a:lstStyle>
          <a:p xmlns:a="http://schemas.openxmlformats.org/drawingml/2006/main">
            <a:pPr algn="l">
              <a:defRPr sz="4350" b="1" i="0">
                <a:solidFill>
                  <a:srgbClr val="E97132"/>
                </a:solidFill>
                <a:latin typeface="Arial"/>
                <a:ea typeface="Arial"/>
                <a:cs typeface="Arial"/>
              </a:defRPr>
            </a:pPr>
            <a:r>
              <a:rPr sz="4350" b="1" i="0">
                <a:solidFill>
                  <a:srgbClr val="E97132"/>
                </a:solidFill>
                <a:latin typeface="Arial"/>
                <a:ea typeface="Arial"/>
                <a:cs typeface="Arial"/>
              </a:rPr>
              <a:t>34,710</a:t>
            </a:r>
          </a:p>
        </p:txBody>
      </p:sp>
      <p:sp>
        <p:nvSpPr>
          <p:cNvPr id="9" name="stat-label-parameter-year-source-rows">
            <a:extLst xmlns:a="http://schemas.openxmlformats.org/drawingml/2006/main">
              <a:ext uri="{FF2B5EF4-FFF2-40B4-BE49-F238E27FC236}">
                <a16:creationId xmlns:a16="http://schemas.microsoft.com/office/drawing/2014/main" id="{51685438-42A1-4783-BB55-8F31ADCB9CCB}"/>
              </a:ext>
            </a:extLst>
          </p:cNvPr>
          <p:cNvSpPr>
            <a:spLocks xmlns:a="http://schemas.openxmlformats.org/drawingml/2006/main" noGrp="1"/>
          </p:cNvSpPr>
          <p:nvPr/>
        </p:nvSpPr>
        <p:spPr>
          <a:xfrm xmlns:a="http://schemas.openxmlformats.org/drawingml/2006/main">
            <a:off x="3981450" y="24574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parameter-year source rows</a:t>
            </a:r>
          </a:p>
        </p:txBody>
      </p:sp>
      <p:sp>
        <p:nvSpPr>
          <p:cNvPr id="10" name="stat-parameters-in-current-raw-file-inventory">
            <a:extLst xmlns:a="http://schemas.openxmlformats.org/drawingml/2006/main">
              <a:ext uri="{FF2B5EF4-FFF2-40B4-BE49-F238E27FC236}">
                <a16:creationId xmlns:a16="http://schemas.microsoft.com/office/drawing/2014/main" id="{5BB41762-55DE-4CD8-A8E6-CC3CD810069B}"/>
              </a:ext>
            </a:extLst>
          </p:cNvPr>
          <p:cNvSpPr>
            <a:spLocks xmlns:a="http://schemas.openxmlformats.org/drawingml/2006/main" noGrp="1"/>
          </p:cNvSpPr>
          <p:nvPr/>
        </p:nvSpPr>
        <p:spPr>
          <a:xfrm xmlns:a="http://schemas.openxmlformats.org/drawingml/2006/main">
            <a:off x="8334375" y="17621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350" b="1" i="0">
                <a:solidFill>
                  <a:srgbClr val="196B24"/>
                </a:solidFill>
                <a:latin typeface="Arial"/>
                <a:ea typeface="Arial"/>
                <a:cs typeface="Arial"/>
              </a:defRPr>
            </a:defPPr>
          </a:lstStyle>
          <a:p xmlns:a="http://schemas.openxmlformats.org/drawingml/2006/main">
            <a:pPr algn="l">
              <a:defRPr sz="4350" b="1" i="0">
                <a:solidFill>
                  <a:srgbClr val="196B24"/>
                </a:solidFill>
                <a:latin typeface="Arial"/>
                <a:ea typeface="Arial"/>
                <a:cs typeface="Arial"/>
              </a:defRPr>
            </a:pPr>
            <a:r>
              <a:rPr sz="4350" b="1" i="0">
                <a:solidFill>
                  <a:srgbClr val="196B24"/>
                </a:solidFill>
                <a:latin typeface="Arial"/>
                <a:ea typeface="Arial"/>
                <a:cs typeface="Arial"/>
              </a:rPr>
              <a:t>15</a:t>
            </a:r>
          </a:p>
        </p:txBody>
      </p:sp>
      <p:sp>
        <p:nvSpPr>
          <p:cNvPr id="11" name="stat-label-parameters-in-current-raw-file-inventory">
            <a:extLst xmlns:a="http://schemas.openxmlformats.org/drawingml/2006/main">
              <a:ext uri="{FF2B5EF4-FFF2-40B4-BE49-F238E27FC236}">
                <a16:creationId xmlns:a16="http://schemas.microsoft.com/office/drawing/2014/main" id="{1734CC13-BBD8-44BF-89A1-5225E9259029}"/>
              </a:ext>
            </a:extLst>
          </p:cNvPr>
          <p:cNvSpPr>
            <a:spLocks xmlns:a="http://schemas.openxmlformats.org/drawingml/2006/main" noGrp="1"/>
          </p:cNvSpPr>
          <p:nvPr/>
        </p:nvSpPr>
        <p:spPr>
          <a:xfrm xmlns:a="http://schemas.openxmlformats.org/drawingml/2006/main">
            <a:off x="8334375" y="24574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09"/>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parameters in current raw-file inventory</a:t>
            </a:r>
          </a:p>
        </p:txBody>
      </p:sp>
      <p:graphicFrame>
        <p:nvGraphicFramePr>
          <p:cNvPr id="12" name="">
            <a:extLst xmlns:a="http://schemas.openxmlformats.org/drawingml/2006/main">
              <a:ext uri="{FF2B5EF4-FFF2-40B4-BE49-F238E27FC236}">
                <a16:creationId xmlns:a16="http://schemas.microsoft.com/office/drawing/2014/main" id="{E85311BF-876A-4D19-9D3C-F8E9EEABA455}"/>
              </a:ext>
            </a:extLst>
          </p:cNvPr>
          <p:cNvGraphicFramePr/>
          <p:nvPr/>
        </p:nvGraphicFramePr>
        <p:xfrm>
          <a:off xmlns:a="http://schemas.openxmlformats.org/drawingml/2006/main" x="685800" y="3429000"/>
          <a:ext xmlns:a="http://schemas.openxmlformats.org/drawingml/2006/main" cx="10572750" cy="2628900"/>
        </p:xfrm>
        <a:graphic xmlns:a="http://schemas.openxmlformats.org/drawingml/2006/main">
          <a:graphicData uri="http://schemas.openxmlformats.org/drawingml/2006/table">
            <a:tbl>
              <a:tblPr/>
              <a:tblGrid>
                <a:gridCol w="3619500"/>
                <a:gridCol w="6953250"/>
              </a:tblGrid>
              <a:tr h="419100">
                <a:tc>
                  <a:txBody>
                    <a:bodyPr wrap="square" lIns="47625" tIns="47625" rIns="47625" bIns="47625">
                      <a:normAutofit/>
                    </a:bodyPr>
                    <a:lstStyle/>
                    <a:p>
                      <a:pPr algn="l"/>
                      <a:r>
                        <a:rPr sz="1575" b="1">
                          <a:solidFill>
                            <a:srgbClr val="FFFFFF"/>
                          </a:solidFill>
                          <a:latin typeface="Arial"/>
                          <a:ea typeface="Arial"/>
                          <a:cs typeface="Arial"/>
                        </a:rPr>
                        <a:t>Profile finding</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Observed result</a:t>
                      </a:r>
                    </a:p>
                  </a:txBody>
                  <a:tcPr marL="91440" marR="91440" marT="45720" marB="45720" anchor="ctr">
                    <a:solidFill>
                      <a:srgbClr val="0E2841"/>
                    </a:solidFill>
                  </a:tcPr>
                </a:tc>
              </a:tr>
              <a:tr h="419100">
                <a:tc>
                  <a:txBody>
                    <a:bodyPr wrap="square" lIns="47625" tIns="47625" rIns="47625" bIns="47625">
                      <a:normAutofit/>
                    </a:bodyPr>
                    <a:lstStyle/>
                    <a:p>
                      <a:pPr algn="l"/>
                      <a:r>
                        <a:rPr sz="1500">
                          <a:solidFill>
                            <a:srgbClr val="172B3A"/>
                          </a:solidFill>
                          <a:latin typeface="Arial"/>
                          <a:ea typeface="Arial"/>
                          <a:cs typeface="Arial"/>
                        </a:rPr>
                        <a:t>Date coverage</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January 2000 to December 2025</a:t>
                      </a:r>
                    </a:p>
                  </a:txBody>
                  <a:tcPr marL="91440" marR="91440" marT="45720" marB="45720" anchor="ctr">
                    <a:solidFill>
                      <a:srgbClr val="FFFFFF"/>
                    </a:solidFill>
                  </a:tcPr>
                </a:tc>
              </a:tr>
              <a:tr h="419100">
                <a:tc>
                  <a:txBody>
                    <a:bodyPr wrap="square" lIns="47625" tIns="47625" rIns="47625" bIns="47625">
                      <a:normAutofit/>
                    </a:bodyPr>
                    <a:lstStyle/>
                    <a:p>
                      <a:pPr algn="l"/>
                      <a:r>
                        <a:rPr sz="1500">
                          <a:solidFill>
                            <a:srgbClr val="172B3A"/>
                          </a:solidFill>
                          <a:latin typeface="Arial"/>
                          <a:ea typeface="Arial"/>
                          <a:cs typeface="Arial"/>
                        </a:rPr>
                        <a:t>Schema / parameter-year rows</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89 files; 390 source rows per file</a:t>
                      </a:r>
                    </a:p>
                  </a:txBody>
                  <a:tcPr marL="91440" marR="91440" marT="45720" marB="45720" anchor="ctr">
                    <a:solidFill>
                      <a:srgbClr val="EAF2F5"/>
                    </a:solidFill>
                  </a:tcPr>
                </a:tc>
              </a:tr>
              <a:tr h="419100">
                <a:tc>
                  <a:txBody>
                    <a:bodyPr wrap="square" lIns="47625" tIns="47625" rIns="47625" bIns="47625">
                      <a:normAutofit/>
                    </a:bodyPr>
                    <a:lstStyle/>
                    <a:p>
                      <a:pPr algn="l"/>
                      <a:r>
                        <a:rPr sz="1500">
                          <a:solidFill>
                            <a:srgbClr val="172B3A"/>
                          </a:solidFill>
                          <a:latin typeface="Arial"/>
                          <a:ea typeface="Arial"/>
                          <a:cs typeface="Arial"/>
                        </a:rPr>
                        <a:t>Exact duplicate records</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0 detected in the reported input profile</a:t>
                      </a:r>
                    </a:p>
                  </a:txBody>
                  <a:tcPr marL="91440" marR="91440" marT="45720" marB="45720" anchor="ctr">
                    <a:solidFill>
                      <a:srgbClr val="FFFFFF"/>
                    </a:solidFill>
                  </a:tcPr>
                </a:tc>
              </a:tr>
              <a:tr h="495300">
                <a:tc>
                  <a:txBody>
                    <a:bodyPr wrap="square" lIns="47625" tIns="47625" rIns="47625" bIns="47625">
                      <a:normAutofit/>
                    </a:bodyPr>
                    <a:lstStyle/>
                    <a:p>
                      <a:pPr algn="l"/>
                      <a:r>
                        <a:rPr sz="1500">
                          <a:solidFill>
                            <a:srgbClr val="172B3A"/>
                          </a:solidFill>
                          <a:latin typeface="Arial"/>
                          <a:ea typeface="Arial"/>
                          <a:cs typeface="Arial"/>
                        </a:rPr>
                        <a:t>Point-month missing values</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3 parameters have 1,068 missing of 27,768 values (3.85%)</a:t>
                      </a:r>
                    </a:p>
                  </a:txBody>
                  <a:tcPr marL="91440" marR="91440" marT="45720" marB="45720" anchor="ctr">
                    <a:solidFill>
                      <a:srgbClr val="EAF2F5"/>
                    </a:solidFill>
                  </a:tcPr>
                </a:tc>
              </a:tr>
              <a:tr h="419100">
                <a:tc>
                  <a:txBody>
                    <a:bodyPr wrap="square" lIns="47625" tIns="47625" rIns="47625" bIns="47625">
                      <a:normAutofit/>
                    </a:bodyPr>
                    <a:lstStyle/>
                    <a:p>
                      <a:pPr algn="l"/>
                      <a:r>
                        <a:rPr sz="1500">
                          <a:solidFill>
                            <a:srgbClr val="172B3A"/>
                          </a:solidFill>
                          <a:latin typeface="Arial"/>
                          <a:ea typeface="Arial"/>
                          <a:cs typeface="Arial"/>
                        </a:rPr>
                        <a:t>City-month coverage</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312 months per city; 2,496 rows total</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949292357"/>
      </p:ext>
    </p:extLst>
  </p:cSld>
</p:sld>
</file>

<file path=ppt/slides/slide1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2" name="section-label">
            <a:extLst xmlns:a="http://schemas.openxmlformats.org/drawingml/2006/main">
              <a:ext uri="{FF2B5EF4-FFF2-40B4-BE49-F238E27FC236}">
                <a16:creationId xmlns:a16="http://schemas.microsoft.com/office/drawing/2014/main" id="{B452DA40-8CC0-4DF2-B998-6A0045F96D22}"/>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DATA CLEANING</a:t>
            </a:r>
          </a:p>
        </p:txBody>
      </p:sp>
      <p:sp>
        <p:nvSpPr>
          <p:cNvPr id="2" name="slide-number">
            <a:extLst xmlns:a="http://schemas.openxmlformats.org/drawingml/2006/main">
              <a:ext uri="{FF2B5EF4-FFF2-40B4-BE49-F238E27FC236}">
                <a16:creationId xmlns:a16="http://schemas.microsoft.com/office/drawing/2014/main" id="{1A042B56-0670-4D60-933D-DE874F5222FD}"/>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10</a:t>
            </a:r>
          </a:p>
        </p:txBody>
      </p:sp>
      <p:sp>
        <p:nvSpPr>
          <p:cNvPr id="3" name="slide-title">
            <a:extLst xmlns:a="http://schemas.openxmlformats.org/drawingml/2006/main">
              <a:ext uri="{FF2B5EF4-FFF2-40B4-BE49-F238E27FC236}">
                <a16:creationId xmlns:a16="http://schemas.microsoft.com/office/drawing/2014/main" id="{257D2CA6-3B8A-4F9F-9A21-62D7D9747A50}"/>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Data Cleaning: Evidence-Based Rules</a:t>
            </a:r>
          </a:p>
        </p:txBody>
      </p:sp>
      <p:sp>
        <p:nvSpPr>
          <p:cNvPr id="4" name="header-rule">
            <a:extLst xmlns:a="http://schemas.openxmlformats.org/drawingml/2006/main">
              <a:ext uri="{FF2B5EF4-FFF2-40B4-BE49-F238E27FC236}">
                <a16:creationId xmlns:a16="http://schemas.microsoft.com/office/drawing/2014/main" id="{509989CC-92B2-4D08-8BF0-A3799EF7F60C}"/>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38138A11-C77A-438D-9DCD-36A342D6E075}"/>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Cleaning corrects known representations while keeping missing and extreme climate values honest.</a:t>
            </a:r>
          </a:p>
        </p:txBody>
      </p:sp>
      <p:sp>
        <p:nvSpPr>
          <p:cNvPr id="6" name="clean-rule-0-number">
            <a:extLst xmlns:a="http://schemas.openxmlformats.org/drawingml/2006/main">
              <a:ext uri="{FF2B5EF4-FFF2-40B4-BE49-F238E27FC236}">
                <a16:creationId xmlns:a16="http://schemas.microsoft.com/office/drawing/2014/main" id="{ED962643-61CA-48D8-8191-C3E6C89C3CB5}"/>
              </a:ext>
            </a:extLst>
          </p:cNvPr>
          <p:cNvSpPr>
            <a:spLocks xmlns:a="http://schemas.openxmlformats.org/drawingml/2006/main" noGrp="1"/>
          </p:cNvSpPr>
          <p:nvPr/>
        </p:nvSpPr>
        <p:spPr>
          <a:xfrm xmlns:a="http://schemas.openxmlformats.org/drawingml/2006/main">
            <a:off x="723900" y="17907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i="0">
                <a:solidFill>
                  <a:srgbClr val="156082"/>
                </a:solidFill>
                <a:latin typeface="Arial"/>
                <a:ea typeface="Arial"/>
                <a:cs typeface="Arial"/>
              </a:defRPr>
            </a:defPPr>
          </a:lstStyle>
          <a:p xmlns:a="http://schemas.openxmlformats.org/drawingml/2006/main">
            <a:pPr algn="l">
              <a:defRPr sz="1950" b="1" i="0">
                <a:solidFill>
                  <a:srgbClr val="156082"/>
                </a:solidFill>
                <a:latin typeface="Arial"/>
                <a:ea typeface="Arial"/>
                <a:cs typeface="Arial"/>
              </a:defRPr>
            </a:pPr>
            <a:r>
              <a:rPr sz="1950" b="1" i="0">
                <a:solidFill>
                  <a:srgbClr val="156082"/>
                </a:solidFill>
                <a:latin typeface="Arial"/>
                <a:ea typeface="Arial"/>
                <a:cs typeface="Arial"/>
              </a:rPr>
              <a:t>01</a:t>
            </a:r>
          </a:p>
        </p:txBody>
      </p:sp>
      <p:sp>
        <p:nvSpPr>
          <p:cNvPr id="7" name="clean-rule-0-title">
            <a:extLst xmlns:a="http://schemas.openxmlformats.org/drawingml/2006/main">
              <a:ext uri="{FF2B5EF4-FFF2-40B4-BE49-F238E27FC236}">
                <a16:creationId xmlns:a16="http://schemas.microsoft.com/office/drawing/2014/main" id="{6153C6A6-B183-4FB7-A0E5-41AD6C56E024}"/>
              </a:ext>
            </a:extLst>
          </p:cNvPr>
          <p:cNvSpPr>
            <a:spLocks xmlns:a="http://schemas.openxmlformats.org/drawingml/2006/main" noGrp="1"/>
          </p:cNvSpPr>
          <p:nvPr/>
        </p:nvSpPr>
        <p:spPr>
          <a:xfrm xmlns:a="http://schemas.openxmlformats.org/drawingml/2006/main">
            <a:off x="1333500" y="17907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Labels and identifiers</a:t>
            </a:r>
          </a:p>
        </p:txBody>
      </p:sp>
      <p:sp>
        <p:nvSpPr>
          <p:cNvPr id="8" name="clean-rule-0-detail">
            <a:extLst xmlns:a="http://schemas.openxmlformats.org/drawingml/2006/main">
              <a:ext uri="{FF2B5EF4-FFF2-40B4-BE49-F238E27FC236}">
                <a16:creationId xmlns:a16="http://schemas.microsoft.com/office/drawing/2014/main" id="{7F24E2BB-C381-48A4-B25E-48B85EA6D130}"/>
              </a:ext>
            </a:extLst>
          </p:cNvPr>
          <p:cNvSpPr>
            <a:spLocks xmlns:a="http://schemas.openxmlformats.org/drawingml/2006/main" noGrp="1"/>
          </p:cNvSpPr>
          <p:nvPr/>
        </p:nvSpPr>
        <p:spPr>
          <a:xfrm xmlns:a="http://schemas.openxmlformats.org/drawingml/2006/main">
            <a:off x="4095750" y="1790700"/>
            <a:ext cx="708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172B3A"/>
                </a:solidFill>
                <a:latin typeface="Arial"/>
                <a:ea typeface="Arial"/>
                <a:cs typeface="Arial"/>
              </a:defRPr>
            </a:defPPr>
          </a:lstStyle>
          <a:p xmlns:a="http://schemas.openxmlformats.org/drawingml/2006/main">
            <a:pPr algn="l">
              <a:defRPr sz="1575" b="0" i="0">
                <a:solidFill>
                  <a:srgbClr val="172B3A"/>
                </a:solidFill>
                <a:latin typeface="Arial"/>
                <a:ea typeface="Arial"/>
                <a:cs typeface="Arial"/>
              </a:defRPr>
            </a:pPr>
            <a:r>
              <a:rPr sz="1575" b="0" i="0">
                <a:solidFill>
                  <a:srgbClr val="172B3A"/>
                </a:solidFill>
                <a:latin typeface="Arial"/>
                <a:ea typeface="Arial"/>
                <a:cs typeface="Arial"/>
              </a:rPr>
              <a:t>Trimmed and uppercased parameter labels. Normalized ahemdabad and bhubhaneswar filename spellings.</a:t>
            </a:r>
          </a:p>
        </p:txBody>
      </p:sp>
      <p:sp>
        <p:nvSpPr>
          <p:cNvPr id="9" name="clean-rule-0-divider">
            <a:extLst xmlns:a="http://schemas.openxmlformats.org/drawingml/2006/main">
              <a:ext uri="{FF2B5EF4-FFF2-40B4-BE49-F238E27FC236}">
                <a16:creationId xmlns:a16="http://schemas.microsoft.com/office/drawing/2014/main" id="{FC44C86A-BE38-4FF9-A396-54DB9AC31AD1}"/>
              </a:ext>
            </a:extLst>
          </p:cNvPr>
          <p:cNvSpPr>
            <a:spLocks xmlns:a="http://schemas.openxmlformats.org/drawingml/2006/main" noGrp="1"/>
          </p:cNvSpPr>
          <p:nvPr/>
        </p:nvSpPr>
        <p:spPr>
          <a:xfrm xmlns:a="http://schemas.openxmlformats.org/drawingml/2006/main">
            <a:off x="1333500" y="2628900"/>
            <a:ext cx="9867900" cy="0"/>
          </a:xfrm>
          <a:prstGeom xmlns:a="http://schemas.openxmlformats.org/drawingml/2006/main" prst="line">
            <a:avLst/>
          </a:prstGeom>
          <a:noFill xmlns:a="http://schemas.openxmlformats.org/drawingml/2006/main"/>
          <a:ln xmlns:a="http://schemas.openxmlformats.org/drawingml/2006/main" w="9525">
            <a:solidFill>
              <a:srgbClr val="CCD6DA"/>
            </a:solidFill>
            <a:prstDash val="solid"/>
          </a:ln>
        </p:spPr>
      </p:sp>
      <p:sp>
        <p:nvSpPr>
          <p:cNvPr id="10" name="clean-rule-1-number">
            <a:extLst xmlns:a="http://schemas.openxmlformats.org/drawingml/2006/main">
              <a:ext uri="{FF2B5EF4-FFF2-40B4-BE49-F238E27FC236}">
                <a16:creationId xmlns:a16="http://schemas.microsoft.com/office/drawing/2014/main" id="{04B98087-461E-44E6-8499-DE63250E8607}"/>
              </a:ext>
            </a:extLst>
          </p:cNvPr>
          <p:cNvSpPr>
            <a:spLocks xmlns:a="http://schemas.openxmlformats.org/drawingml/2006/main" noGrp="1"/>
          </p:cNvSpPr>
          <p:nvPr/>
        </p:nvSpPr>
        <p:spPr>
          <a:xfrm xmlns:a="http://schemas.openxmlformats.org/drawingml/2006/main">
            <a:off x="723900" y="280035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i="0">
                <a:solidFill>
                  <a:srgbClr val="156082"/>
                </a:solidFill>
                <a:latin typeface="Arial"/>
                <a:ea typeface="Arial"/>
                <a:cs typeface="Arial"/>
              </a:defRPr>
            </a:defPPr>
          </a:lstStyle>
          <a:p xmlns:a="http://schemas.openxmlformats.org/drawingml/2006/main">
            <a:pPr algn="l">
              <a:defRPr sz="1950" b="1" i="0">
                <a:solidFill>
                  <a:srgbClr val="156082"/>
                </a:solidFill>
                <a:latin typeface="Arial"/>
                <a:ea typeface="Arial"/>
                <a:cs typeface="Arial"/>
              </a:defRPr>
            </a:pPr>
            <a:r>
              <a:rPr sz="1950" b="1" i="0">
                <a:solidFill>
                  <a:srgbClr val="156082"/>
                </a:solidFill>
                <a:latin typeface="Arial"/>
                <a:ea typeface="Arial"/>
                <a:cs typeface="Arial"/>
              </a:rPr>
              <a:t>02</a:t>
            </a:r>
          </a:p>
        </p:txBody>
      </p:sp>
      <p:sp>
        <p:nvSpPr>
          <p:cNvPr id="11" name="clean-rule-1-title">
            <a:extLst xmlns:a="http://schemas.openxmlformats.org/drawingml/2006/main">
              <a:ext uri="{FF2B5EF4-FFF2-40B4-BE49-F238E27FC236}">
                <a16:creationId xmlns:a16="http://schemas.microsoft.com/office/drawing/2014/main" id="{B5CBCE88-AA02-4895-941C-DB65E6C45A4E}"/>
              </a:ext>
            </a:extLst>
          </p:cNvPr>
          <p:cNvSpPr>
            <a:spLocks xmlns:a="http://schemas.openxmlformats.org/drawingml/2006/main" noGrp="1"/>
          </p:cNvSpPr>
          <p:nvPr/>
        </p:nvSpPr>
        <p:spPr>
          <a:xfrm xmlns:a="http://schemas.openxmlformats.org/drawingml/2006/main">
            <a:off x="1333500" y="280035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Types and dates</a:t>
            </a:r>
          </a:p>
        </p:txBody>
      </p:sp>
      <p:sp>
        <p:nvSpPr>
          <p:cNvPr id="12" name="clean-rule-1-detail">
            <a:extLst xmlns:a="http://schemas.openxmlformats.org/drawingml/2006/main">
              <a:ext uri="{FF2B5EF4-FFF2-40B4-BE49-F238E27FC236}">
                <a16:creationId xmlns:a16="http://schemas.microsoft.com/office/drawing/2014/main" id="{855173A8-35CC-4269-974A-0587FC56A021}"/>
              </a:ext>
            </a:extLst>
          </p:cNvPr>
          <p:cNvSpPr>
            <a:spLocks xmlns:a="http://schemas.openxmlformats.org/drawingml/2006/main" noGrp="1"/>
          </p:cNvSpPr>
          <p:nvPr/>
        </p:nvSpPr>
        <p:spPr>
          <a:xfrm xmlns:a="http://schemas.openxmlformats.org/drawingml/2006/main">
            <a:off x="4095750" y="2800350"/>
            <a:ext cx="708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172B3A"/>
                </a:solidFill>
                <a:latin typeface="Arial"/>
                <a:ea typeface="Arial"/>
                <a:cs typeface="Arial"/>
              </a:defRPr>
            </a:defPPr>
          </a:lstStyle>
          <a:p xmlns:a="http://schemas.openxmlformats.org/drawingml/2006/main">
            <a:pPr algn="l">
              <a:defRPr sz="1575" b="0" i="0">
                <a:solidFill>
                  <a:srgbClr val="172B3A"/>
                </a:solidFill>
                <a:latin typeface="Arial"/>
                <a:ea typeface="Arial"/>
                <a:cs typeface="Arial"/>
              </a:defRPr>
            </a:pPr>
            <a:r>
              <a:rPr sz="1575" b="0" i="0">
                <a:solidFill>
                  <a:srgbClr val="172B3A"/>
                </a:solidFill>
                <a:latin typeface="Arial"/>
                <a:ea typeface="Arial"/>
                <a:cs typeface="Arial"/>
              </a:rPr>
              <a:t>Converted year and monthly values to numeric types, then parsed month-start dates.</a:t>
            </a:r>
          </a:p>
        </p:txBody>
      </p:sp>
      <p:sp>
        <p:nvSpPr>
          <p:cNvPr id="13" name="clean-rule-1-divider">
            <a:extLst xmlns:a="http://schemas.openxmlformats.org/drawingml/2006/main">
              <a:ext uri="{FF2B5EF4-FFF2-40B4-BE49-F238E27FC236}">
                <a16:creationId xmlns:a16="http://schemas.microsoft.com/office/drawing/2014/main" id="{BBCE7435-BBD0-4B16-A75A-EDA88929E221}"/>
              </a:ext>
            </a:extLst>
          </p:cNvPr>
          <p:cNvSpPr>
            <a:spLocks xmlns:a="http://schemas.openxmlformats.org/drawingml/2006/main" noGrp="1"/>
          </p:cNvSpPr>
          <p:nvPr/>
        </p:nvSpPr>
        <p:spPr>
          <a:xfrm xmlns:a="http://schemas.openxmlformats.org/drawingml/2006/main">
            <a:off x="1333500" y="3638550"/>
            <a:ext cx="9867900" cy="0"/>
          </a:xfrm>
          <a:prstGeom xmlns:a="http://schemas.openxmlformats.org/drawingml/2006/main" prst="line">
            <a:avLst/>
          </a:prstGeom>
          <a:noFill xmlns:a="http://schemas.openxmlformats.org/drawingml/2006/main"/>
          <a:ln xmlns:a="http://schemas.openxmlformats.org/drawingml/2006/main" w="9525">
            <a:solidFill>
              <a:srgbClr val="CCD6DA"/>
            </a:solidFill>
            <a:prstDash val="solid"/>
          </a:ln>
        </p:spPr>
      </p:sp>
      <p:sp>
        <p:nvSpPr>
          <p:cNvPr id="14" name="clean-rule-2-number">
            <a:extLst xmlns:a="http://schemas.openxmlformats.org/drawingml/2006/main">
              <a:ext uri="{FF2B5EF4-FFF2-40B4-BE49-F238E27FC236}">
                <a16:creationId xmlns:a16="http://schemas.microsoft.com/office/drawing/2014/main" id="{216EF3B3-4050-4014-8AE9-A139186B6572}"/>
              </a:ext>
            </a:extLst>
          </p:cNvPr>
          <p:cNvSpPr>
            <a:spLocks xmlns:a="http://schemas.openxmlformats.org/drawingml/2006/main" noGrp="1"/>
          </p:cNvSpPr>
          <p:nvPr/>
        </p:nvSpPr>
        <p:spPr>
          <a:xfrm xmlns:a="http://schemas.openxmlformats.org/drawingml/2006/main">
            <a:off x="723900" y="38100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i="0">
                <a:solidFill>
                  <a:srgbClr val="E97132"/>
                </a:solidFill>
                <a:latin typeface="Arial"/>
                <a:ea typeface="Arial"/>
                <a:cs typeface="Arial"/>
              </a:defRPr>
            </a:defPPr>
          </a:lstStyle>
          <a:p xmlns:a="http://schemas.openxmlformats.org/drawingml/2006/main">
            <a:pPr algn="l">
              <a:defRPr sz="1950" b="1" i="0">
                <a:solidFill>
                  <a:srgbClr val="E97132"/>
                </a:solidFill>
                <a:latin typeface="Arial"/>
                <a:ea typeface="Arial"/>
                <a:cs typeface="Arial"/>
              </a:defRPr>
            </a:pPr>
            <a:r>
              <a:rPr sz="1950" b="1" i="0">
                <a:solidFill>
                  <a:srgbClr val="E97132"/>
                </a:solidFill>
                <a:latin typeface="Arial"/>
                <a:ea typeface="Arial"/>
                <a:cs typeface="Arial"/>
              </a:rPr>
              <a:t>03</a:t>
            </a:r>
          </a:p>
        </p:txBody>
      </p:sp>
      <p:sp>
        <p:nvSpPr>
          <p:cNvPr id="15" name="clean-rule-2-title">
            <a:extLst xmlns:a="http://schemas.openxmlformats.org/drawingml/2006/main">
              <a:ext uri="{FF2B5EF4-FFF2-40B4-BE49-F238E27FC236}">
                <a16:creationId xmlns:a16="http://schemas.microsoft.com/office/drawing/2014/main" id="{4D8F03AD-42E7-49C6-AD31-E2F5CE774E25}"/>
              </a:ext>
            </a:extLst>
          </p:cNvPr>
          <p:cNvSpPr>
            <a:spLocks xmlns:a="http://schemas.openxmlformats.org/drawingml/2006/main" noGrp="1"/>
          </p:cNvSpPr>
          <p:nvPr/>
        </p:nvSpPr>
        <p:spPr>
          <a:xfrm xmlns:a="http://schemas.openxmlformats.org/drawingml/2006/main">
            <a:off x="1333500" y="38100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Missing sentinel</a:t>
            </a:r>
          </a:p>
        </p:txBody>
      </p:sp>
      <p:sp>
        <p:nvSpPr>
          <p:cNvPr id="16" name="clean-rule-2-detail">
            <a:extLst xmlns:a="http://schemas.openxmlformats.org/drawingml/2006/main">
              <a:ext uri="{FF2B5EF4-FFF2-40B4-BE49-F238E27FC236}">
                <a16:creationId xmlns:a16="http://schemas.microsoft.com/office/drawing/2014/main" id="{37A2D874-FD9D-4B23-AB62-07BB80E440D2}"/>
              </a:ext>
            </a:extLst>
          </p:cNvPr>
          <p:cNvSpPr>
            <a:spLocks xmlns:a="http://schemas.openxmlformats.org/drawingml/2006/main" noGrp="1"/>
          </p:cNvSpPr>
          <p:nvPr/>
        </p:nvSpPr>
        <p:spPr>
          <a:xfrm xmlns:a="http://schemas.openxmlformats.org/drawingml/2006/main">
            <a:off x="4095750" y="3810000"/>
            <a:ext cx="708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172B3A"/>
                </a:solidFill>
                <a:latin typeface="Arial"/>
                <a:ea typeface="Arial"/>
                <a:cs typeface="Arial"/>
              </a:defRPr>
            </a:defPPr>
          </a:lstStyle>
          <a:p xmlns:a="http://schemas.openxmlformats.org/drawingml/2006/main">
            <a:pPr algn="l">
              <a:defRPr sz="1575" b="0" i="0">
                <a:solidFill>
                  <a:srgbClr val="172B3A"/>
                </a:solidFill>
                <a:latin typeface="Arial"/>
                <a:ea typeface="Arial"/>
                <a:cs typeface="Arial"/>
              </a:defRPr>
            </a:pPr>
            <a:r>
              <a:rPr sz="1575" b="0" i="0">
                <a:solidFill>
                  <a:srgbClr val="172B3A"/>
                </a:solidFill>
                <a:latin typeface="Arial"/>
                <a:ea typeface="Arial"/>
                <a:cs typeface="Arial"/>
              </a:rPr>
              <a:t>Mapped the documented -999 value to null. No climate values were imputed.</a:t>
            </a:r>
          </a:p>
        </p:txBody>
      </p:sp>
      <p:sp>
        <p:nvSpPr>
          <p:cNvPr id="17" name="clean-rule-2-divider">
            <a:extLst xmlns:a="http://schemas.openxmlformats.org/drawingml/2006/main">
              <a:ext uri="{FF2B5EF4-FFF2-40B4-BE49-F238E27FC236}">
                <a16:creationId xmlns:a16="http://schemas.microsoft.com/office/drawing/2014/main" id="{D4EDC1ED-0E8A-4BBD-94A7-1CD19ED29BF8}"/>
              </a:ext>
            </a:extLst>
          </p:cNvPr>
          <p:cNvSpPr>
            <a:spLocks xmlns:a="http://schemas.openxmlformats.org/drawingml/2006/main" noGrp="1"/>
          </p:cNvSpPr>
          <p:nvPr/>
        </p:nvSpPr>
        <p:spPr>
          <a:xfrm xmlns:a="http://schemas.openxmlformats.org/drawingml/2006/main">
            <a:off x="1333500" y="4648200"/>
            <a:ext cx="9867900" cy="0"/>
          </a:xfrm>
          <a:prstGeom xmlns:a="http://schemas.openxmlformats.org/drawingml/2006/main" prst="line">
            <a:avLst/>
          </a:prstGeom>
          <a:noFill xmlns:a="http://schemas.openxmlformats.org/drawingml/2006/main"/>
          <a:ln xmlns:a="http://schemas.openxmlformats.org/drawingml/2006/main" w="9525">
            <a:solidFill>
              <a:srgbClr val="CCD6DA"/>
            </a:solidFill>
            <a:prstDash val="solid"/>
          </a:ln>
        </p:spPr>
      </p:sp>
      <p:sp>
        <p:nvSpPr>
          <p:cNvPr id="18" name="clean-rule-3-number">
            <a:extLst xmlns:a="http://schemas.openxmlformats.org/drawingml/2006/main">
              <a:ext uri="{FF2B5EF4-FFF2-40B4-BE49-F238E27FC236}">
                <a16:creationId xmlns:a16="http://schemas.microsoft.com/office/drawing/2014/main" id="{8F53546A-2376-48D1-8D72-8A751A7D775D}"/>
              </a:ext>
            </a:extLst>
          </p:cNvPr>
          <p:cNvSpPr>
            <a:spLocks xmlns:a="http://schemas.openxmlformats.org/drawingml/2006/main" noGrp="1"/>
          </p:cNvSpPr>
          <p:nvPr/>
        </p:nvSpPr>
        <p:spPr>
          <a:xfrm xmlns:a="http://schemas.openxmlformats.org/drawingml/2006/main">
            <a:off x="723900" y="481965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950" b="1" i="0">
                <a:solidFill>
                  <a:srgbClr val="156082"/>
                </a:solidFill>
                <a:latin typeface="Arial"/>
                <a:ea typeface="Arial"/>
                <a:cs typeface="Arial"/>
              </a:defRPr>
            </a:defPPr>
          </a:lstStyle>
          <a:p xmlns:a="http://schemas.openxmlformats.org/drawingml/2006/main">
            <a:pPr algn="l">
              <a:defRPr sz="1950" b="1" i="0">
                <a:solidFill>
                  <a:srgbClr val="156082"/>
                </a:solidFill>
                <a:latin typeface="Arial"/>
                <a:ea typeface="Arial"/>
                <a:cs typeface="Arial"/>
              </a:defRPr>
            </a:pPr>
            <a:r>
              <a:rPr sz="1950" b="1" i="0">
                <a:solidFill>
                  <a:srgbClr val="156082"/>
                </a:solidFill>
                <a:latin typeface="Arial"/>
                <a:ea typeface="Arial"/>
                <a:cs typeface="Arial"/>
              </a:rPr>
              <a:t>04</a:t>
            </a:r>
          </a:p>
        </p:txBody>
      </p:sp>
      <p:sp>
        <p:nvSpPr>
          <p:cNvPr id="19" name="clean-rule-3-title">
            <a:extLst xmlns:a="http://schemas.openxmlformats.org/drawingml/2006/main">
              <a:ext uri="{FF2B5EF4-FFF2-40B4-BE49-F238E27FC236}">
                <a16:creationId xmlns:a16="http://schemas.microsoft.com/office/drawing/2014/main" id="{3537B090-6324-4FB8-930B-39B968CAC26F}"/>
              </a:ext>
            </a:extLst>
          </p:cNvPr>
          <p:cNvSpPr>
            <a:spLocks xmlns:a="http://schemas.openxmlformats.org/drawingml/2006/main" noGrp="1"/>
          </p:cNvSpPr>
          <p:nvPr/>
        </p:nvSpPr>
        <p:spPr>
          <a:xfrm xmlns:a="http://schemas.openxmlformats.org/drawingml/2006/main">
            <a:off x="1333500" y="481965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i="0">
                <a:solidFill>
                  <a:srgbClr val="0E2841"/>
                </a:solidFill>
                <a:latin typeface="Arial"/>
                <a:ea typeface="Arial"/>
                <a:cs typeface="Arial"/>
              </a:defRPr>
            </a:defPPr>
          </a:lstStyle>
          <a:p xmlns:a="http://schemas.openxmlformats.org/drawingml/2006/main">
            <a:pPr algn="l">
              <a:defRPr sz="1725" b="1" i="0">
                <a:solidFill>
                  <a:srgbClr val="0E2841"/>
                </a:solidFill>
                <a:latin typeface="Arial"/>
                <a:ea typeface="Arial"/>
                <a:cs typeface="Arial"/>
              </a:defRPr>
            </a:pPr>
            <a:r>
              <a:rPr sz="1725" b="1" i="0">
                <a:solidFill>
                  <a:srgbClr val="0E2841"/>
                </a:solidFill>
                <a:latin typeface="Arial"/>
                <a:ea typeface="Arial"/>
                <a:cs typeface="Arial"/>
              </a:rPr>
              <a:t>Duplicate records</a:t>
            </a:r>
          </a:p>
        </p:txBody>
      </p:sp>
      <p:sp>
        <p:nvSpPr>
          <p:cNvPr id="20" name="clean-rule-3-detail">
            <a:extLst xmlns:a="http://schemas.openxmlformats.org/drawingml/2006/main">
              <a:ext uri="{FF2B5EF4-FFF2-40B4-BE49-F238E27FC236}">
                <a16:creationId xmlns:a16="http://schemas.microsoft.com/office/drawing/2014/main" id="{CE0A46C4-D241-4770-82CF-094804BDEC4C}"/>
              </a:ext>
            </a:extLst>
          </p:cNvPr>
          <p:cNvSpPr>
            <a:spLocks xmlns:a="http://schemas.openxmlformats.org/drawingml/2006/main" noGrp="1"/>
          </p:cNvSpPr>
          <p:nvPr/>
        </p:nvSpPr>
        <p:spPr>
          <a:xfrm xmlns:a="http://schemas.openxmlformats.org/drawingml/2006/main">
            <a:off x="4095750" y="4819650"/>
            <a:ext cx="7086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172B3A"/>
                </a:solidFill>
                <a:latin typeface="Arial"/>
                <a:ea typeface="Arial"/>
                <a:cs typeface="Arial"/>
              </a:defRPr>
            </a:defPPr>
          </a:lstStyle>
          <a:p xmlns:a="http://schemas.openxmlformats.org/drawingml/2006/main">
            <a:pPr algn="l">
              <a:defRPr sz="1575" b="0" i="0">
                <a:solidFill>
                  <a:srgbClr val="172B3A"/>
                </a:solidFill>
                <a:latin typeface="Arial"/>
                <a:ea typeface="Arial"/>
                <a:cs typeface="Arial"/>
              </a:defRPr>
            </a:pPr>
            <a:r>
              <a:rPr sz="1575" b="0" i="0">
                <a:solidFill>
                  <a:srgbClr val="172B3A"/>
                </a:solidFill>
                <a:latin typeface="Arial"/>
                <a:ea typeface="Arial"/>
                <a:cs typeface="Arial"/>
              </a:rPr>
              <a:t>Checked exact and key-level duplicates before deduplication. No duplicate rows or conflicting keys were reported.</a:t>
            </a:r>
          </a:p>
        </p:txBody>
      </p:sp>
      <p:sp>
        <p:nvSpPr>
          <p:cNvPr id="21" name="clean-extremes">
            <a:extLst xmlns:a="http://schemas.openxmlformats.org/drawingml/2006/main">
              <a:ext uri="{FF2B5EF4-FFF2-40B4-BE49-F238E27FC236}">
                <a16:creationId xmlns:a16="http://schemas.microsoft.com/office/drawing/2014/main" id="{6CB5F736-E19A-478B-9BDB-1F45ACD837F8}"/>
              </a:ext>
            </a:extLst>
          </p:cNvPr>
          <p:cNvSpPr>
            <a:spLocks xmlns:a="http://schemas.openxmlformats.org/drawingml/2006/main" noGrp="1"/>
          </p:cNvSpPr>
          <p:nvPr/>
        </p:nvSpPr>
        <p:spPr>
          <a:xfrm xmlns:a="http://schemas.openxmlformats.org/drawingml/2006/main">
            <a:off x="1333500" y="592455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196B24"/>
                </a:solidFill>
                <a:latin typeface="Arial"/>
                <a:ea typeface="Arial"/>
                <a:cs typeface="Arial"/>
              </a:defRPr>
            </a:defPPr>
          </a:lstStyle>
          <a:p xmlns:a="http://schemas.openxmlformats.org/drawingml/2006/main">
            <a:pPr algn="l">
              <a:defRPr sz="1500" b="1" i="0">
                <a:solidFill>
                  <a:srgbClr val="196B24"/>
                </a:solidFill>
                <a:latin typeface="Arial"/>
                <a:ea typeface="Arial"/>
                <a:cs typeface="Arial"/>
              </a:defRPr>
            </a:pPr>
            <a:r>
              <a:rPr sz="1500" b="1" i="0">
                <a:solidFill>
                  <a:srgbClr val="196B24"/>
                </a:solidFill>
                <a:latin typeface="Arial"/>
                <a:ea typeface="Arial"/>
                <a:cs typeface="Arial"/>
              </a:rPr>
              <a:t>Source units were preserved. Statistical extremes were not removed.</a:t>
            </a:r>
          </a:p>
        </p:txBody>
      </p:sp>
    </p:spTree>
    <p:extLst>
      <p:ext uri="{BB962C8B-B14F-4D97-AF65-F5344CB8AC3E}">
        <p14:creationId xmlns:p14="http://schemas.microsoft.com/office/powerpoint/2010/main" val="1944056678"/>
      </p:ext>
    </p:extLst>
  </p:cSld>
</p:sld>
</file>

<file path=ppt/slides/slide1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061C7AE7-0995-4045-8EBF-9F83B52A93CB}"/>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DATA CLEANING</a:t>
            </a:r>
          </a:p>
        </p:txBody>
      </p:sp>
      <p:sp>
        <p:nvSpPr>
          <p:cNvPr id="2" name="slide-number">
            <a:extLst xmlns:a="http://schemas.openxmlformats.org/drawingml/2006/main">
              <a:ext uri="{FF2B5EF4-FFF2-40B4-BE49-F238E27FC236}">
                <a16:creationId xmlns:a16="http://schemas.microsoft.com/office/drawing/2014/main" id="{67E3487D-7EA2-450C-85DA-A7C9B42B6DFA}"/>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11</a:t>
            </a:r>
          </a:p>
        </p:txBody>
      </p:sp>
      <p:sp>
        <p:nvSpPr>
          <p:cNvPr id="3" name="slide-title">
            <a:extLst xmlns:a="http://schemas.openxmlformats.org/drawingml/2006/main">
              <a:ext uri="{FF2B5EF4-FFF2-40B4-BE49-F238E27FC236}">
                <a16:creationId xmlns:a16="http://schemas.microsoft.com/office/drawing/2014/main" id="{5C182EE9-9000-42CF-98B6-C7F26E7173FE}"/>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Data Cleaning: Before and After</a:t>
            </a:r>
          </a:p>
        </p:txBody>
      </p:sp>
      <p:sp>
        <p:nvSpPr>
          <p:cNvPr id="4" name="header-rule">
            <a:extLst xmlns:a="http://schemas.openxmlformats.org/drawingml/2006/main">
              <a:ext uri="{FF2B5EF4-FFF2-40B4-BE49-F238E27FC236}">
                <a16:creationId xmlns:a16="http://schemas.microsoft.com/office/drawing/2014/main" id="{574F7BF3-9B86-4658-A039-64C4FFD52700}"/>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CE100C91-908D-4DB1-8010-90993985247F}"/>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A real source row shows how the filename and year/month layout become a traceable point-month record.</a:t>
            </a:r>
          </a:p>
        </p:txBody>
      </p:sp>
      <p:sp>
        <p:nvSpPr>
          <p:cNvPr id="6" name="before-label">
            <a:extLst xmlns:a="http://schemas.openxmlformats.org/drawingml/2006/main">
              <a:ext uri="{FF2B5EF4-FFF2-40B4-BE49-F238E27FC236}">
                <a16:creationId xmlns:a16="http://schemas.microsoft.com/office/drawing/2014/main" id="{4353046B-0DD6-4758-AFEA-040D484206E4}"/>
              </a:ext>
            </a:extLst>
          </p:cNvPr>
          <p:cNvSpPr>
            <a:spLocks xmlns:a="http://schemas.openxmlformats.org/drawingml/2006/main" noGrp="1"/>
          </p:cNvSpPr>
          <p:nvPr/>
        </p:nvSpPr>
        <p:spPr>
          <a:xfrm xmlns:a="http://schemas.openxmlformats.org/drawingml/2006/main">
            <a:off x="781050" y="185737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E97132"/>
                </a:solidFill>
                <a:latin typeface="Arial"/>
                <a:ea typeface="Arial"/>
                <a:cs typeface="Arial"/>
              </a:defRPr>
            </a:defPPr>
          </a:lstStyle>
          <a:p xmlns:a="http://schemas.openxmlformats.org/drawingml/2006/main">
            <a:pPr algn="l">
              <a:defRPr sz="1200" b="1" i="0">
                <a:solidFill>
                  <a:srgbClr val="E97132"/>
                </a:solidFill>
                <a:latin typeface="Arial"/>
                <a:ea typeface="Arial"/>
                <a:cs typeface="Arial"/>
              </a:defRPr>
            </a:pPr>
            <a:r>
              <a:rPr sz="1200" b="1" i="0">
                <a:solidFill>
                  <a:srgbClr val="E97132"/>
                </a:solidFill>
                <a:latin typeface="Arial"/>
                <a:ea typeface="Arial"/>
                <a:cs typeface="Arial"/>
              </a:rPr>
              <a:t>SOURCE FILE</a:t>
            </a:r>
          </a:p>
        </p:txBody>
      </p:sp>
      <p:sp>
        <p:nvSpPr>
          <p:cNvPr id="7" name="before-value">
            <a:extLst xmlns:a="http://schemas.openxmlformats.org/drawingml/2006/main">
              <a:ext uri="{FF2B5EF4-FFF2-40B4-BE49-F238E27FC236}">
                <a16:creationId xmlns:a16="http://schemas.microsoft.com/office/drawing/2014/main" id="{1DD4FEA2-2965-481F-9FDD-0936FEF32368}"/>
              </a:ext>
            </a:extLst>
          </p:cNvPr>
          <p:cNvSpPr>
            <a:spLocks xmlns:a="http://schemas.openxmlformats.org/drawingml/2006/main" noGrp="1"/>
          </p:cNvSpPr>
          <p:nvPr/>
        </p:nvSpPr>
        <p:spPr>
          <a:xfrm xmlns:a="http://schemas.openxmlformats.org/drawingml/2006/main">
            <a:off x="781050" y="2257425"/>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0E2841"/>
                </a:solidFill>
                <a:latin typeface="Arial"/>
                <a:ea typeface="Arial"/>
                <a:cs typeface="Arial"/>
              </a:defRPr>
            </a:defPPr>
          </a:lstStyle>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ahemdabad_1.csv</a:t>
            </a:r>
          </a:p>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PARAMETER = T2M</a:t>
            </a:r>
          </a:p>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YEAR = 2000   JAN = 21.79</a:t>
            </a:r>
          </a:p>
        </p:txBody>
      </p:sp>
      <p:sp>
        <p:nvSpPr>
          <p:cNvPr id="8" name="after-label">
            <a:extLst xmlns:a="http://schemas.openxmlformats.org/drawingml/2006/main">
              <a:ext uri="{FF2B5EF4-FFF2-40B4-BE49-F238E27FC236}">
                <a16:creationId xmlns:a16="http://schemas.microsoft.com/office/drawing/2014/main" id="{1A5D9EF5-C399-4017-AE33-12E2959176C4}"/>
              </a:ext>
            </a:extLst>
          </p:cNvPr>
          <p:cNvSpPr>
            <a:spLocks xmlns:a="http://schemas.openxmlformats.org/drawingml/2006/main" noGrp="1"/>
          </p:cNvSpPr>
          <p:nvPr/>
        </p:nvSpPr>
        <p:spPr>
          <a:xfrm xmlns:a="http://schemas.openxmlformats.org/drawingml/2006/main">
            <a:off x="6572250" y="1857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96B24"/>
                </a:solidFill>
                <a:latin typeface="Arial"/>
                <a:ea typeface="Arial"/>
                <a:cs typeface="Arial"/>
              </a:defRPr>
            </a:defPPr>
          </a:lstStyle>
          <a:p xmlns:a="http://schemas.openxmlformats.org/drawingml/2006/main">
            <a:pPr algn="l">
              <a:defRPr sz="1200" b="1" i="0">
                <a:solidFill>
                  <a:srgbClr val="196B24"/>
                </a:solidFill>
                <a:latin typeface="Arial"/>
                <a:ea typeface="Arial"/>
                <a:cs typeface="Arial"/>
              </a:defRPr>
            </a:pPr>
            <a:r>
              <a:rPr sz="1200" b="1" i="0">
                <a:solidFill>
                  <a:srgbClr val="196B24"/>
                </a:solidFill>
                <a:latin typeface="Arial"/>
                <a:ea typeface="Arial"/>
                <a:cs typeface="Arial"/>
              </a:rPr>
              <a:t>CLEANED MONTHLY POINT ROW</a:t>
            </a:r>
          </a:p>
        </p:txBody>
      </p:sp>
      <p:sp>
        <p:nvSpPr>
          <p:cNvPr id="9" name="after-value">
            <a:extLst xmlns:a="http://schemas.openxmlformats.org/drawingml/2006/main">
              <a:ext uri="{FF2B5EF4-FFF2-40B4-BE49-F238E27FC236}">
                <a16:creationId xmlns:a16="http://schemas.microsoft.com/office/drawing/2014/main" id="{5523362A-0366-49A9-A355-5C7C4CA4A6FA}"/>
              </a:ext>
            </a:extLst>
          </p:cNvPr>
          <p:cNvSpPr>
            <a:spLocks xmlns:a="http://schemas.openxmlformats.org/drawingml/2006/main" noGrp="1"/>
          </p:cNvSpPr>
          <p:nvPr/>
        </p:nvSpPr>
        <p:spPr>
          <a:xfrm xmlns:a="http://schemas.openxmlformats.org/drawingml/2006/main">
            <a:off x="6572250" y="2257425"/>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0E2841"/>
                </a:solidFill>
                <a:latin typeface="Arial"/>
                <a:ea typeface="Arial"/>
                <a:cs typeface="Arial"/>
              </a:defRPr>
            </a:defPPr>
          </a:lstStyle>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Ahmedabad, point 1</a:t>
            </a:r>
          </a:p>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Date = 2000-01-01</a:t>
            </a:r>
          </a:p>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T2M = 21.79 °C</a:t>
            </a:r>
          </a:p>
        </p:txBody>
      </p:sp>
      <p:sp>
        <p:nvSpPr>
          <p:cNvPr id="10" name="before-after-line">
            <a:extLst xmlns:a="http://schemas.openxmlformats.org/drawingml/2006/main">
              <a:ext uri="{FF2B5EF4-FFF2-40B4-BE49-F238E27FC236}">
                <a16:creationId xmlns:a16="http://schemas.microsoft.com/office/drawing/2014/main" id="{D4D929EC-656A-43BE-BD84-217FDCB4D923}"/>
              </a:ext>
            </a:extLst>
          </p:cNvPr>
          <p:cNvSpPr>
            <a:spLocks xmlns:a="http://schemas.openxmlformats.org/drawingml/2006/main" noGrp="1"/>
          </p:cNvSpPr>
          <p:nvPr/>
        </p:nvSpPr>
        <p:spPr>
          <a:xfrm xmlns:a="http://schemas.openxmlformats.org/drawingml/2006/main">
            <a:off x="5238750" y="2933700"/>
            <a:ext cx="1257300" cy="0"/>
          </a:xfrm>
          <a:prstGeom xmlns:a="http://schemas.openxmlformats.org/drawingml/2006/main" prst="line">
            <a:avLst/>
          </a:prstGeom>
          <a:noFill xmlns:a="http://schemas.openxmlformats.org/drawingml/2006/main"/>
          <a:ln xmlns:a="http://schemas.openxmlformats.org/drawingml/2006/main" w="28575">
            <a:solidFill>
              <a:srgbClr val="E97132"/>
            </a:solidFill>
            <a:prstDash val="solid"/>
          </a:ln>
        </p:spPr>
      </p:sp>
      <p:sp>
        <p:nvSpPr>
          <p:cNvPr id="11" name="example-divider">
            <a:extLst xmlns:a="http://schemas.openxmlformats.org/drawingml/2006/main">
              <a:ext uri="{FF2B5EF4-FFF2-40B4-BE49-F238E27FC236}">
                <a16:creationId xmlns:a16="http://schemas.microsoft.com/office/drawing/2014/main" id="{CDC7812D-BD49-4363-9CDF-D3D53831B853}"/>
              </a:ext>
            </a:extLst>
          </p:cNvPr>
          <p:cNvSpPr>
            <a:spLocks xmlns:a="http://schemas.openxmlformats.org/drawingml/2006/main" noGrp="1"/>
          </p:cNvSpPr>
          <p:nvPr/>
        </p:nvSpPr>
        <p:spPr>
          <a:xfrm xmlns:a="http://schemas.openxmlformats.org/drawingml/2006/main">
            <a:off x="781050" y="4048125"/>
            <a:ext cx="105537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12" name="editable-bullet-list">
            <a:extLst xmlns:a="http://schemas.openxmlformats.org/drawingml/2006/main">
              <a:ext uri="{FF2B5EF4-FFF2-40B4-BE49-F238E27FC236}">
                <a16:creationId xmlns:a16="http://schemas.microsoft.com/office/drawing/2014/main" id="{48F774A2-BE67-480F-B544-288A74F6DD8B}"/>
              </a:ext>
            </a:extLst>
          </p:cNvPr>
          <p:cNvSpPr>
            <a:spLocks xmlns:a="http://schemas.openxmlformats.org/drawingml/2006/main" noGrp="1"/>
          </p:cNvSpPr>
          <p:nvPr/>
        </p:nvSpPr>
        <p:spPr>
          <a:xfrm xmlns:a="http://schemas.openxmlformats.org/drawingml/2006/main">
            <a:off x="781050" y="4410075"/>
            <a:ext cx="101917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725">
                <a:solidFill>
                  <a:srgbClr val="172B3A"/>
                </a:solidFill>
                <a:latin typeface="Arial"/>
                <a:ea typeface="Arial"/>
                <a:cs typeface="Arial"/>
              </a:defRPr>
            </a:defPPr>
          </a:lstStyle>
          <a:p xmlns:a="http://schemas.openxmlformats.org/drawingml/2006/main">
            <a:pPr marL="241300" indent="-127000">
              <a:lnSpc>
                <a:spcPct val="108000"/>
              </a:lnSpc>
              <a:spcAft>
                <a:spcPts val="700"/>
              </a:spcAft>
              <a:buNone/>
              <a:defRPr sz="1725">
                <a:solidFill>
                  <a:srgbClr val="172B3A"/>
                </a:solidFill>
                <a:latin typeface="Arial"/>
                <a:ea typeface="Arial"/>
                <a:cs typeface="Arial"/>
              </a:defRPr>
            </a:pPr>
            <a:r>
              <a:rPr sz="1725">
                <a:solidFill>
                  <a:srgbClr val="172B3A"/>
                </a:solidFill>
                <a:latin typeface="Arial"/>
                <a:ea typeface="Arial"/>
                <a:cs typeface="Arial"/>
              </a:rPr>
              <a:t>The known filename spelling maps to the standardized city Ahmedabad.</a:t>
            </a:r>
          </a:p>
          <a:p xmlns:a="http://schemas.openxmlformats.org/drawingml/2006/main">
            <a:pPr marL="241300" indent="-127000">
              <a:lnSpc>
                <a:spcPct val="108000"/>
              </a:lnSpc>
              <a:spcAft>
                <a:spcPts val="700"/>
              </a:spcAft>
              <a:buNone/>
              <a:defRPr sz="1725">
                <a:solidFill>
                  <a:srgbClr val="172B3A"/>
                </a:solidFill>
                <a:latin typeface="Arial"/>
                <a:ea typeface="Arial"/>
                <a:cs typeface="Arial"/>
              </a:defRPr>
            </a:pPr>
            <a:r>
              <a:rPr sz="1725">
                <a:solidFill>
                  <a:srgbClr val="172B3A"/>
                </a:solidFill>
                <a:latin typeface="Arial"/>
                <a:ea typeface="Arial"/>
                <a:cs typeface="Arial"/>
              </a:rPr>
              <a:t>The year and JAN label become a month-start date.</a:t>
            </a:r>
          </a:p>
          <a:p xmlns:a="http://schemas.openxmlformats.org/drawingml/2006/main">
            <a:pPr marL="241300" indent="-127000">
              <a:lnSpc>
                <a:spcPct val="108000"/>
              </a:lnSpc>
              <a:spcAft>
                <a:spcPts val="700"/>
              </a:spcAft>
              <a:buNone/>
              <a:defRPr sz="1725">
                <a:solidFill>
                  <a:srgbClr val="172B3A"/>
                </a:solidFill>
                <a:latin typeface="Arial"/>
                <a:ea typeface="Arial"/>
                <a:cs typeface="Arial"/>
              </a:defRPr>
            </a:pPr>
            <a:r>
              <a:rPr sz="1725">
                <a:solidFill>
                  <a:srgbClr val="172B3A"/>
                </a:solidFill>
                <a:latin typeface="Arial"/>
                <a:ea typeface="Arial"/>
                <a:cs typeface="Arial"/>
              </a:rPr>
              <a:t>The measurement value and source point remain available for traceability.</a:t>
            </a:r>
          </a:p>
        </p:txBody>
      </p:sp>
    </p:spTree>
    <p:extLst>
      <p:ext uri="{BB962C8B-B14F-4D97-AF65-F5344CB8AC3E}">
        <p14:creationId xmlns:p14="http://schemas.microsoft.com/office/powerpoint/2010/main" val="832540661"/>
      </p:ext>
    </p:extLst>
  </p:cSld>
</p:sld>
</file>

<file path=ppt/slides/slide1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6" name="section-label">
            <a:extLst xmlns:a="http://schemas.openxmlformats.org/drawingml/2006/main">
              <a:ext uri="{FF2B5EF4-FFF2-40B4-BE49-F238E27FC236}">
                <a16:creationId xmlns:a16="http://schemas.microsoft.com/office/drawing/2014/main" id="{EB52DD9E-1072-44CE-A15E-BF8D10F13777}"/>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DATA TRANSFORMATION</a:t>
            </a:r>
          </a:p>
        </p:txBody>
      </p:sp>
      <p:sp>
        <p:nvSpPr>
          <p:cNvPr id="2" name="slide-number">
            <a:extLst xmlns:a="http://schemas.openxmlformats.org/drawingml/2006/main">
              <a:ext uri="{FF2B5EF4-FFF2-40B4-BE49-F238E27FC236}">
                <a16:creationId xmlns:a16="http://schemas.microsoft.com/office/drawing/2014/main" id="{E444B931-9208-498B-B471-EEDAA25B3A3F}"/>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12</a:t>
            </a:r>
          </a:p>
        </p:txBody>
      </p:sp>
      <p:sp>
        <p:nvSpPr>
          <p:cNvPr id="3" name="slide-title">
            <a:extLst xmlns:a="http://schemas.openxmlformats.org/drawingml/2006/main">
              <a:ext uri="{FF2B5EF4-FFF2-40B4-BE49-F238E27FC236}">
                <a16:creationId xmlns:a16="http://schemas.microsoft.com/office/drawing/2014/main" id="{C791F0B4-82C0-43E9-A04B-5F9A375BD90C}"/>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Data Transformation and Standardization</a:t>
            </a:r>
          </a:p>
        </p:txBody>
      </p:sp>
      <p:sp>
        <p:nvSpPr>
          <p:cNvPr id="4" name="header-rule">
            <a:extLst xmlns:a="http://schemas.openxmlformats.org/drawingml/2006/main">
              <a:ext uri="{FF2B5EF4-FFF2-40B4-BE49-F238E27FC236}">
                <a16:creationId xmlns:a16="http://schemas.microsoft.com/office/drawing/2014/main" id="{C17296CA-36E4-4D2B-9FFA-4E3023A5B9F4}"/>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DDAD52ED-D306-4C44-BADB-D934AACA56B1}"/>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Transformation changes the record layout and adds stable fields for city-month aggregation.</a:t>
            </a:r>
          </a:p>
        </p:txBody>
      </p:sp>
      <p:graphicFrame>
        <p:nvGraphicFramePr>
          <p:cNvPr id="6" name="">
            <a:extLst xmlns:a="http://schemas.openxmlformats.org/drawingml/2006/main">
              <a:ext uri="{FF2B5EF4-FFF2-40B4-BE49-F238E27FC236}">
                <a16:creationId xmlns:a16="http://schemas.microsoft.com/office/drawing/2014/main" id="{B6B96460-BA2B-45E1-A28E-538A0E02A911}"/>
              </a:ext>
            </a:extLst>
          </p:cNvPr>
          <p:cNvGraphicFramePr/>
          <p:nvPr/>
        </p:nvGraphicFramePr>
        <p:xfrm>
          <a:off xmlns:a="http://schemas.openxmlformats.org/drawingml/2006/main" x="609600" y="1733550"/>
          <a:ext xmlns:a="http://schemas.openxmlformats.org/drawingml/2006/main" cx="10972800" cy="2600325"/>
        </p:xfrm>
        <a:graphic xmlns:a="http://schemas.openxmlformats.org/drawingml/2006/main">
          <a:graphicData uri="http://schemas.openxmlformats.org/drawingml/2006/table">
            <a:tbl>
              <a:tblPr/>
              <a:tblGrid>
                <a:gridCol w="2571750"/>
                <a:gridCol w="2571750"/>
                <a:gridCol w="5829300"/>
              </a:tblGrid>
              <a:tr h="457200">
                <a:tc>
                  <a:txBody>
                    <a:bodyPr wrap="square" lIns="47625" tIns="47625" rIns="47625" bIns="47625">
                      <a:normAutofit/>
                    </a:bodyPr>
                    <a:lstStyle/>
                    <a:p>
                      <a:pPr algn="l"/>
                      <a:r>
                        <a:rPr sz="1575" b="1">
                          <a:solidFill>
                            <a:srgbClr val="FFFFFF"/>
                          </a:solidFill>
                          <a:latin typeface="Arial"/>
                          <a:ea typeface="Arial"/>
                          <a:cs typeface="Arial"/>
                        </a:rPr>
                        <a:t>Source parameter</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Output field</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Meaning retained</a:t>
                      </a:r>
                    </a:p>
                  </a:txBody>
                  <a:tcPr marL="91440" marR="91440" marT="45720" marB="45720" anchor="ctr">
                    <a:solidFill>
                      <a:srgbClr val="0E2841"/>
                    </a:solidFill>
                  </a:tcPr>
                </a:tc>
              </a:tr>
              <a:tr h="533400">
                <a:tc>
                  <a:txBody>
                    <a:bodyPr wrap="square" lIns="47625" tIns="47625" rIns="47625" bIns="47625">
                      <a:normAutofit/>
                    </a:bodyPr>
                    <a:lstStyle/>
                    <a:p>
                      <a:pPr algn="l"/>
                      <a:r>
                        <a:rPr sz="1500">
                          <a:solidFill>
                            <a:srgbClr val="172B3A"/>
                          </a:solidFill>
                          <a:latin typeface="Arial"/>
                          <a:ea typeface="Arial"/>
                          <a:cs typeface="Arial"/>
                        </a:rPr>
                        <a:t>PRECTOTCORR</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rainfall_mm</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Monthly mean daily precipitation rate (mm/day)</a:t>
                      </a:r>
                    </a:p>
                  </a:txBody>
                  <a:tcPr marL="91440" marR="91440" marT="45720" marB="45720" anchor="ctr">
                    <a:solidFill>
                      <a:srgbClr val="FFFFFF"/>
                    </a:solidFill>
                  </a:tcPr>
                </a:tc>
              </a:tr>
              <a:tr h="533400">
                <a:tc>
                  <a:txBody>
                    <a:bodyPr wrap="square" lIns="47625" tIns="47625" rIns="47625" bIns="47625">
                      <a:normAutofit/>
                    </a:bodyPr>
                    <a:lstStyle/>
                    <a:p>
                      <a:pPr algn="l"/>
                      <a:r>
                        <a:rPr sz="1500">
                          <a:solidFill>
                            <a:srgbClr val="172B3A"/>
                          </a:solidFill>
                          <a:latin typeface="Arial"/>
                          <a:ea typeface="Arial"/>
                          <a:cs typeface="Arial"/>
                        </a:rPr>
                        <a:t>T2M</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avg_temp_c</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Monthly average air temperature at 2 m (°C)</a:t>
                      </a:r>
                    </a:p>
                  </a:txBody>
                  <a:tcPr marL="91440" marR="91440" marT="45720" marB="45720" anchor="ctr">
                    <a:solidFill>
                      <a:srgbClr val="EAF2F5"/>
                    </a:solidFill>
                  </a:tcPr>
                </a:tc>
              </a:tr>
              <a:tr h="533400">
                <a:tc>
                  <a:txBody>
                    <a:bodyPr wrap="square" lIns="47625" tIns="47625" rIns="47625" bIns="47625">
                      <a:normAutofit/>
                    </a:bodyPr>
                    <a:lstStyle/>
                    <a:p>
                      <a:pPr algn="l"/>
                      <a:r>
                        <a:rPr sz="1500">
                          <a:solidFill>
                            <a:srgbClr val="172B3A"/>
                          </a:solidFill>
                          <a:latin typeface="Arial"/>
                          <a:ea typeface="Arial"/>
                          <a:cs typeface="Arial"/>
                        </a:rPr>
                        <a:t>T2M_MAX</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max_temp_c</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Monthly mean of daily maximum temperature (°C)</a:t>
                      </a:r>
                    </a:p>
                  </a:txBody>
                  <a:tcPr marL="91440" marR="91440" marT="45720" marB="45720" anchor="ctr">
                    <a:solidFill>
                      <a:srgbClr val="FFFFFF"/>
                    </a:solidFill>
                  </a:tcPr>
                </a:tc>
              </a:tr>
              <a:tr h="533400">
                <a:tc>
                  <a:txBody>
                    <a:bodyPr wrap="square" lIns="47625" tIns="47625" rIns="47625" bIns="47625">
                      <a:normAutofit/>
                    </a:bodyPr>
                    <a:lstStyle/>
                    <a:p>
                      <a:pPr algn="l"/>
                      <a:r>
                        <a:rPr sz="1500">
                          <a:solidFill>
                            <a:srgbClr val="172B3A"/>
                          </a:solidFill>
                          <a:latin typeface="Arial"/>
                          <a:ea typeface="Arial"/>
                          <a:cs typeface="Arial"/>
                        </a:rPr>
                        <a:t>T2M_MIN</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min_temp_c</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Monthly mean of daily minimum temperature (°C)</a:t>
                      </a:r>
                    </a:p>
                  </a:txBody>
                  <a:tcPr marL="91440" marR="91440" marT="45720" marB="45720" anchor="ctr">
                    <a:solidFill>
                      <a:srgbClr val="EAF2F5"/>
                    </a:solidFill>
                  </a:tcPr>
                </a:tc>
              </a:tr>
            </a:tbl>
          </a:graphicData>
        </a:graphic>
      </p:graphicFrame>
      <p:sp>
        <p:nvSpPr>
          <p:cNvPr id="7" name="transform-count-1">
            <a:extLst xmlns:a="http://schemas.openxmlformats.org/drawingml/2006/main">
              <a:ext uri="{FF2B5EF4-FFF2-40B4-BE49-F238E27FC236}">
                <a16:creationId xmlns:a16="http://schemas.microsoft.com/office/drawing/2014/main" id="{2753A6B1-4CA4-40E8-9C2E-44E393DD7F89}"/>
              </a:ext>
            </a:extLst>
          </p:cNvPr>
          <p:cNvSpPr>
            <a:spLocks xmlns:a="http://schemas.openxmlformats.org/drawingml/2006/main" noGrp="1"/>
          </p:cNvSpPr>
          <p:nvPr/>
        </p:nvSpPr>
        <p:spPr>
          <a:xfrm xmlns:a="http://schemas.openxmlformats.org/drawingml/2006/main">
            <a:off x="685800" y="4648200"/>
            <a:ext cx="2324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75" b="1" i="0">
                <a:solidFill>
                  <a:srgbClr val="156082"/>
                </a:solidFill>
                <a:latin typeface="Arial"/>
                <a:ea typeface="Arial"/>
                <a:cs typeface="Arial"/>
              </a:defRPr>
            </a:defPPr>
          </a:lstStyle>
          <a:p xmlns:a="http://schemas.openxmlformats.org/drawingml/2006/main">
            <a:pPr algn="l">
              <a:defRPr sz="3075" b="1" i="0">
                <a:solidFill>
                  <a:srgbClr val="156082"/>
                </a:solidFill>
                <a:latin typeface="Arial"/>
                <a:ea typeface="Arial"/>
                <a:cs typeface="Arial"/>
              </a:defRPr>
            </a:pPr>
            <a:r>
              <a:rPr sz="3075" b="1" i="0">
                <a:solidFill>
                  <a:srgbClr val="156082"/>
                </a:solidFill>
                <a:latin typeface="Arial"/>
                <a:ea typeface="Arial"/>
                <a:cs typeface="Arial"/>
              </a:rPr>
              <a:t>416,520</a:t>
            </a:r>
          </a:p>
        </p:txBody>
      </p:sp>
      <p:sp>
        <p:nvSpPr>
          <p:cNvPr id="8" name="transform-count-1-label">
            <a:extLst xmlns:a="http://schemas.openxmlformats.org/drawingml/2006/main">
              <a:ext uri="{FF2B5EF4-FFF2-40B4-BE49-F238E27FC236}">
                <a16:creationId xmlns:a16="http://schemas.microsoft.com/office/drawing/2014/main" id="{15F5E30A-EC24-479C-9E57-2236D50EE000}"/>
              </a:ext>
            </a:extLst>
          </p:cNvPr>
          <p:cNvSpPr>
            <a:spLocks xmlns:a="http://schemas.openxmlformats.org/drawingml/2006/main" noGrp="1"/>
          </p:cNvSpPr>
          <p:nvPr/>
        </p:nvSpPr>
        <p:spPr>
          <a:xfrm xmlns:a="http://schemas.openxmlformats.org/drawingml/2006/main">
            <a:off x="685800" y="5181600"/>
            <a:ext cx="2619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2636D"/>
                </a:solidFill>
                <a:latin typeface="Arial"/>
                <a:ea typeface="Arial"/>
                <a:cs typeface="Arial"/>
              </a:defRPr>
            </a:defPPr>
          </a:lstStyle>
          <a:p xmlns:a="http://schemas.openxmlformats.org/drawingml/2006/main">
            <a:pPr algn="l">
              <a:defRPr sz="1350" b="0" i="0">
                <a:solidFill>
                  <a:srgbClr val="52636D"/>
                </a:solidFill>
                <a:latin typeface="Arial"/>
                <a:ea typeface="Arial"/>
                <a:cs typeface="Arial"/>
              </a:defRPr>
            </a:pPr>
            <a:r>
              <a:rPr sz="1350" b="0" i="0">
                <a:solidFill>
                  <a:srgbClr val="52636D"/>
                </a:solidFill>
                <a:latin typeface="Arial"/>
                <a:ea typeface="Arial"/>
                <a:cs typeface="Arial"/>
              </a:rPr>
              <a:t>point-parameter-month rows in long form</a:t>
            </a:r>
          </a:p>
        </p:txBody>
      </p:sp>
      <p:sp>
        <p:nvSpPr>
          <p:cNvPr id="9" name="transform-stage-sep1">
            <a:extLst xmlns:a="http://schemas.openxmlformats.org/drawingml/2006/main">
              <a:ext uri="{FF2B5EF4-FFF2-40B4-BE49-F238E27FC236}">
                <a16:creationId xmlns:a16="http://schemas.microsoft.com/office/drawing/2014/main" id="{156D5EC2-F905-43AA-98A2-748EBE937F84}"/>
              </a:ext>
            </a:extLst>
          </p:cNvPr>
          <p:cNvSpPr>
            <a:spLocks xmlns:a="http://schemas.openxmlformats.org/drawingml/2006/main" noGrp="1"/>
          </p:cNvSpPr>
          <p:nvPr/>
        </p:nvSpPr>
        <p:spPr>
          <a:xfrm xmlns:a="http://schemas.openxmlformats.org/drawingml/2006/main">
            <a:off x="3333750" y="47244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i="0">
                <a:solidFill>
                  <a:srgbClr val="E97132"/>
                </a:solidFill>
                <a:latin typeface="Arial"/>
                <a:ea typeface="Arial"/>
                <a:cs typeface="Arial"/>
              </a:defRPr>
            </a:defPPr>
          </a:lstStyle>
          <a:p xmlns:a="http://schemas.openxmlformats.org/drawingml/2006/main">
            <a:pPr algn="ctr">
              <a:defRPr sz="1950" b="1" i="0">
                <a:solidFill>
                  <a:srgbClr val="E97132"/>
                </a:solidFill>
                <a:latin typeface="Arial"/>
                <a:ea typeface="Arial"/>
                <a:cs typeface="Arial"/>
              </a:defRPr>
            </a:pPr>
            <a:r>
              <a:rPr sz="1950" b="1" i="0">
                <a:solidFill>
                  <a:srgbClr val="E97132"/>
                </a:solidFill>
                <a:latin typeface="Arial"/>
                <a:ea typeface="Arial"/>
                <a:cs typeface="Arial"/>
              </a:rPr>
              <a:t>to</a:t>
            </a:r>
          </a:p>
        </p:txBody>
      </p:sp>
      <p:sp>
        <p:nvSpPr>
          <p:cNvPr id="10" name="transform-count-2">
            <a:extLst xmlns:a="http://schemas.openxmlformats.org/drawingml/2006/main">
              <a:ext uri="{FF2B5EF4-FFF2-40B4-BE49-F238E27FC236}">
                <a16:creationId xmlns:a16="http://schemas.microsoft.com/office/drawing/2014/main" id="{99E576EC-E484-4170-970F-5B95A127D6E8}"/>
              </a:ext>
            </a:extLst>
          </p:cNvPr>
          <p:cNvSpPr>
            <a:spLocks xmlns:a="http://schemas.openxmlformats.org/drawingml/2006/main" noGrp="1"/>
          </p:cNvSpPr>
          <p:nvPr/>
        </p:nvSpPr>
        <p:spPr>
          <a:xfrm xmlns:a="http://schemas.openxmlformats.org/drawingml/2006/main">
            <a:off x="4048125" y="4648200"/>
            <a:ext cx="2324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75" b="1" i="0">
                <a:solidFill>
                  <a:srgbClr val="156082"/>
                </a:solidFill>
                <a:latin typeface="Arial"/>
                <a:ea typeface="Arial"/>
                <a:cs typeface="Arial"/>
              </a:defRPr>
            </a:defPPr>
          </a:lstStyle>
          <a:p xmlns:a="http://schemas.openxmlformats.org/drawingml/2006/main">
            <a:pPr algn="l">
              <a:defRPr sz="3075" b="1" i="0">
                <a:solidFill>
                  <a:srgbClr val="156082"/>
                </a:solidFill>
                <a:latin typeface="Arial"/>
                <a:ea typeface="Arial"/>
                <a:cs typeface="Arial"/>
              </a:defRPr>
            </a:pPr>
            <a:r>
              <a:rPr sz="3075" b="1" i="0">
                <a:solidFill>
                  <a:srgbClr val="156082"/>
                </a:solidFill>
                <a:latin typeface="Arial"/>
                <a:ea typeface="Arial"/>
                <a:cs typeface="Arial"/>
              </a:rPr>
              <a:t>27,768</a:t>
            </a:r>
          </a:p>
        </p:txBody>
      </p:sp>
      <p:sp>
        <p:nvSpPr>
          <p:cNvPr id="11" name="transform-count-2-label">
            <a:extLst xmlns:a="http://schemas.openxmlformats.org/drawingml/2006/main">
              <a:ext uri="{FF2B5EF4-FFF2-40B4-BE49-F238E27FC236}">
                <a16:creationId xmlns:a16="http://schemas.microsoft.com/office/drawing/2014/main" id="{134E5D1F-D367-4B23-B3A8-D17F7A2CD7D8}"/>
              </a:ext>
            </a:extLst>
          </p:cNvPr>
          <p:cNvSpPr>
            <a:spLocks xmlns:a="http://schemas.openxmlformats.org/drawingml/2006/main" noGrp="1"/>
          </p:cNvSpPr>
          <p:nvPr/>
        </p:nvSpPr>
        <p:spPr>
          <a:xfrm xmlns:a="http://schemas.openxmlformats.org/drawingml/2006/main">
            <a:off x="4048125" y="5181600"/>
            <a:ext cx="2619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2636D"/>
                </a:solidFill>
                <a:latin typeface="Arial"/>
                <a:ea typeface="Arial"/>
                <a:cs typeface="Arial"/>
              </a:defRPr>
            </a:defPPr>
          </a:lstStyle>
          <a:p xmlns:a="http://schemas.openxmlformats.org/drawingml/2006/main">
            <a:pPr algn="l">
              <a:defRPr sz="1350" b="0" i="0">
                <a:solidFill>
                  <a:srgbClr val="52636D"/>
                </a:solidFill>
                <a:latin typeface="Arial"/>
                <a:ea typeface="Arial"/>
                <a:cs typeface="Arial"/>
              </a:defRPr>
            </a:pPr>
            <a:r>
              <a:rPr sz="1350" b="0" i="0">
                <a:solidFill>
                  <a:srgbClr val="52636D"/>
                </a:solidFill>
                <a:latin typeface="Arial"/>
                <a:ea typeface="Arial"/>
                <a:cs typeface="Arial"/>
              </a:rPr>
              <a:t>point-month rows in wide form</a:t>
            </a:r>
          </a:p>
        </p:txBody>
      </p:sp>
      <p:sp>
        <p:nvSpPr>
          <p:cNvPr id="12" name="transform-stage-sep2">
            <a:extLst xmlns:a="http://schemas.openxmlformats.org/drawingml/2006/main">
              <a:ext uri="{FF2B5EF4-FFF2-40B4-BE49-F238E27FC236}">
                <a16:creationId xmlns:a16="http://schemas.microsoft.com/office/drawing/2014/main" id="{85CBEFFF-82A4-4BCC-8E55-ECF50D20EAA4}"/>
              </a:ext>
            </a:extLst>
          </p:cNvPr>
          <p:cNvSpPr>
            <a:spLocks xmlns:a="http://schemas.openxmlformats.org/drawingml/2006/main" noGrp="1"/>
          </p:cNvSpPr>
          <p:nvPr/>
        </p:nvSpPr>
        <p:spPr>
          <a:xfrm xmlns:a="http://schemas.openxmlformats.org/drawingml/2006/main">
            <a:off x="6743700" y="4724400"/>
            <a:ext cx="609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i="0">
                <a:solidFill>
                  <a:srgbClr val="E97132"/>
                </a:solidFill>
                <a:latin typeface="Arial"/>
                <a:ea typeface="Arial"/>
                <a:cs typeface="Arial"/>
              </a:defRPr>
            </a:defPPr>
          </a:lstStyle>
          <a:p xmlns:a="http://schemas.openxmlformats.org/drawingml/2006/main">
            <a:pPr algn="ctr">
              <a:defRPr sz="1950" b="1" i="0">
                <a:solidFill>
                  <a:srgbClr val="E97132"/>
                </a:solidFill>
                <a:latin typeface="Arial"/>
                <a:ea typeface="Arial"/>
                <a:cs typeface="Arial"/>
              </a:defRPr>
            </a:pPr>
            <a:r>
              <a:rPr sz="1950" b="1" i="0">
                <a:solidFill>
                  <a:srgbClr val="E97132"/>
                </a:solidFill>
                <a:latin typeface="Arial"/>
                <a:ea typeface="Arial"/>
                <a:cs typeface="Arial"/>
              </a:rPr>
              <a:t>to</a:t>
            </a:r>
          </a:p>
        </p:txBody>
      </p:sp>
      <p:sp>
        <p:nvSpPr>
          <p:cNvPr id="13" name="transform-count-3">
            <a:extLst xmlns:a="http://schemas.openxmlformats.org/drawingml/2006/main">
              <a:ext uri="{FF2B5EF4-FFF2-40B4-BE49-F238E27FC236}">
                <a16:creationId xmlns:a16="http://schemas.microsoft.com/office/drawing/2014/main" id="{03A715CE-E13A-47E4-8DE8-CC487501A30F}"/>
              </a:ext>
            </a:extLst>
          </p:cNvPr>
          <p:cNvSpPr>
            <a:spLocks xmlns:a="http://schemas.openxmlformats.org/drawingml/2006/main" noGrp="1"/>
          </p:cNvSpPr>
          <p:nvPr/>
        </p:nvSpPr>
        <p:spPr>
          <a:xfrm xmlns:a="http://schemas.openxmlformats.org/drawingml/2006/main">
            <a:off x="7572375" y="4648200"/>
            <a:ext cx="23241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75" b="1" i="0">
                <a:solidFill>
                  <a:srgbClr val="196B24"/>
                </a:solidFill>
                <a:latin typeface="Arial"/>
                <a:ea typeface="Arial"/>
                <a:cs typeface="Arial"/>
              </a:defRPr>
            </a:defPPr>
          </a:lstStyle>
          <a:p xmlns:a="http://schemas.openxmlformats.org/drawingml/2006/main">
            <a:pPr algn="l">
              <a:defRPr sz="3075" b="1" i="0">
                <a:solidFill>
                  <a:srgbClr val="196B24"/>
                </a:solidFill>
                <a:latin typeface="Arial"/>
                <a:ea typeface="Arial"/>
                <a:cs typeface="Arial"/>
              </a:defRPr>
            </a:pPr>
            <a:r>
              <a:rPr sz="3075" b="1" i="0">
                <a:solidFill>
                  <a:srgbClr val="196B24"/>
                </a:solidFill>
                <a:latin typeface="Arial"/>
                <a:ea typeface="Arial"/>
                <a:cs typeface="Arial"/>
              </a:rPr>
              <a:t>2,496</a:t>
            </a:r>
          </a:p>
        </p:txBody>
      </p:sp>
      <p:sp>
        <p:nvSpPr>
          <p:cNvPr id="14" name="transform-count-3-label">
            <a:extLst xmlns:a="http://schemas.openxmlformats.org/drawingml/2006/main">
              <a:ext uri="{FF2B5EF4-FFF2-40B4-BE49-F238E27FC236}">
                <a16:creationId xmlns:a16="http://schemas.microsoft.com/office/drawing/2014/main" id="{74BB0FCB-0834-4E54-9E3E-2D42B93D974D}"/>
              </a:ext>
            </a:extLst>
          </p:cNvPr>
          <p:cNvSpPr>
            <a:spLocks xmlns:a="http://schemas.openxmlformats.org/drawingml/2006/main" noGrp="1"/>
          </p:cNvSpPr>
          <p:nvPr/>
        </p:nvSpPr>
        <p:spPr>
          <a:xfrm xmlns:a="http://schemas.openxmlformats.org/drawingml/2006/main">
            <a:off x="7572375" y="5181600"/>
            <a:ext cx="323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52636D"/>
                </a:solidFill>
                <a:latin typeface="Arial"/>
                <a:ea typeface="Arial"/>
                <a:cs typeface="Arial"/>
              </a:defRPr>
            </a:defPPr>
          </a:lstStyle>
          <a:p xmlns:a="http://schemas.openxmlformats.org/drawingml/2006/main">
            <a:pPr algn="l">
              <a:defRPr sz="1350" b="0" i="0">
                <a:solidFill>
                  <a:srgbClr val="52636D"/>
                </a:solidFill>
                <a:latin typeface="Arial"/>
                <a:ea typeface="Arial"/>
                <a:cs typeface="Arial"/>
              </a:defRPr>
            </a:pPr>
            <a:r>
              <a:rPr sz="1350" b="0" i="0">
                <a:solidFill>
                  <a:srgbClr val="52636D"/>
                </a:solidFill>
                <a:latin typeface="Arial"/>
                <a:ea typeface="Arial"/>
                <a:cs typeface="Arial"/>
              </a:rPr>
              <a:t>city-month rows after aggregation</a:t>
            </a:r>
          </a:p>
        </p:txBody>
      </p:sp>
      <p:sp>
        <p:nvSpPr>
          <p:cNvPr id="15" name="transform-footnote">
            <a:extLst xmlns:a="http://schemas.openxmlformats.org/drawingml/2006/main">
              <a:ext uri="{FF2B5EF4-FFF2-40B4-BE49-F238E27FC236}">
                <a16:creationId xmlns:a16="http://schemas.microsoft.com/office/drawing/2014/main" id="{2F106B99-9291-4271-8845-D1C9785F9B6C}"/>
              </a:ext>
            </a:extLst>
          </p:cNvPr>
          <p:cNvSpPr>
            <a:spLocks xmlns:a="http://schemas.openxmlformats.org/drawingml/2006/main" noGrp="1"/>
          </p:cNvSpPr>
          <p:nvPr/>
        </p:nvSpPr>
        <p:spPr>
          <a:xfrm xmlns:a="http://schemas.openxmlformats.org/drawingml/2006/main">
            <a:off x="685800" y="6038850"/>
            <a:ext cx="10810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i="0">
                <a:solidFill>
                  <a:srgbClr val="172B3A"/>
                </a:solidFill>
                <a:latin typeface="Arial"/>
                <a:ea typeface="Arial"/>
                <a:cs typeface="Arial"/>
              </a:defRPr>
            </a:defPPr>
          </a:lstStyle>
          <a:p xmlns:a="http://schemas.openxmlformats.org/drawingml/2006/main">
            <a:pPr algn="l">
              <a:defRPr sz="1350" b="0" i="0">
                <a:solidFill>
                  <a:srgbClr val="172B3A"/>
                </a:solidFill>
                <a:latin typeface="Arial"/>
                <a:ea typeface="Arial"/>
                <a:cs typeface="Arial"/>
              </a:defRPr>
            </a:pPr>
            <a:r>
              <a:rPr sz="1350" b="0" i="0">
                <a:solidFill>
                  <a:srgbClr val="172B3A"/>
                </a:solidFill>
                <a:latin typeface="Arial"/>
                <a:ea typeface="Arial"/>
                <a:cs typeface="Arial"/>
              </a:rPr>
              <a:t>Annual summaries stay separate. State is mapped from the recognized city. District and unsupported attributes remain null.</a:t>
            </a:r>
          </a:p>
        </p:txBody>
      </p:sp>
    </p:spTree>
    <p:extLst>
      <p:ext uri="{BB962C8B-B14F-4D97-AF65-F5344CB8AC3E}">
        <p14:creationId xmlns:p14="http://schemas.microsoft.com/office/powerpoint/2010/main" val="1764417622"/>
      </p:ext>
    </p:extLst>
  </p:cSld>
</p:sld>
</file>

<file path=ppt/slides/slide1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AA437EA4-9972-44B4-92E6-5B55EB3138A2}"/>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DATA TRANSFORMATION</a:t>
            </a:r>
          </a:p>
        </p:txBody>
      </p:sp>
      <p:sp>
        <p:nvSpPr>
          <p:cNvPr id="2" name="slide-number">
            <a:extLst xmlns:a="http://schemas.openxmlformats.org/drawingml/2006/main">
              <a:ext uri="{FF2B5EF4-FFF2-40B4-BE49-F238E27FC236}">
                <a16:creationId xmlns:a16="http://schemas.microsoft.com/office/drawing/2014/main" id="{43B237DE-199B-42DD-B478-EC4617C2C1E6}"/>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13</a:t>
            </a:r>
          </a:p>
        </p:txBody>
      </p:sp>
      <p:sp>
        <p:nvSpPr>
          <p:cNvPr id="3" name="slide-title">
            <a:extLst xmlns:a="http://schemas.openxmlformats.org/drawingml/2006/main">
              <a:ext uri="{FF2B5EF4-FFF2-40B4-BE49-F238E27FC236}">
                <a16:creationId xmlns:a16="http://schemas.microsoft.com/office/drawing/2014/main" id="{35ED349F-3C4D-4320-804A-83870CBAD555}"/>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Combining Multiple Measurement Points</a:t>
            </a:r>
          </a:p>
        </p:txBody>
      </p:sp>
      <p:sp>
        <p:nvSpPr>
          <p:cNvPr id="4" name="header-rule">
            <a:extLst xmlns:a="http://schemas.openxmlformats.org/drawingml/2006/main">
              <a:ext uri="{FF2B5EF4-FFF2-40B4-BE49-F238E27FC236}">
                <a16:creationId xmlns:a16="http://schemas.microsoft.com/office/drawing/2014/main" id="{73D51045-F4D5-40D5-A726-BB5F7ED40A4C}"/>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FCBDF2CD-4F7F-4691-9AEA-69E4CDF7509A}"/>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Point files are aligned on city and month before spatial averaging creates a city-level record.</a:t>
            </a:r>
          </a:p>
        </p:txBody>
      </p:sp>
      <p:graphicFrame>
        <p:nvGraphicFramePr>
          <p:cNvPr id="6" name="">
            <a:extLst xmlns:a="http://schemas.openxmlformats.org/drawingml/2006/main">
              <a:ext uri="{FF2B5EF4-FFF2-40B4-BE49-F238E27FC236}">
                <a16:creationId xmlns:a16="http://schemas.microsoft.com/office/drawing/2014/main" id="{A866D85F-10AF-4395-96E7-A15186D93250}"/>
              </a:ext>
            </a:extLst>
          </p:cNvPr>
          <p:cNvGraphicFramePr/>
          <p:nvPr/>
        </p:nvGraphicFramePr>
        <p:xfrm>
          <a:off xmlns:a="http://schemas.openxmlformats.org/drawingml/2006/main" x="685800" y="1847850"/>
          <a:ext xmlns:a="http://schemas.openxmlformats.org/drawingml/2006/main" cx="6191250" cy="2419350"/>
        </p:xfrm>
        <a:graphic xmlns:a="http://schemas.openxmlformats.org/drawingml/2006/main">
          <a:graphicData uri="http://schemas.openxmlformats.org/drawingml/2006/table">
            <a:tbl>
              <a:tblPr/>
              <a:tblGrid>
                <a:gridCol w="2000250"/>
                <a:gridCol w="1047750"/>
                <a:gridCol w="1714500"/>
                <a:gridCol w="1428750"/>
              </a:tblGrid>
              <a:tr h="514350">
                <a:tc>
                  <a:txBody>
                    <a:bodyPr wrap="square" lIns="47625" tIns="47625" rIns="47625" bIns="47625">
                      <a:normAutofit/>
                    </a:bodyPr>
                    <a:lstStyle/>
                    <a:p>
                      <a:pPr algn="l"/>
                      <a:r>
                        <a:rPr sz="1575" b="1">
                          <a:solidFill>
                            <a:srgbClr val="FFFFFF"/>
                          </a:solidFill>
                          <a:latin typeface="Arial"/>
                          <a:ea typeface="Arial"/>
                          <a:cs typeface="Arial"/>
                        </a:rPr>
                        <a:t>City</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Point</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Month</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T2M (°C)</a:t>
                      </a:r>
                    </a:p>
                  </a:txBody>
                  <a:tcPr marL="91440" marR="91440" marT="45720" marB="45720" anchor="ctr">
                    <a:solidFill>
                      <a:srgbClr val="0E2841"/>
                    </a:solidFill>
                  </a:tcPr>
                </a:tc>
              </a:tr>
              <a:tr h="628650">
                <a:tc>
                  <a:txBody>
                    <a:bodyPr wrap="square" lIns="47625" tIns="47625" rIns="47625" bIns="47625">
                      <a:normAutofit/>
                    </a:bodyPr>
                    <a:lstStyle/>
                    <a:p>
                      <a:pPr algn="l"/>
                      <a:r>
                        <a:rPr sz="1650">
                          <a:solidFill>
                            <a:srgbClr val="172B3A"/>
                          </a:solidFill>
                          <a:latin typeface="Arial"/>
                          <a:ea typeface="Arial"/>
                          <a:cs typeface="Arial"/>
                        </a:rPr>
                        <a:t>Ahmedabad</a:t>
                      </a:r>
                    </a:p>
                  </a:txBody>
                  <a:tcPr marL="91440" marR="91440" marT="45720" marB="45720" anchor="ctr">
                    <a:solidFill>
                      <a:srgbClr val="FFFFFF"/>
                    </a:solidFill>
                  </a:tcPr>
                </a:tc>
                <a:tc>
                  <a:txBody>
                    <a:bodyPr wrap="square" lIns="47625" tIns="47625" rIns="47625" bIns="47625">
                      <a:normAutofit/>
                    </a:bodyPr>
                    <a:lstStyle/>
                    <a:p>
                      <a:pPr algn="l"/>
                      <a:r>
                        <a:rPr sz="1650">
                          <a:solidFill>
                            <a:srgbClr val="172B3A"/>
                          </a:solidFill>
                          <a:latin typeface="Arial"/>
                          <a:ea typeface="Arial"/>
                          <a:cs typeface="Arial"/>
                        </a:rPr>
                        <a:t>1</a:t>
                      </a:r>
                    </a:p>
                  </a:txBody>
                  <a:tcPr marL="91440" marR="91440" marT="45720" marB="45720" anchor="ctr">
                    <a:solidFill>
                      <a:srgbClr val="FFFFFF"/>
                    </a:solidFill>
                  </a:tcPr>
                </a:tc>
                <a:tc>
                  <a:txBody>
                    <a:bodyPr wrap="square" lIns="47625" tIns="47625" rIns="47625" bIns="47625">
                      <a:normAutofit/>
                    </a:bodyPr>
                    <a:lstStyle/>
                    <a:p>
                      <a:pPr algn="l"/>
                      <a:r>
                        <a:rPr sz="1650">
                          <a:solidFill>
                            <a:srgbClr val="172B3A"/>
                          </a:solidFill>
                          <a:latin typeface="Arial"/>
                          <a:ea typeface="Arial"/>
                          <a:cs typeface="Arial"/>
                        </a:rPr>
                        <a:t>2000-01</a:t>
                      </a:r>
                    </a:p>
                  </a:txBody>
                  <a:tcPr marL="91440" marR="91440" marT="45720" marB="45720" anchor="ctr">
                    <a:solidFill>
                      <a:srgbClr val="FFFFFF"/>
                    </a:solidFill>
                  </a:tcPr>
                </a:tc>
                <a:tc>
                  <a:txBody>
                    <a:bodyPr wrap="square" lIns="47625" tIns="47625" rIns="47625" bIns="47625">
                      <a:normAutofit/>
                    </a:bodyPr>
                    <a:lstStyle/>
                    <a:p>
                      <a:pPr algn="l"/>
                      <a:r>
                        <a:rPr sz="1650">
                          <a:solidFill>
                            <a:srgbClr val="172B3A"/>
                          </a:solidFill>
                          <a:latin typeface="Arial"/>
                          <a:ea typeface="Arial"/>
                          <a:cs typeface="Arial"/>
                        </a:rPr>
                        <a:t>21.79</a:t>
                      </a:r>
                    </a:p>
                  </a:txBody>
                  <a:tcPr marL="91440" marR="91440" marT="45720" marB="45720" anchor="ctr">
                    <a:solidFill>
                      <a:srgbClr val="FFFFFF"/>
                    </a:solidFill>
                  </a:tcPr>
                </a:tc>
              </a:tr>
              <a:tr h="628650">
                <a:tc>
                  <a:txBody>
                    <a:bodyPr wrap="square" lIns="47625" tIns="47625" rIns="47625" bIns="47625">
                      <a:normAutofit/>
                    </a:bodyPr>
                    <a:lstStyle/>
                    <a:p>
                      <a:pPr algn="l"/>
                      <a:r>
                        <a:rPr sz="1650">
                          <a:solidFill>
                            <a:srgbClr val="172B3A"/>
                          </a:solidFill>
                          <a:latin typeface="Arial"/>
                          <a:ea typeface="Arial"/>
                          <a:cs typeface="Arial"/>
                        </a:rPr>
                        <a:t>Ahmedabad</a:t>
                      </a:r>
                    </a:p>
                  </a:txBody>
                  <a:tcPr marL="91440" marR="91440" marT="45720" marB="45720" anchor="ctr">
                    <a:solidFill>
                      <a:srgbClr val="EAF2F5"/>
                    </a:solidFill>
                  </a:tcPr>
                </a:tc>
                <a:tc>
                  <a:txBody>
                    <a:bodyPr wrap="square" lIns="47625" tIns="47625" rIns="47625" bIns="47625">
                      <a:normAutofit/>
                    </a:bodyPr>
                    <a:lstStyle/>
                    <a:p>
                      <a:pPr algn="l"/>
                      <a:r>
                        <a:rPr sz="1650">
                          <a:solidFill>
                            <a:srgbClr val="172B3A"/>
                          </a:solidFill>
                          <a:latin typeface="Arial"/>
                          <a:ea typeface="Arial"/>
                          <a:cs typeface="Arial"/>
                        </a:rPr>
                        <a:t>2</a:t>
                      </a:r>
                    </a:p>
                  </a:txBody>
                  <a:tcPr marL="91440" marR="91440" marT="45720" marB="45720" anchor="ctr">
                    <a:solidFill>
                      <a:srgbClr val="EAF2F5"/>
                    </a:solidFill>
                  </a:tcPr>
                </a:tc>
                <a:tc>
                  <a:txBody>
                    <a:bodyPr wrap="square" lIns="47625" tIns="47625" rIns="47625" bIns="47625">
                      <a:normAutofit/>
                    </a:bodyPr>
                    <a:lstStyle/>
                    <a:p>
                      <a:pPr algn="l"/>
                      <a:r>
                        <a:rPr sz="1650">
                          <a:solidFill>
                            <a:srgbClr val="172B3A"/>
                          </a:solidFill>
                          <a:latin typeface="Arial"/>
                          <a:ea typeface="Arial"/>
                          <a:cs typeface="Arial"/>
                        </a:rPr>
                        <a:t>2000-01</a:t>
                      </a:r>
                    </a:p>
                  </a:txBody>
                  <a:tcPr marL="91440" marR="91440" marT="45720" marB="45720" anchor="ctr">
                    <a:solidFill>
                      <a:srgbClr val="EAF2F5"/>
                    </a:solidFill>
                  </a:tcPr>
                </a:tc>
                <a:tc>
                  <a:txBody>
                    <a:bodyPr wrap="square" lIns="47625" tIns="47625" rIns="47625" bIns="47625">
                      <a:normAutofit/>
                    </a:bodyPr>
                    <a:lstStyle/>
                    <a:p>
                      <a:pPr algn="l"/>
                      <a:r>
                        <a:rPr sz="1650">
                          <a:solidFill>
                            <a:srgbClr val="172B3A"/>
                          </a:solidFill>
                          <a:latin typeface="Arial"/>
                          <a:ea typeface="Arial"/>
                          <a:cs typeface="Arial"/>
                        </a:rPr>
                        <a:t>21.17</a:t>
                      </a:r>
                    </a:p>
                  </a:txBody>
                  <a:tcPr marL="91440" marR="91440" marT="45720" marB="45720" anchor="ctr">
                    <a:solidFill>
                      <a:srgbClr val="EAF2F5"/>
                    </a:solidFill>
                  </a:tcPr>
                </a:tc>
              </a:tr>
              <a:tr h="628650">
                <a:tc>
                  <a:txBody>
                    <a:bodyPr wrap="square" lIns="47625" tIns="47625" rIns="47625" bIns="47625">
                      <a:normAutofit/>
                    </a:bodyPr>
                    <a:lstStyle/>
                    <a:p>
                      <a:pPr algn="l"/>
                      <a:r>
                        <a:rPr sz="1650">
                          <a:solidFill>
                            <a:srgbClr val="172B3A"/>
                          </a:solidFill>
                          <a:latin typeface="Arial"/>
                          <a:ea typeface="Arial"/>
                          <a:cs typeface="Arial"/>
                        </a:rPr>
                        <a:t>Ahmedabad</a:t>
                      </a:r>
                    </a:p>
                  </a:txBody>
                  <a:tcPr marL="91440" marR="91440" marT="45720" marB="45720" anchor="ctr">
                    <a:solidFill>
                      <a:srgbClr val="FFFFFF"/>
                    </a:solidFill>
                  </a:tcPr>
                </a:tc>
                <a:tc>
                  <a:txBody>
                    <a:bodyPr wrap="square" lIns="47625" tIns="47625" rIns="47625" bIns="47625">
                      <a:normAutofit/>
                    </a:bodyPr>
                    <a:lstStyle/>
                    <a:p>
                      <a:pPr algn="l"/>
                      <a:r>
                        <a:rPr sz="1650">
                          <a:solidFill>
                            <a:srgbClr val="172B3A"/>
                          </a:solidFill>
                          <a:latin typeface="Arial"/>
                          <a:ea typeface="Arial"/>
                          <a:cs typeface="Arial"/>
                        </a:rPr>
                        <a:t>3</a:t>
                      </a:r>
                    </a:p>
                  </a:txBody>
                  <a:tcPr marL="91440" marR="91440" marT="45720" marB="45720" anchor="ctr">
                    <a:solidFill>
                      <a:srgbClr val="FFFFFF"/>
                    </a:solidFill>
                  </a:tcPr>
                </a:tc>
                <a:tc>
                  <a:txBody>
                    <a:bodyPr wrap="square" lIns="47625" tIns="47625" rIns="47625" bIns="47625">
                      <a:normAutofit/>
                    </a:bodyPr>
                    <a:lstStyle/>
                    <a:p>
                      <a:pPr algn="l"/>
                      <a:r>
                        <a:rPr sz="1650">
                          <a:solidFill>
                            <a:srgbClr val="172B3A"/>
                          </a:solidFill>
                          <a:latin typeface="Arial"/>
                          <a:ea typeface="Arial"/>
                          <a:cs typeface="Arial"/>
                        </a:rPr>
                        <a:t>2000-01</a:t>
                      </a:r>
                    </a:p>
                  </a:txBody>
                  <a:tcPr marL="91440" marR="91440" marT="45720" marB="45720" anchor="ctr">
                    <a:solidFill>
                      <a:srgbClr val="FFFFFF"/>
                    </a:solidFill>
                  </a:tcPr>
                </a:tc>
                <a:tc>
                  <a:txBody>
                    <a:bodyPr wrap="square" lIns="47625" tIns="47625" rIns="47625" bIns="47625">
                      <a:normAutofit/>
                    </a:bodyPr>
                    <a:lstStyle/>
                    <a:p>
                      <a:pPr algn="l"/>
                      <a:r>
                        <a:rPr sz="1650">
                          <a:solidFill>
                            <a:srgbClr val="172B3A"/>
                          </a:solidFill>
                          <a:latin typeface="Arial"/>
                          <a:ea typeface="Arial"/>
                          <a:cs typeface="Arial"/>
                        </a:rPr>
                        <a:t>21.17</a:t>
                      </a:r>
                    </a:p>
                  </a:txBody>
                  <a:tcPr marL="91440" marR="91440" marT="45720" marB="45720" anchor="ctr">
                    <a:solidFill>
                      <a:srgbClr val="FFFFFF"/>
                    </a:solidFill>
                  </a:tcPr>
                </a:tc>
              </a:tr>
            </a:tbl>
          </a:graphicData>
        </a:graphic>
      </p:graphicFrame>
      <p:sp>
        <p:nvSpPr>
          <p:cNvPr id="7" name="label-what-the-pipeline-preserves">
            <a:extLst xmlns:a="http://schemas.openxmlformats.org/drawingml/2006/main">
              <a:ext uri="{FF2B5EF4-FFF2-40B4-BE49-F238E27FC236}">
                <a16:creationId xmlns:a16="http://schemas.microsoft.com/office/drawing/2014/main" id="{4757BE95-3BF4-436A-A7A6-28E7C76A4BAA}"/>
              </a:ext>
            </a:extLst>
          </p:cNvPr>
          <p:cNvSpPr>
            <a:spLocks xmlns:a="http://schemas.openxmlformats.org/drawingml/2006/main" noGrp="1"/>
          </p:cNvSpPr>
          <p:nvPr/>
        </p:nvSpPr>
        <p:spPr>
          <a:xfrm xmlns:a="http://schemas.openxmlformats.org/drawingml/2006/main">
            <a:off x="7486650" y="18478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156082"/>
                </a:solidFill>
                <a:latin typeface="Arial"/>
                <a:ea typeface="Arial"/>
                <a:cs typeface="Arial"/>
              </a:defRPr>
            </a:defPPr>
          </a:lstStyle>
          <a:p xmlns:a="http://schemas.openxmlformats.org/drawingml/2006/main">
            <a:pPr algn="l">
              <a:defRPr sz="1125" b="1" i="0">
                <a:solidFill>
                  <a:srgbClr val="156082"/>
                </a:solidFill>
                <a:latin typeface="Arial"/>
                <a:ea typeface="Arial"/>
                <a:cs typeface="Arial"/>
              </a:defRPr>
            </a:pPr>
            <a:r>
              <a:rPr sz="1125" b="1" i="0">
                <a:solidFill>
                  <a:srgbClr val="156082"/>
                </a:solidFill>
                <a:latin typeface="Arial"/>
                <a:ea typeface="Arial"/>
                <a:cs typeface="Arial"/>
              </a:rPr>
              <a:t>WHAT THE PIPELINE PRESERVES</a:t>
            </a:r>
          </a:p>
        </p:txBody>
      </p:sp>
      <p:sp>
        <p:nvSpPr>
          <p:cNvPr id="8" name="editable-bullet-list">
            <a:extLst xmlns:a="http://schemas.openxmlformats.org/drawingml/2006/main">
              <a:ext uri="{FF2B5EF4-FFF2-40B4-BE49-F238E27FC236}">
                <a16:creationId xmlns:a16="http://schemas.microsoft.com/office/drawing/2014/main" id="{19192D4C-B5A3-4947-9293-CC840B99589B}"/>
              </a:ext>
            </a:extLst>
          </p:cNvPr>
          <p:cNvSpPr>
            <a:spLocks xmlns:a="http://schemas.openxmlformats.org/drawingml/2006/main" noGrp="1"/>
          </p:cNvSpPr>
          <p:nvPr/>
        </p:nvSpPr>
        <p:spPr>
          <a:xfrm xmlns:a="http://schemas.openxmlformats.org/drawingml/2006/main">
            <a:off x="7486650" y="2200275"/>
            <a:ext cx="3905250" cy="2305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8288"/>
          </a:bodyPr>
          <a:lstStyle xmlns:a="http://schemas.openxmlformats.org/drawingml/2006/main">
            <a:defPPr>
              <a:defRPr sz="1575">
                <a:solidFill>
                  <a:srgbClr val="172B3A"/>
                </a:solidFill>
                <a:latin typeface="Arial"/>
                <a:ea typeface="Arial"/>
                <a:cs typeface="Arial"/>
              </a:defRPr>
            </a:defPPr>
          </a:lstStyle>
          <a:p xmlns:a="http://schemas.openxmlformats.org/drawingml/2006/main">
            <a:pPr marL="241300" indent="-127000">
              <a:lnSpc>
                <a:spcPct val="108000"/>
              </a:lnSpc>
              <a:spcAft>
                <a:spcPts val="700"/>
              </a:spcAft>
              <a:buNone/>
              <a:defRPr sz="1575">
                <a:solidFill>
                  <a:srgbClr val="172B3A"/>
                </a:solidFill>
                <a:latin typeface="Arial"/>
                <a:ea typeface="Arial"/>
                <a:cs typeface="Arial"/>
              </a:defRPr>
            </a:pPr>
            <a:r>
              <a:rPr sz="1575">
                <a:solidFill>
                  <a:srgbClr val="172B3A"/>
                </a:solidFill>
                <a:latin typeface="Arial"/>
                <a:ea typeface="Arial"/>
                <a:cs typeface="Arial"/>
              </a:rPr>
              <a:t>City and measurement-point ID are parsed from each filename.</a:t>
            </a:r>
          </a:p>
          <a:p xmlns:a="http://schemas.openxmlformats.org/drawingml/2006/main">
            <a:pPr marL="241300" indent="-127000">
              <a:lnSpc>
                <a:spcPct val="108000"/>
              </a:lnSpc>
              <a:spcAft>
                <a:spcPts val="700"/>
              </a:spcAft>
              <a:buNone/>
              <a:defRPr sz="1575">
                <a:solidFill>
                  <a:srgbClr val="172B3A"/>
                </a:solidFill>
                <a:latin typeface="Arial"/>
                <a:ea typeface="Arial"/>
                <a:cs typeface="Arial"/>
              </a:defRPr>
            </a:pPr>
            <a:r>
              <a:rPr sz="1575">
                <a:solidFill>
                  <a:srgbClr val="172B3A"/>
                </a:solidFill>
                <a:latin typeface="Arial"/>
                <a:ea typeface="Arial"/>
                <a:cs typeface="Arial"/>
              </a:rPr>
              <a:t>The file header supplies latitude and longitude.</a:t>
            </a:r>
          </a:p>
          <a:p xmlns:a="http://schemas.openxmlformats.org/drawingml/2006/main">
            <a:pPr marL="241300" indent="-127000">
              <a:lnSpc>
                <a:spcPct val="108000"/>
              </a:lnSpc>
              <a:spcAft>
                <a:spcPts val="700"/>
              </a:spcAft>
              <a:buNone/>
              <a:defRPr sz="1575">
                <a:solidFill>
                  <a:srgbClr val="172B3A"/>
                </a:solidFill>
                <a:latin typeface="Arial"/>
                <a:ea typeface="Arial"/>
                <a:cs typeface="Arial"/>
              </a:defRPr>
            </a:pPr>
            <a:r>
              <a:rPr sz="1575">
                <a:solidFill>
                  <a:srgbClr val="172B3A"/>
                </a:solidFill>
                <a:latin typeface="Arial"/>
                <a:ea typeface="Arial"/>
                <a:cs typeface="Arial"/>
              </a:rPr>
              <a:t>Records align on the month and parameter before aggregation.</a:t>
            </a:r>
          </a:p>
          <a:p xmlns:a="http://schemas.openxmlformats.org/drawingml/2006/main">
            <a:pPr marL="241300" indent="-127000">
              <a:lnSpc>
                <a:spcPct val="108000"/>
              </a:lnSpc>
              <a:spcAft>
                <a:spcPts val="700"/>
              </a:spcAft>
              <a:buNone/>
              <a:defRPr sz="1575">
                <a:solidFill>
                  <a:srgbClr val="172B3A"/>
                </a:solidFill>
                <a:latin typeface="Arial"/>
                <a:ea typeface="Arial"/>
                <a:cs typeface="Arial"/>
              </a:defRPr>
            </a:pPr>
            <a:r>
              <a:rPr sz="1575">
                <a:solidFill>
                  <a:srgbClr val="172B3A"/>
                </a:solidFill>
                <a:latin typeface="Arial"/>
                <a:ea typeface="Arial"/>
                <a:cs typeface="Arial"/>
              </a:rPr>
              <a:t>Duplicate city-point-period-parameter keys are checked.</a:t>
            </a:r>
          </a:p>
        </p:txBody>
      </p:sp>
      <p:sp>
        <p:nvSpPr>
          <p:cNvPr id="9" name="combine-separator">
            <a:extLst xmlns:a="http://schemas.openxmlformats.org/drawingml/2006/main">
              <a:ext uri="{FF2B5EF4-FFF2-40B4-BE49-F238E27FC236}">
                <a16:creationId xmlns:a16="http://schemas.microsoft.com/office/drawing/2014/main" id="{2A08834A-0159-4E4A-A86D-7DBD826381CD}"/>
              </a:ext>
            </a:extLst>
          </p:cNvPr>
          <p:cNvSpPr>
            <a:spLocks xmlns:a="http://schemas.openxmlformats.org/drawingml/2006/main" noGrp="1"/>
          </p:cNvSpPr>
          <p:nvPr/>
        </p:nvSpPr>
        <p:spPr>
          <a:xfrm xmlns:a="http://schemas.openxmlformats.org/drawingml/2006/main">
            <a:off x="685800" y="4638675"/>
            <a:ext cx="1064895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10" name="combine-distinction">
            <a:extLst xmlns:a="http://schemas.openxmlformats.org/drawingml/2006/main">
              <a:ext uri="{FF2B5EF4-FFF2-40B4-BE49-F238E27FC236}">
                <a16:creationId xmlns:a16="http://schemas.microsoft.com/office/drawing/2014/main" id="{40E86DD7-B517-41C1-8C6B-3A9F3EC1716B}"/>
              </a:ext>
            </a:extLst>
          </p:cNvPr>
          <p:cNvSpPr>
            <a:spLocks xmlns:a="http://schemas.openxmlformats.org/drawingml/2006/main" noGrp="1"/>
          </p:cNvSpPr>
          <p:nvPr/>
        </p:nvSpPr>
        <p:spPr>
          <a:xfrm xmlns:a="http://schemas.openxmlformats.org/drawingml/2006/main">
            <a:off x="685800" y="49530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i="0">
                <a:solidFill>
                  <a:srgbClr val="0E2841"/>
                </a:solidFill>
                <a:latin typeface="Arial"/>
                <a:ea typeface="Arial"/>
                <a:cs typeface="Arial"/>
              </a:defRPr>
            </a:defPPr>
          </a:lstStyle>
          <a:p xmlns:a="http://schemas.openxmlformats.org/drawingml/2006/main">
            <a:pPr algn="l">
              <a:defRPr sz="1875" b="1" i="0">
                <a:solidFill>
                  <a:srgbClr val="0E2841"/>
                </a:solidFill>
                <a:latin typeface="Arial"/>
                <a:ea typeface="Arial"/>
                <a:cs typeface="Arial"/>
              </a:defRPr>
            </a:pPr>
            <a:r>
              <a:rPr sz="1875" b="1" i="0">
                <a:solidFill>
                  <a:srgbClr val="0E2841"/>
                </a:solidFill>
                <a:latin typeface="Arial"/>
                <a:ea typeface="Arial"/>
                <a:cs typeface="Arial"/>
              </a:rPr>
              <a:t>Combining creates a common point-level table. Aggregating then reduces several points to one city-month value.</a:t>
            </a:r>
          </a:p>
        </p:txBody>
      </p:sp>
      <p:sp>
        <p:nvSpPr>
          <p:cNvPr id="11" name="combine-count">
            <a:extLst xmlns:a="http://schemas.openxmlformats.org/drawingml/2006/main">
              <a:ext uri="{FF2B5EF4-FFF2-40B4-BE49-F238E27FC236}">
                <a16:creationId xmlns:a16="http://schemas.microsoft.com/office/drawing/2014/main" id="{D375EE82-2562-4D27-97A7-74621087478C}"/>
              </a:ext>
            </a:extLst>
          </p:cNvPr>
          <p:cNvSpPr>
            <a:spLocks xmlns:a="http://schemas.openxmlformats.org/drawingml/2006/main" noGrp="1"/>
          </p:cNvSpPr>
          <p:nvPr/>
        </p:nvSpPr>
        <p:spPr>
          <a:xfrm xmlns:a="http://schemas.openxmlformats.org/drawingml/2006/main">
            <a:off x="685800" y="58007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156082"/>
                </a:solidFill>
                <a:latin typeface="Arial"/>
                <a:ea typeface="Arial"/>
                <a:cs typeface="Arial"/>
              </a:defRPr>
            </a:defPPr>
          </a:lstStyle>
          <a:p xmlns:a="http://schemas.openxmlformats.org/drawingml/2006/main">
            <a:pPr algn="l">
              <a:defRPr sz="1500" b="1" i="0">
                <a:solidFill>
                  <a:srgbClr val="156082"/>
                </a:solidFill>
                <a:latin typeface="Arial"/>
                <a:ea typeface="Arial"/>
                <a:cs typeface="Arial"/>
              </a:defRPr>
            </a:pPr>
            <a:r>
              <a:rPr sz="1500" b="1" i="0">
                <a:solidFill>
                  <a:srgbClr val="156082"/>
                </a:solidFill>
                <a:latin typeface="Arial"/>
                <a:ea typeface="Arial"/>
                <a:cs typeface="Arial"/>
              </a:rPr>
              <a:t>Point coverage varies by city: 9 in Ahmedabad, 10 in six cities, and 20 in Delhi.</a:t>
            </a:r>
          </a:p>
        </p:txBody>
      </p:sp>
    </p:spTree>
    <p:extLst>
      <p:ext uri="{BB962C8B-B14F-4D97-AF65-F5344CB8AC3E}">
        <p14:creationId xmlns:p14="http://schemas.microsoft.com/office/powerpoint/2010/main" val="472051336"/>
      </p:ext>
    </p:extLst>
  </p:cSld>
</p:sld>
</file>

<file path=ppt/slides/slide14.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5C81743C-0ABD-497F-BF08-40AF23555E21}"/>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CITY-LEVEL AGGREGATION</a:t>
            </a:r>
          </a:p>
        </p:txBody>
      </p:sp>
      <p:sp>
        <p:nvSpPr>
          <p:cNvPr id="2" name="slide-number">
            <a:extLst xmlns:a="http://schemas.openxmlformats.org/drawingml/2006/main">
              <a:ext uri="{FF2B5EF4-FFF2-40B4-BE49-F238E27FC236}">
                <a16:creationId xmlns:a16="http://schemas.microsoft.com/office/drawing/2014/main" id="{AE30BF20-9455-458E-BD29-BAA7F6DA69F5}"/>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14</a:t>
            </a:r>
          </a:p>
        </p:txBody>
      </p:sp>
      <p:sp>
        <p:nvSpPr>
          <p:cNvPr id="3" name="slide-title">
            <a:extLst xmlns:a="http://schemas.openxmlformats.org/drawingml/2006/main">
              <a:ext uri="{FF2B5EF4-FFF2-40B4-BE49-F238E27FC236}">
                <a16:creationId xmlns:a16="http://schemas.microsoft.com/office/drawing/2014/main" id="{3F297E52-67F2-4BF2-A1C1-FA32C2969378}"/>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Aggregation Methods Used in the Pipeline</a:t>
            </a:r>
          </a:p>
        </p:txBody>
      </p:sp>
      <p:sp>
        <p:nvSpPr>
          <p:cNvPr id="4" name="header-rule">
            <a:extLst xmlns:a="http://schemas.openxmlformats.org/drawingml/2006/main">
              <a:ext uri="{FF2B5EF4-FFF2-40B4-BE49-F238E27FC236}">
                <a16:creationId xmlns:a16="http://schemas.microsoft.com/office/drawing/2014/main" id="{7154992F-576A-416F-8F26-FF7F1627618D}"/>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A242B943-1B03-4FEB-A0C7-56E06C83ECF6}"/>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implemented spatial summary gives each available measurement point equal weight for a given city and month.</a:t>
            </a:r>
          </a:p>
        </p:txBody>
      </p:sp>
      <p:sp>
        <p:nvSpPr>
          <p:cNvPr id="6" name="mean-formula">
            <a:extLst xmlns:a="http://schemas.openxmlformats.org/drawingml/2006/main">
              <a:ext uri="{FF2B5EF4-FFF2-40B4-BE49-F238E27FC236}">
                <a16:creationId xmlns:a16="http://schemas.microsoft.com/office/drawing/2014/main" id="{59E11202-C299-4CA5-9CDF-4E7B7D466C0E}"/>
              </a:ext>
            </a:extLst>
          </p:cNvPr>
          <p:cNvSpPr>
            <a:spLocks xmlns:a="http://schemas.openxmlformats.org/drawingml/2006/main" noGrp="1"/>
          </p:cNvSpPr>
          <p:nvPr/>
        </p:nvSpPr>
        <p:spPr>
          <a:xfrm xmlns:a="http://schemas.openxmlformats.org/drawingml/2006/main">
            <a:off x="704850" y="1895475"/>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775" b="1" i="0">
                <a:solidFill>
                  <a:srgbClr val="156082"/>
                </a:solidFill>
                <a:latin typeface="Arial"/>
                <a:ea typeface="Arial"/>
                <a:cs typeface="Arial"/>
              </a:defRPr>
            </a:defPPr>
          </a:lstStyle>
          <a:p xmlns:a="http://schemas.openxmlformats.org/drawingml/2006/main">
            <a:pPr algn="ctr">
              <a:defRPr sz="2775" b="1" i="0">
                <a:solidFill>
                  <a:srgbClr val="156082"/>
                </a:solidFill>
                <a:latin typeface="Arial"/>
                <a:ea typeface="Arial"/>
                <a:cs typeface="Arial"/>
              </a:defRPr>
            </a:pPr>
            <a:r>
              <a:rPr sz="2775" b="1" i="0">
                <a:solidFill>
                  <a:srgbClr val="156082"/>
                </a:solidFill>
                <a:latin typeface="Arial"/>
                <a:ea typeface="Arial"/>
                <a:cs typeface="Arial"/>
              </a:rPr>
              <a:t>x̄(city, month) = (x₁ + x₂ + … + xₙ) / n</a:t>
            </a:r>
          </a:p>
        </p:txBody>
      </p:sp>
      <p:sp>
        <p:nvSpPr>
          <p:cNvPr id="7" name="aggregation-divider">
            <a:extLst xmlns:a="http://schemas.openxmlformats.org/drawingml/2006/main">
              <a:ext uri="{FF2B5EF4-FFF2-40B4-BE49-F238E27FC236}">
                <a16:creationId xmlns:a16="http://schemas.microsoft.com/office/drawing/2014/main" id="{7AB9EDB8-F8BB-4579-8738-874D8F608313}"/>
              </a:ext>
            </a:extLst>
          </p:cNvPr>
          <p:cNvSpPr>
            <a:spLocks xmlns:a="http://schemas.openxmlformats.org/drawingml/2006/main" noGrp="1"/>
          </p:cNvSpPr>
          <p:nvPr/>
        </p:nvSpPr>
        <p:spPr>
          <a:xfrm xmlns:a="http://schemas.openxmlformats.org/drawingml/2006/main">
            <a:off x="723900" y="2781300"/>
            <a:ext cx="1061085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graphicFrame>
        <p:nvGraphicFramePr>
          <p:cNvPr id="8" name="">
            <a:extLst xmlns:a="http://schemas.openxmlformats.org/drawingml/2006/main">
              <a:ext uri="{FF2B5EF4-FFF2-40B4-BE49-F238E27FC236}">
                <a16:creationId xmlns:a16="http://schemas.microsoft.com/office/drawing/2014/main" id="{171B20AC-6981-4723-872E-0088787AE697}"/>
              </a:ext>
            </a:extLst>
          </p:cNvPr>
          <p:cNvGraphicFramePr/>
          <p:nvPr/>
        </p:nvGraphicFramePr>
        <p:xfrm>
          <a:off xmlns:a="http://schemas.openxmlformats.org/drawingml/2006/main" x="685800" y="2924175"/>
          <a:ext xmlns:a="http://schemas.openxmlformats.org/drawingml/2006/main" cx="10572750" cy="2533650"/>
        </p:xfrm>
        <a:graphic xmlns:a="http://schemas.openxmlformats.org/drawingml/2006/main">
          <a:graphicData uri="http://schemas.openxmlformats.org/drawingml/2006/table">
            <a:tbl>
              <a:tblPr/>
              <a:tblGrid>
                <a:gridCol w="3000375"/>
                <a:gridCol w="4095750"/>
                <a:gridCol w="3476625"/>
              </a:tblGrid>
              <a:tr h="438150">
                <a:tc>
                  <a:txBody>
                    <a:bodyPr wrap="square" lIns="47625" tIns="47625" rIns="47625" bIns="47625">
                      <a:normAutofit/>
                    </a:bodyPr>
                    <a:lstStyle/>
                    <a:p>
                      <a:pPr algn="l"/>
                      <a:r>
                        <a:rPr sz="1500" b="1">
                          <a:solidFill>
                            <a:srgbClr val="FFFFFF"/>
                          </a:solidFill>
                          <a:latin typeface="Arial"/>
                          <a:ea typeface="Arial"/>
                          <a:cs typeface="Arial"/>
                        </a:rPr>
                        <a:t>Values being aggregated</a:t>
                      </a:r>
                    </a:p>
                  </a:txBody>
                  <a:tcPr marL="91440" marR="91440" marT="45720" marB="45720" anchor="ctr">
                    <a:solidFill>
                      <a:srgbClr val="0E2841"/>
                    </a:solidFill>
                  </a:tcPr>
                </a:tc>
                <a:tc>
                  <a:txBody>
                    <a:bodyPr wrap="square" lIns="47625" tIns="47625" rIns="47625" bIns="47625">
                      <a:normAutofit/>
                    </a:bodyPr>
                    <a:lstStyle/>
                    <a:p>
                      <a:pPr algn="l"/>
                      <a:r>
                        <a:rPr sz="1500" b="1">
                          <a:solidFill>
                            <a:srgbClr val="FFFFFF"/>
                          </a:solidFill>
                          <a:latin typeface="Arial"/>
                          <a:ea typeface="Arial"/>
                          <a:cs typeface="Arial"/>
                        </a:rPr>
                        <a:t>Implemented rule</a:t>
                      </a:r>
                    </a:p>
                  </a:txBody>
                  <a:tcPr marL="91440" marR="91440" marT="45720" marB="45720" anchor="ctr">
                    <a:solidFill>
                      <a:srgbClr val="0E2841"/>
                    </a:solidFill>
                  </a:tcPr>
                </a:tc>
                <a:tc>
                  <a:txBody>
                    <a:bodyPr wrap="square" lIns="47625" tIns="47625" rIns="47625" bIns="47625">
                      <a:normAutofit/>
                    </a:bodyPr>
                    <a:lstStyle/>
                    <a:p>
                      <a:pPr algn="l"/>
                      <a:r>
                        <a:rPr sz="1500" b="1">
                          <a:solidFill>
                            <a:srgbClr val="FFFFFF"/>
                          </a:solidFill>
                          <a:latin typeface="Arial"/>
                          <a:ea typeface="Arial"/>
                          <a:cs typeface="Arial"/>
                        </a:rPr>
                        <a:t>Interpretation</a:t>
                      </a:r>
                    </a:p>
                  </a:txBody>
                  <a:tcPr marL="91440" marR="91440" marT="45720" marB="45720" anchor="ctr">
                    <a:solidFill>
                      <a:srgbClr val="0E2841"/>
                    </a:solidFill>
                  </a:tcPr>
                </a:tc>
              </a:tr>
              <a:tr h="571500">
                <a:tc>
                  <a:txBody>
                    <a:bodyPr wrap="square" lIns="47625" tIns="47625" rIns="47625" bIns="47625">
                      <a:normAutofit/>
                    </a:bodyPr>
                    <a:lstStyle/>
                    <a:p>
                      <a:pPr algn="l"/>
                      <a:r>
                        <a:rPr sz="1425">
                          <a:solidFill>
                            <a:srgbClr val="172B3A"/>
                          </a:solidFill>
                          <a:latin typeface="Arial"/>
                          <a:ea typeface="Arial"/>
                          <a:cs typeface="Arial"/>
                        </a:rPr>
                        <a:t>All 15 climate parameter columns</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Arithmetic mean across available point values for the same city-month</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Equal-weight spatial summary of monthly grid-point estimates</a:t>
                      </a:r>
                    </a:p>
                  </a:txBody>
                  <a:tcPr marL="91440" marR="91440" marT="45720" marB="45720" anchor="ctr">
                    <a:solidFill>
                      <a:srgbClr val="FFFFFF"/>
                    </a:solidFill>
                  </a:tcPr>
                </a:tc>
              </a:tr>
              <a:tr h="514350">
                <a:tc>
                  <a:txBody>
                    <a:bodyPr wrap="square" lIns="47625" tIns="47625" rIns="47625" bIns="47625">
                      <a:normAutofit/>
                    </a:bodyPr>
                    <a:lstStyle/>
                    <a:p>
                      <a:pPr algn="l"/>
                      <a:r>
                        <a:rPr sz="1425">
                          <a:solidFill>
                            <a:srgbClr val="172B3A"/>
                          </a:solidFill>
                          <a:latin typeface="Arial"/>
                          <a:ea typeface="Arial"/>
                          <a:cs typeface="Arial"/>
                        </a:rPr>
                        <a:t>Latitude and longitude</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Separate arithmetic mean of point coordinates by city</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Representative city coordinate, not a climate measurement</a:t>
                      </a:r>
                    </a:p>
                  </a:txBody>
                  <a:tcPr marL="91440" marR="91440" marT="45720" marB="45720" anchor="ctr">
                    <a:solidFill>
                      <a:srgbClr val="EAF2F5"/>
                    </a:solidFill>
                  </a:tcPr>
                </a:tc>
              </a:tr>
              <a:tr h="457200">
                <a:tc>
                  <a:txBody>
                    <a:bodyPr wrap="square" lIns="47625" tIns="47625" rIns="47625" bIns="47625">
                      <a:normAutofit/>
                    </a:bodyPr>
                    <a:lstStyle/>
                    <a:p>
                      <a:pPr algn="l"/>
                      <a:r>
                        <a:rPr sz="1425">
                          <a:solidFill>
                            <a:srgbClr val="172B3A"/>
                          </a:solidFill>
                          <a:latin typeface="Arial"/>
                          <a:ea typeface="Arial"/>
                          <a:cs typeface="Arial"/>
                        </a:rPr>
                        <a:t>City, state, point ID, date</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Retained or mapped; never averaged</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Identifiers define the records being combined</a:t>
                      </a:r>
                    </a:p>
                  </a:txBody>
                  <a:tcPr marL="91440" marR="91440" marT="45720" marB="45720" anchor="ctr">
                    <a:solidFill>
                      <a:srgbClr val="FFFFFF"/>
                    </a:solidFill>
                  </a:tcPr>
                </a:tc>
              </a:tr>
              <a:tr h="552450">
                <a:tc>
                  <a:txBody>
                    <a:bodyPr wrap="square" lIns="47625" tIns="47625" rIns="47625" bIns="47625">
                      <a:normAutofit/>
                    </a:bodyPr>
                    <a:lstStyle/>
                    <a:p>
                      <a:pPr algn="l"/>
                      <a:r>
                        <a:rPr sz="1425">
                          <a:solidFill>
                            <a:srgbClr val="172B3A"/>
                          </a:solidFill>
                          <a:latin typeface="Arial"/>
                          <a:ea typeface="Arial"/>
                          <a:cs typeface="Arial"/>
                        </a:rPr>
                        <a:t>Anomalies for rainfall and T2M</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Value minus city calendar-month mean; at least 10 years</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Derived relative to 2000–2025 monthly baseline</a:t>
                      </a:r>
                    </a:p>
                  </a:txBody>
                  <a:tcPr marL="91440" marR="91440" marT="45720" marB="45720" anchor="ctr">
                    <a:solidFill>
                      <a:srgbClr val="EAF2F5"/>
                    </a:solidFill>
                  </a:tcPr>
                </a:tc>
              </a:tr>
            </a:tbl>
          </a:graphicData>
        </a:graphic>
      </p:graphicFrame>
      <p:sp>
        <p:nvSpPr>
          <p:cNvPr id="9" name="aggregation-limits">
            <a:extLst xmlns:a="http://schemas.openxmlformats.org/drawingml/2006/main">
              <a:ext uri="{FF2B5EF4-FFF2-40B4-BE49-F238E27FC236}">
                <a16:creationId xmlns:a16="http://schemas.microsoft.com/office/drawing/2014/main" id="{7342E919-BEE1-4253-9377-7B52103BEB78}"/>
              </a:ext>
            </a:extLst>
          </p:cNvPr>
          <p:cNvSpPr>
            <a:spLocks xmlns:a="http://schemas.openxmlformats.org/drawingml/2006/main" noGrp="1"/>
          </p:cNvSpPr>
          <p:nvPr/>
        </p:nvSpPr>
        <p:spPr>
          <a:xfrm xmlns:a="http://schemas.openxmlformats.org/drawingml/2006/main">
            <a:off x="685800" y="5934075"/>
            <a:ext cx="105727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E97132"/>
                </a:solidFill>
                <a:latin typeface="Arial"/>
                <a:ea typeface="Arial"/>
                <a:cs typeface="Arial"/>
              </a:defRPr>
            </a:defPPr>
          </a:lstStyle>
          <a:p xmlns:a="http://schemas.openxmlformats.org/drawingml/2006/main">
            <a:pPr algn="l">
              <a:defRPr sz="1350" b="1" i="0">
                <a:solidFill>
                  <a:srgbClr val="E97132"/>
                </a:solidFill>
                <a:latin typeface="Arial"/>
                <a:ea typeface="Arial"/>
                <a:cs typeface="Arial"/>
              </a:defRPr>
            </a:pPr>
            <a:r>
              <a:rPr sz="1350" b="1" i="0">
                <a:solidFill>
                  <a:srgbClr val="E97132"/>
                </a:solidFill>
                <a:latin typeface="Arial"/>
                <a:ea typeface="Arial"/>
                <a:cs typeface="Arial"/>
              </a:rPr>
              <a:t>No weighted, median, circular-direction, or temporal summation method is implemented here. This source supports monthly summaries, not daily observations.</a:t>
            </a:r>
          </a:p>
        </p:txBody>
      </p:sp>
    </p:spTree>
    <p:extLst>
      <p:ext uri="{BB962C8B-B14F-4D97-AF65-F5344CB8AC3E}">
        <p14:creationId xmlns:p14="http://schemas.microsoft.com/office/powerpoint/2010/main" val="1877528116"/>
      </p:ext>
    </p:extLst>
  </p:cSld>
</p:sld>
</file>

<file path=ppt/slides/slide15.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5" name="section-label">
            <a:extLst xmlns:a="http://schemas.openxmlformats.org/drawingml/2006/main">
              <a:ext uri="{FF2B5EF4-FFF2-40B4-BE49-F238E27FC236}">
                <a16:creationId xmlns:a16="http://schemas.microsoft.com/office/drawing/2014/main" id="{019EEEB4-01A7-452B-B5FE-2CF6D50D497E}"/>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CITY-LEVEL AGGREGATION</a:t>
            </a:r>
          </a:p>
        </p:txBody>
      </p:sp>
      <p:sp>
        <p:nvSpPr>
          <p:cNvPr id="2" name="slide-number">
            <a:extLst xmlns:a="http://schemas.openxmlformats.org/drawingml/2006/main">
              <a:ext uri="{FF2B5EF4-FFF2-40B4-BE49-F238E27FC236}">
                <a16:creationId xmlns:a16="http://schemas.microsoft.com/office/drawing/2014/main" id="{6D036B79-515F-4A60-8918-FB4D2F61F1FA}"/>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15</a:t>
            </a:r>
          </a:p>
        </p:txBody>
      </p:sp>
      <p:sp>
        <p:nvSpPr>
          <p:cNvPr id="3" name="slide-title">
            <a:extLst xmlns:a="http://schemas.openxmlformats.org/drawingml/2006/main">
              <a:ext uri="{FF2B5EF4-FFF2-40B4-BE49-F238E27FC236}">
                <a16:creationId xmlns:a16="http://schemas.microsoft.com/office/drawing/2014/main" id="{1F05B8B9-279F-4615-A3B5-E5F6A0B30329}"/>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Aggregation Example: Nine Points to One City-Month</a:t>
            </a:r>
          </a:p>
        </p:txBody>
      </p:sp>
      <p:sp>
        <p:nvSpPr>
          <p:cNvPr id="4" name="header-rule">
            <a:extLst xmlns:a="http://schemas.openxmlformats.org/drawingml/2006/main">
              <a:ext uri="{FF2B5EF4-FFF2-40B4-BE49-F238E27FC236}">
                <a16:creationId xmlns:a16="http://schemas.microsoft.com/office/drawing/2014/main" id="{233390AE-D190-4BFD-B738-E3C1DD714933}"/>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74E9237C-6D48-4CA7-A967-FB680EDD9DEB}"/>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A January 2000 Ahmedabad example follows the actual point records into the consolidated monthly row.</a:t>
            </a:r>
          </a:p>
        </p:txBody>
      </p:sp>
      <p:sp>
        <p:nvSpPr>
          <p:cNvPr id="6" name="label-nine-point-level-t2m-values">
            <a:extLst xmlns:a="http://schemas.openxmlformats.org/drawingml/2006/main">
              <a:ext uri="{FF2B5EF4-FFF2-40B4-BE49-F238E27FC236}">
                <a16:creationId xmlns:a16="http://schemas.microsoft.com/office/drawing/2014/main" id="{2537749F-7346-40F6-A275-5B4F82E90812}"/>
              </a:ext>
            </a:extLst>
          </p:cNvPr>
          <p:cNvSpPr>
            <a:spLocks xmlns:a="http://schemas.openxmlformats.org/drawingml/2006/main" noGrp="1"/>
          </p:cNvSpPr>
          <p:nvPr/>
        </p:nvSpPr>
        <p:spPr>
          <a:xfrm xmlns:a="http://schemas.openxmlformats.org/drawingml/2006/main">
            <a:off x="704850" y="1809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156082"/>
                </a:solidFill>
                <a:latin typeface="Arial"/>
                <a:ea typeface="Arial"/>
                <a:cs typeface="Arial"/>
              </a:defRPr>
            </a:defPPr>
          </a:lstStyle>
          <a:p xmlns:a="http://schemas.openxmlformats.org/drawingml/2006/main">
            <a:pPr algn="l">
              <a:defRPr sz="1125" b="1" i="0">
                <a:solidFill>
                  <a:srgbClr val="156082"/>
                </a:solidFill>
                <a:latin typeface="Arial"/>
                <a:ea typeface="Arial"/>
                <a:cs typeface="Arial"/>
              </a:defRPr>
            </a:pPr>
            <a:r>
              <a:rPr sz="1125" b="1" i="0">
                <a:solidFill>
                  <a:srgbClr val="156082"/>
                </a:solidFill>
                <a:latin typeface="Arial"/>
                <a:ea typeface="Arial"/>
                <a:cs typeface="Arial"/>
              </a:rPr>
              <a:t>NINE POINT-LEVEL T2M VALUES</a:t>
            </a:r>
          </a:p>
        </p:txBody>
      </p:sp>
      <p:sp>
        <p:nvSpPr>
          <p:cNvPr id="7" name="aggregation-values">
            <a:extLst xmlns:a="http://schemas.openxmlformats.org/drawingml/2006/main">
              <a:ext uri="{FF2B5EF4-FFF2-40B4-BE49-F238E27FC236}">
                <a16:creationId xmlns:a16="http://schemas.microsoft.com/office/drawing/2014/main" id="{F7B9F365-CE1A-44F9-B2AA-C31FAA1A7219}"/>
              </a:ext>
            </a:extLst>
          </p:cNvPr>
          <p:cNvSpPr>
            <a:spLocks xmlns:a="http://schemas.openxmlformats.org/drawingml/2006/main" noGrp="1"/>
          </p:cNvSpPr>
          <p:nvPr/>
        </p:nvSpPr>
        <p:spPr>
          <a:xfrm xmlns:a="http://schemas.openxmlformats.org/drawingml/2006/main">
            <a:off x="704850" y="2152650"/>
            <a:ext cx="5429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i="0">
                <a:solidFill>
                  <a:srgbClr val="172B3A"/>
                </a:solidFill>
                <a:latin typeface="Arial"/>
                <a:ea typeface="Arial"/>
                <a:cs typeface="Arial"/>
              </a:defRPr>
            </a:defPPr>
          </a:lstStyle>
          <a:p xmlns:a="http://schemas.openxmlformats.org/drawingml/2006/main">
            <a:pPr algn="l">
              <a:defRPr sz="1875" b="1" i="0">
                <a:solidFill>
                  <a:srgbClr val="172B3A"/>
                </a:solidFill>
                <a:latin typeface="Arial"/>
                <a:ea typeface="Arial"/>
                <a:cs typeface="Arial"/>
              </a:defRPr>
            </a:pPr>
            <a:r>
              <a:rPr sz="1875" b="1" i="0">
                <a:solidFill>
                  <a:srgbClr val="172B3A"/>
                </a:solidFill>
                <a:latin typeface="Arial"/>
                <a:ea typeface="Arial"/>
                <a:cs typeface="Arial"/>
              </a:rPr>
              <a:t>21.79, 21.17, 21.17, 21.17, 21.17,</a:t>
            </a:r>
          </a:p>
          <a:p xmlns:a="http://schemas.openxmlformats.org/drawingml/2006/main">
            <a:pPr algn="l">
              <a:defRPr sz="1875" b="1" i="0">
                <a:solidFill>
                  <a:srgbClr val="172B3A"/>
                </a:solidFill>
                <a:latin typeface="Arial"/>
                <a:ea typeface="Arial"/>
                <a:cs typeface="Arial"/>
              </a:defRPr>
            </a:pPr>
            <a:r>
              <a:rPr sz="1875" b="1" i="0">
                <a:solidFill>
                  <a:srgbClr val="172B3A"/>
                </a:solidFill>
                <a:latin typeface="Arial"/>
                <a:ea typeface="Arial"/>
                <a:cs typeface="Arial"/>
              </a:rPr>
              <a:t>21.17, 21.17, 21.17, 21.17 °C</a:t>
            </a:r>
          </a:p>
        </p:txBody>
      </p:sp>
      <p:sp>
        <p:nvSpPr>
          <p:cNvPr id="8" name="aggregation-calculation">
            <a:extLst xmlns:a="http://schemas.openxmlformats.org/drawingml/2006/main">
              <a:ext uri="{FF2B5EF4-FFF2-40B4-BE49-F238E27FC236}">
                <a16:creationId xmlns:a16="http://schemas.microsoft.com/office/drawing/2014/main" id="{ECABC88F-34AE-406B-AFFB-7F76B0C6A499}"/>
              </a:ext>
            </a:extLst>
          </p:cNvPr>
          <p:cNvSpPr>
            <a:spLocks xmlns:a="http://schemas.openxmlformats.org/drawingml/2006/main" noGrp="1"/>
          </p:cNvSpPr>
          <p:nvPr/>
        </p:nvSpPr>
        <p:spPr>
          <a:xfrm xmlns:a="http://schemas.openxmlformats.org/drawingml/2006/main">
            <a:off x="704850" y="3267075"/>
            <a:ext cx="542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i="0">
                <a:solidFill>
                  <a:srgbClr val="156082"/>
                </a:solidFill>
                <a:latin typeface="Arial"/>
                <a:ea typeface="Arial"/>
                <a:cs typeface="Arial"/>
              </a:defRPr>
            </a:defPPr>
          </a:lstStyle>
          <a:p xmlns:a="http://schemas.openxmlformats.org/drawingml/2006/main">
            <a:pPr algn="l">
              <a:defRPr sz="2175" b="1" i="0">
                <a:solidFill>
                  <a:srgbClr val="156082"/>
                </a:solidFill>
                <a:latin typeface="Arial"/>
                <a:ea typeface="Arial"/>
                <a:cs typeface="Arial"/>
              </a:defRPr>
            </a:pPr>
            <a:r>
              <a:rPr sz="2175" b="1" i="0">
                <a:solidFill>
                  <a:srgbClr val="156082"/>
                </a:solidFill>
                <a:latin typeface="Arial"/>
                <a:ea typeface="Arial"/>
                <a:cs typeface="Arial"/>
              </a:rPr>
              <a:t>(21.79 + 8 × 21.17) / 9</a:t>
            </a:r>
          </a:p>
          <a:p xmlns:a="http://schemas.openxmlformats.org/drawingml/2006/main">
            <a:pPr algn="l">
              <a:defRPr sz="2175" b="1" i="0">
                <a:solidFill>
                  <a:srgbClr val="156082"/>
                </a:solidFill>
                <a:latin typeface="Arial"/>
                <a:ea typeface="Arial"/>
                <a:cs typeface="Arial"/>
              </a:defRPr>
            </a:pPr>
            <a:r>
              <a:rPr sz="2175" b="1" i="0">
                <a:solidFill>
                  <a:srgbClr val="156082"/>
                </a:solidFill>
                <a:latin typeface="Arial"/>
                <a:ea typeface="Arial"/>
                <a:cs typeface="Arial"/>
              </a:rPr>
              <a:t>= 21.2389 °C</a:t>
            </a:r>
          </a:p>
        </p:txBody>
      </p:sp>
      <p:sp>
        <p:nvSpPr>
          <p:cNvPr id="9" name="aggregation-example-divider">
            <a:extLst xmlns:a="http://schemas.openxmlformats.org/drawingml/2006/main">
              <a:ext uri="{FF2B5EF4-FFF2-40B4-BE49-F238E27FC236}">
                <a16:creationId xmlns:a16="http://schemas.microsoft.com/office/drawing/2014/main" id="{DDFBB6C2-8272-4D93-A466-98676C5F7B55}"/>
              </a:ext>
            </a:extLst>
          </p:cNvPr>
          <p:cNvSpPr>
            <a:spLocks xmlns:a="http://schemas.openxmlformats.org/drawingml/2006/main" noGrp="1"/>
          </p:cNvSpPr>
          <p:nvPr/>
        </p:nvSpPr>
        <p:spPr>
          <a:xfrm xmlns:a="http://schemas.openxmlformats.org/drawingml/2006/main">
            <a:off x="6334125" y="1819275"/>
            <a:ext cx="0" cy="2581275"/>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10" name="label-consolidated-record">
            <a:extLst xmlns:a="http://schemas.openxmlformats.org/drawingml/2006/main">
              <a:ext uri="{FF2B5EF4-FFF2-40B4-BE49-F238E27FC236}">
                <a16:creationId xmlns:a16="http://schemas.microsoft.com/office/drawing/2014/main" id="{D51DA9F8-8AEE-4B1D-A255-4EE1ED09CDA9}"/>
              </a:ext>
            </a:extLst>
          </p:cNvPr>
          <p:cNvSpPr>
            <a:spLocks xmlns:a="http://schemas.openxmlformats.org/drawingml/2006/main" noGrp="1"/>
          </p:cNvSpPr>
          <p:nvPr/>
        </p:nvSpPr>
        <p:spPr>
          <a:xfrm xmlns:a="http://schemas.openxmlformats.org/drawingml/2006/main">
            <a:off x="6743700" y="1809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i="0">
                <a:solidFill>
                  <a:srgbClr val="196B24"/>
                </a:solidFill>
                <a:latin typeface="Arial"/>
                <a:ea typeface="Arial"/>
                <a:cs typeface="Arial"/>
              </a:defRPr>
            </a:defPPr>
          </a:lstStyle>
          <a:p xmlns:a="http://schemas.openxmlformats.org/drawingml/2006/main">
            <a:pPr algn="l">
              <a:defRPr sz="1125" b="1" i="0">
                <a:solidFill>
                  <a:srgbClr val="196B24"/>
                </a:solidFill>
                <a:latin typeface="Arial"/>
                <a:ea typeface="Arial"/>
                <a:cs typeface="Arial"/>
              </a:defRPr>
            </a:pPr>
            <a:r>
              <a:rPr sz="1125" b="1" i="0">
                <a:solidFill>
                  <a:srgbClr val="196B24"/>
                </a:solidFill>
                <a:latin typeface="Arial"/>
                <a:ea typeface="Arial"/>
                <a:cs typeface="Arial"/>
              </a:rPr>
              <a:t>CONSOLIDATED RECORD</a:t>
            </a:r>
          </a:p>
        </p:txBody>
      </p:sp>
      <p:sp>
        <p:nvSpPr>
          <p:cNvPr id="11" name="aggregation-result">
            <a:extLst xmlns:a="http://schemas.openxmlformats.org/drawingml/2006/main">
              <a:ext uri="{FF2B5EF4-FFF2-40B4-BE49-F238E27FC236}">
                <a16:creationId xmlns:a16="http://schemas.microsoft.com/office/drawing/2014/main" id="{51224AC8-F445-4230-BA5B-550A751893F4}"/>
              </a:ext>
            </a:extLst>
          </p:cNvPr>
          <p:cNvSpPr>
            <a:spLocks xmlns:a="http://schemas.openxmlformats.org/drawingml/2006/main" noGrp="1"/>
          </p:cNvSpPr>
          <p:nvPr/>
        </p:nvSpPr>
        <p:spPr>
          <a:xfrm xmlns:a="http://schemas.openxmlformats.org/drawingml/2006/main">
            <a:off x="6743700" y="2200275"/>
            <a:ext cx="45339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i="0">
                <a:solidFill>
                  <a:srgbClr val="0E2841"/>
                </a:solidFill>
                <a:latin typeface="Arial"/>
                <a:ea typeface="Arial"/>
                <a:cs typeface="Arial"/>
              </a:defRPr>
            </a:defPPr>
          </a:lstStyle>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Ahmedabad</a:t>
            </a:r>
          </a:p>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2000-01</a:t>
            </a:r>
          </a:p>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T2M = 21.2389 °C</a:t>
            </a:r>
          </a:p>
          <a:p xmlns:a="http://schemas.openxmlformats.org/drawingml/2006/main">
            <a:pPr algn="l">
              <a:defRPr sz="2025" b="1" i="0">
                <a:solidFill>
                  <a:srgbClr val="0E2841"/>
                </a:solidFill>
                <a:latin typeface="Arial"/>
                <a:ea typeface="Arial"/>
                <a:cs typeface="Arial"/>
              </a:defRPr>
            </a:pPr>
            <a:r>
              <a:rPr sz="2025" b="1" i="0">
                <a:solidFill>
                  <a:srgbClr val="0E2841"/>
                </a:solidFill>
                <a:latin typeface="Arial"/>
                <a:ea typeface="Arial"/>
                <a:cs typeface="Arial"/>
              </a:rPr>
              <a:t>Coverage = 9 of 9 points</a:t>
            </a:r>
          </a:p>
        </p:txBody>
      </p:sp>
      <p:sp>
        <p:nvSpPr>
          <p:cNvPr id="12" name="grain-divider">
            <a:extLst xmlns:a="http://schemas.openxmlformats.org/drawingml/2006/main">
              <a:ext uri="{FF2B5EF4-FFF2-40B4-BE49-F238E27FC236}">
                <a16:creationId xmlns:a16="http://schemas.microsoft.com/office/drawing/2014/main" id="{B46429BD-5FC7-4AB5-9BD6-59CB69C9CD3D}"/>
              </a:ext>
            </a:extLst>
          </p:cNvPr>
          <p:cNvSpPr>
            <a:spLocks xmlns:a="http://schemas.openxmlformats.org/drawingml/2006/main" noGrp="1"/>
          </p:cNvSpPr>
          <p:nvPr/>
        </p:nvSpPr>
        <p:spPr>
          <a:xfrm xmlns:a="http://schemas.openxmlformats.org/drawingml/2006/main">
            <a:off x="704850" y="4619625"/>
            <a:ext cx="106299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13" name="actual-grain">
            <a:extLst xmlns:a="http://schemas.openxmlformats.org/drawingml/2006/main">
              <a:ext uri="{FF2B5EF4-FFF2-40B4-BE49-F238E27FC236}">
                <a16:creationId xmlns:a16="http://schemas.microsoft.com/office/drawing/2014/main" id="{D6E8EC08-45CE-4DF4-BF00-B33BD404B1E3}"/>
              </a:ext>
            </a:extLst>
          </p:cNvPr>
          <p:cNvSpPr>
            <a:spLocks xmlns:a="http://schemas.openxmlformats.org/drawingml/2006/main" noGrp="1"/>
          </p:cNvSpPr>
          <p:nvPr/>
        </p:nvSpPr>
        <p:spPr>
          <a:xfrm xmlns:a="http://schemas.openxmlformats.org/drawingml/2006/main">
            <a:off x="704850" y="4905375"/>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i="0">
                <a:solidFill>
                  <a:srgbClr val="196B24"/>
                </a:solidFill>
                <a:latin typeface="Arial"/>
                <a:ea typeface="Arial"/>
                <a:cs typeface="Arial"/>
              </a:defRPr>
            </a:defPPr>
          </a:lstStyle>
          <a:p xmlns:a="http://schemas.openxmlformats.org/drawingml/2006/main">
            <a:pPr algn="l">
              <a:defRPr sz="1875" b="1" i="0">
                <a:solidFill>
                  <a:srgbClr val="196B24"/>
                </a:solidFill>
                <a:latin typeface="Arial"/>
                <a:ea typeface="Arial"/>
                <a:cs typeface="Arial"/>
              </a:defRPr>
            </a:pPr>
            <a:r>
              <a:rPr sz="1875" b="1" i="0">
                <a:solidFill>
                  <a:srgbClr val="196B24"/>
                </a:solidFill>
                <a:latin typeface="Arial"/>
                <a:ea typeface="Arial"/>
                <a:cs typeface="Arial"/>
              </a:rPr>
              <a:t>Current output grain: one row per city per month.</a:t>
            </a:r>
          </a:p>
        </p:txBody>
      </p:sp>
      <p:sp>
        <p:nvSpPr>
          <p:cNvPr id="14" name="intended-daily-grain">
            <a:extLst xmlns:a="http://schemas.openxmlformats.org/drawingml/2006/main">
              <a:ext uri="{FF2B5EF4-FFF2-40B4-BE49-F238E27FC236}">
                <a16:creationId xmlns:a16="http://schemas.microsoft.com/office/drawing/2014/main" id="{C69F14AA-7A43-408D-9A32-D99F1D76E48D}"/>
              </a:ext>
            </a:extLst>
          </p:cNvPr>
          <p:cNvSpPr>
            <a:spLocks xmlns:a="http://schemas.openxmlformats.org/drawingml/2006/main" noGrp="1"/>
          </p:cNvSpPr>
          <p:nvPr/>
        </p:nvSpPr>
        <p:spPr>
          <a:xfrm xmlns:a="http://schemas.openxmlformats.org/drawingml/2006/main">
            <a:off x="704850" y="5410200"/>
            <a:ext cx="1057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172B3A"/>
                </a:solidFill>
                <a:latin typeface="Arial"/>
                <a:ea typeface="Arial"/>
                <a:cs typeface="Arial"/>
              </a:defRPr>
            </a:defPPr>
          </a:lstStyle>
          <a:p xmlns:a="http://schemas.openxmlformats.org/drawingml/2006/main">
            <a:pPr algn="l">
              <a:defRPr sz="1575" b="0" i="0">
                <a:solidFill>
                  <a:srgbClr val="172B3A"/>
                </a:solidFill>
                <a:latin typeface="Arial"/>
                <a:ea typeface="Arial"/>
                <a:cs typeface="Arial"/>
              </a:defRPr>
            </a:pPr>
            <a:r>
              <a:rPr sz="1575" b="0" i="0">
                <a:solidFill>
                  <a:srgbClr val="172B3A"/>
                </a:solidFill>
                <a:latin typeface="Arial"/>
                <a:ea typeface="Arial"/>
                <a:cs typeface="Arial"/>
              </a:rPr>
              <a:t>The required daily schema targets one row per city and day, but monthly source files cannot provide daily observations. The daily export is schema-only with 0 rows.</a:t>
            </a:r>
          </a:p>
        </p:txBody>
      </p:sp>
    </p:spTree>
    <p:extLst>
      <p:ext uri="{BB962C8B-B14F-4D97-AF65-F5344CB8AC3E}">
        <p14:creationId xmlns:p14="http://schemas.microsoft.com/office/powerpoint/2010/main" val="1934935808"/>
      </p:ext>
    </p:extLst>
  </p:cSld>
</p:sld>
</file>

<file path=ppt/slides/slide16.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7F97FBFE-9B24-4F1B-B322-17277B74BC9E}"/>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DATA VALIDATION</a:t>
            </a:r>
          </a:p>
        </p:txBody>
      </p:sp>
      <p:sp>
        <p:nvSpPr>
          <p:cNvPr id="2" name="slide-number">
            <a:extLst xmlns:a="http://schemas.openxmlformats.org/drawingml/2006/main">
              <a:ext uri="{FF2B5EF4-FFF2-40B4-BE49-F238E27FC236}">
                <a16:creationId xmlns:a16="http://schemas.microsoft.com/office/drawing/2014/main" id="{5CBB9022-D621-407F-8B1B-5F6B1F645CE6}"/>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16</a:t>
            </a:r>
          </a:p>
        </p:txBody>
      </p:sp>
      <p:sp>
        <p:nvSpPr>
          <p:cNvPr id="3" name="slide-title">
            <a:extLst xmlns:a="http://schemas.openxmlformats.org/drawingml/2006/main">
              <a:ext uri="{FF2B5EF4-FFF2-40B4-BE49-F238E27FC236}">
                <a16:creationId xmlns:a16="http://schemas.microsoft.com/office/drawing/2014/main" id="{06585023-E1CF-4EC0-98CF-42A058D5E06C}"/>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Data Validation: Checks and Results</a:t>
            </a:r>
          </a:p>
        </p:txBody>
      </p:sp>
      <p:sp>
        <p:nvSpPr>
          <p:cNvPr id="4" name="header-rule">
            <a:extLst xmlns:a="http://schemas.openxmlformats.org/drawingml/2006/main">
              <a:ext uri="{FF2B5EF4-FFF2-40B4-BE49-F238E27FC236}">
                <a16:creationId xmlns:a16="http://schemas.microsoft.com/office/drawing/2014/main" id="{425A2396-9B3B-4833-9425-B50F87FE72E6}"/>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CAEC71E0-0159-4E78-A222-0FD27558E955}"/>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Eight defined city-month checks passed. They test specific rules and do not prove that every possible error is absent.</a:t>
            </a:r>
          </a:p>
        </p:txBody>
      </p:sp>
      <p:graphicFrame>
        <p:nvGraphicFramePr>
          <p:cNvPr id="6" name="">
            <a:extLst xmlns:a="http://schemas.openxmlformats.org/drawingml/2006/main">
              <a:ext uri="{FF2B5EF4-FFF2-40B4-BE49-F238E27FC236}">
                <a16:creationId xmlns:a16="http://schemas.microsoft.com/office/drawing/2014/main" id="{AF21AC34-8D08-4FCE-B745-251B6BE2A2B6}"/>
              </a:ext>
            </a:extLst>
          </p:cNvPr>
          <p:cNvGraphicFramePr/>
          <p:nvPr/>
        </p:nvGraphicFramePr>
        <p:xfrm>
          <a:off xmlns:a="http://schemas.openxmlformats.org/drawingml/2006/main" x="781050" y="1790700"/>
          <a:ext xmlns:a="http://schemas.openxmlformats.org/drawingml/2006/main" cx="10572750" cy="4076700"/>
        </p:xfrm>
        <a:graphic xmlns:a="http://schemas.openxmlformats.org/drawingml/2006/main">
          <a:graphicData uri="http://schemas.openxmlformats.org/drawingml/2006/table">
            <a:tbl>
              <a:tblPr/>
              <a:tblGrid>
                <a:gridCol w="7858125"/>
                <a:gridCol w="2714625"/>
              </a:tblGrid>
              <a:tr h="457200">
                <a:tc>
                  <a:txBody>
                    <a:bodyPr wrap="square" lIns="47625" tIns="47625" rIns="47625" bIns="47625">
                      <a:normAutofit/>
                    </a:bodyPr>
                    <a:lstStyle/>
                    <a:p>
                      <a:pPr algn="l"/>
                      <a:r>
                        <a:rPr sz="1650" b="1">
                          <a:solidFill>
                            <a:srgbClr val="FFFFFF"/>
                          </a:solidFill>
                          <a:latin typeface="Arial"/>
                          <a:ea typeface="Arial"/>
                          <a:cs typeface="Arial"/>
                        </a:rPr>
                        <a:t>Validation rule</a:t>
                      </a:r>
                    </a:p>
                  </a:txBody>
                  <a:tcPr marL="91440" marR="91440" marT="45720" marB="45720" anchor="ctr">
                    <a:solidFill>
                      <a:srgbClr val="0E2841"/>
                    </a:solidFill>
                  </a:tcPr>
                </a:tc>
                <a:tc>
                  <a:txBody>
                    <a:bodyPr wrap="square" lIns="47625" tIns="47625" rIns="47625" bIns="47625">
                      <a:normAutofit/>
                    </a:bodyPr>
                    <a:lstStyle/>
                    <a:p>
                      <a:pPr algn="l"/>
                      <a:r>
                        <a:rPr sz="1650" b="1">
                          <a:solidFill>
                            <a:srgbClr val="FFFFFF"/>
                          </a:solidFill>
                          <a:latin typeface="Arial"/>
                          <a:ea typeface="Arial"/>
                          <a:cs typeface="Arial"/>
                        </a:rPr>
                        <a:t>Result</a:t>
                      </a:r>
                    </a:p>
                  </a:txBody>
                  <a:tcPr marL="91440" marR="91440" marT="45720" marB="45720" anchor="ctr">
                    <a:solidFill>
                      <a:srgbClr val="0E2841"/>
                    </a:solidFill>
                  </a:tcPr>
                </a:tc>
              </a:tr>
              <a:tr h="485775">
                <a:tc>
                  <a:txBody>
                    <a:bodyPr wrap="square" lIns="47625" tIns="47625" rIns="47625" bIns="47625">
                      <a:normAutofit/>
                    </a:bodyPr>
                    <a:lstStyle/>
                    <a:p>
                      <a:pPr algn="l"/>
                      <a:r>
                        <a:rPr sz="1575">
                          <a:solidFill>
                            <a:srgbClr val="172B3A"/>
                          </a:solidFill>
                          <a:latin typeface="Arial"/>
                          <a:ea typeface="Arial"/>
                          <a:cs typeface="Arial"/>
                        </a:rPr>
                        <a:t>City and state are populated</a:t>
                      </a:r>
                    </a:p>
                  </a:txBody>
                  <a:tcPr marL="91440" marR="91440" marT="45720" marB="45720" anchor="ctr">
                    <a:solidFill>
                      <a:srgbClr val="FFFFFF"/>
                    </a:solidFill>
                  </a:tcPr>
                </a:tc>
                <a:tc>
                  <a:txBody>
                    <a:bodyPr wrap="square" lIns="47625" tIns="47625" rIns="47625" bIns="47625">
                      <a:normAutofit/>
                    </a:bodyPr>
                    <a:lstStyle/>
                    <a:p>
                      <a:pPr algn="l"/>
                      <a:r>
                        <a:rPr sz="1575">
                          <a:solidFill>
                            <a:srgbClr val="172B3A"/>
                          </a:solidFill>
                          <a:latin typeface="Arial"/>
                          <a:ea typeface="Arial"/>
                          <a:cs typeface="Arial"/>
                        </a:rPr>
                        <a:t>Passed</a:t>
                      </a:r>
                    </a:p>
                  </a:txBody>
                  <a:tcPr marL="91440" marR="91440" marT="45720" marB="45720" anchor="ctr">
                    <a:solidFill>
                      <a:srgbClr val="FFFFFF"/>
                    </a:solidFill>
                  </a:tcPr>
                </a:tc>
              </a:tr>
              <a:tr h="485775">
                <a:tc>
                  <a:txBody>
                    <a:bodyPr wrap="square" lIns="47625" tIns="47625" rIns="47625" bIns="47625">
                      <a:normAutofit/>
                    </a:bodyPr>
                    <a:lstStyle/>
                    <a:p>
                      <a:pPr algn="l"/>
                      <a:r>
                        <a:rPr sz="1575">
                          <a:solidFill>
                            <a:srgbClr val="172B3A"/>
                          </a:solidFill>
                          <a:latin typeface="Arial"/>
                          <a:ea typeface="Arial"/>
                          <a:cs typeface="Arial"/>
                        </a:rPr>
                        <a:t>Location and month key is unique</a:t>
                      </a:r>
                    </a:p>
                  </a:txBody>
                  <a:tcPr marL="91440" marR="91440" marT="45720" marB="45720" anchor="ctr">
                    <a:solidFill>
                      <a:srgbClr val="EAF2F5"/>
                    </a:solidFill>
                  </a:tcPr>
                </a:tc>
                <a:tc>
                  <a:txBody>
                    <a:bodyPr wrap="square" lIns="47625" tIns="47625" rIns="47625" bIns="47625">
                      <a:normAutofit/>
                    </a:bodyPr>
                    <a:lstStyle/>
                    <a:p>
                      <a:pPr algn="l"/>
                      <a:r>
                        <a:rPr sz="1575">
                          <a:solidFill>
                            <a:srgbClr val="172B3A"/>
                          </a:solidFill>
                          <a:latin typeface="Arial"/>
                          <a:ea typeface="Arial"/>
                          <a:cs typeface="Arial"/>
                        </a:rPr>
                        <a:t>Passed</a:t>
                      </a:r>
                    </a:p>
                  </a:txBody>
                  <a:tcPr marL="91440" marR="91440" marT="45720" marB="45720" anchor="ctr">
                    <a:solidFill>
                      <a:srgbClr val="EAF2F5"/>
                    </a:solidFill>
                  </a:tcPr>
                </a:tc>
              </a:tr>
              <a:tr h="485775">
                <a:tc>
                  <a:txBody>
                    <a:bodyPr wrap="square" lIns="47625" tIns="47625" rIns="47625" bIns="47625">
                      <a:normAutofit/>
                    </a:bodyPr>
                    <a:lstStyle/>
                    <a:p>
                      <a:pPr algn="l"/>
                      <a:r>
                        <a:rPr sz="1575">
                          <a:solidFill>
                            <a:srgbClr val="172B3A"/>
                          </a:solidFill>
                          <a:latin typeface="Arial"/>
                          <a:ea typeface="Arial"/>
                          <a:cs typeface="Arial"/>
                        </a:rPr>
                        <a:t>Latitude and longitude are in valid ranges</a:t>
                      </a:r>
                    </a:p>
                  </a:txBody>
                  <a:tcPr marL="91440" marR="91440" marT="45720" marB="45720" anchor="ctr">
                    <a:solidFill>
                      <a:srgbClr val="FFFFFF"/>
                    </a:solidFill>
                  </a:tcPr>
                </a:tc>
                <a:tc>
                  <a:txBody>
                    <a:bodyPr wrap="square" lIns="47625" tIns="47625" rIns="47625" bIns="47625">
                      <a:normAutofit/>
                    </a:bodyPr>
                    <a:lstStyle/>
                    <a:p>
                      <a:pPr algn="l"/>
                      <a:r>
                        <a:rPr sz="1575">
                          <a:solidFill>
                            <a:srgbClr val="172B3A"/>
                          </a:solidFill>
                          <a:latin typeface="Arial"/>
                          <a:ea typeface="Arial"/>
                          <a:cs typeface="Arial"/>
                        </a:rPr>
                        <a:t>Passed</a:t>
                      </a:r>
                    </a:p>
                  </a:txBody>
                  <a:tcPr marL="91440" marR="91440" marT="45720" marB="45720" anchor="ctr">
                    <a:solidFill>
                      <a:srgbClr val="FFFFFF"/>
                    </a:solidFill>
                  </a:tcPr>
                </a:tc>
              </a:tr>
              <a:tr h="485775">
                <a:tc>
                  <a:txBody>
                    <a:bodyPr wrap="square" lIns="47625" tIns="47625" rIns="47625" bIns="47625">
                      <a:normAutofit/>
                    </a:bodyPr>
                    <a:lstStyle/>
                    <a:p>
                      <a:pPr algn="l"/>
                      <a:r>
                        <a:rPr sz="1575">
                          <a:solidFill>
                            <a:srgbClr val="172B3A"/>
                          </a:solidFill>
                          <a:latin typeface="Arial"/>
                          <a:ea typeface="Arial"/>
                          <a:cs typeface="Arial"/>
                        </a:rPr>
                        <a:t>Date values use datetime type</a:t>
                      </a:r>
                    </a:p>
                  </a:txBody>
                  <a:tcPr marL="91440" marR="91440" marT="45720" marB="45720" anchor="ctr">
                    <a:solidFill>
                      <a:srgbClr val="EAF2F5"/>
                    </a:solidFill>
                  </a:tcPr>
                </a:tc>
                <a:tc>
                  <a:txBody>
                    <a:bodyPr wrap="square" lIns="47625" tIns="47625" rIns="47625" bIns="47625">
                      <a:normAutofit/>
                    </a:bodyPr>
                    <a:lstStyle/>
                    <a:p>
                      <a:pPr algn="l"/>
                      <a:r>
                        <a:rPr sz="1575">
                          <a:solidFill>
                            <a:srgbClr val="172B3A"/>
                          </a:solidFill>
                          <a:latin typeface="Arial"/>
                          <a:ea typeface="Arial"/>
                          <a:cs typeface="Arial"/>
                        </a:rPr>
                        <a:t>Passed</a:t>
                      </a:r>
                    </a:p>
                  </a:txBody>
                  <a:tcPr marL="91440" marR="91440" marT="45720" marB="45720" anchor="ctr">
                    <a:solidFill>
                      <a:srgbClr val="EAF2F5"/>
                    </a:solidFill>
                  </a:tcPr>
                </a:tc>
              </a:tr>
              <a:tr h="485775">
                <a:tc>
                  <a:txBody>
                    <a:bodyPr wrap="square" lIns="47625" tIns="47625" rIns="47625" bIns="47625">
                      <a:normAutofit/>
                    </a:bodyPr>
                    <a:lstStyle/>
                    <a:p>
                      <a:pPr algn="l"/>
                      <a:r>
                        <a:rPr sz="1575">
                          <a:solidFill>
                            <a:srgbClr val="172B3A"/>
                          </a:solidFill>
                          <a:latin typeface="Arial"/>
                          <a:ea typeface="Arial"/>
                          <a:cs typeface="Arial"/>
                        </a:rPr>
                        <a:t>Rainfall is not negative</a:t>
                      </a:r>
                    </a:p>
                  </a:txBody>
                  <a:tcPr marL="91440" marR="91440" marT="45720" marB="45720" anchor="ctr">
                    <a:solidFill>
                      <a:srgbClr val="FFFFFF"/>
                    </a:solidFill>
                  </a:tcPr>
                </a:tc>
                <a:tc>
                  <a:txBody>
                    <a:bodyPr wrap="square" lIns="47625" tIns="47625" rIns="47625" bIns="47625">
                      <a:normAutofit/>
                    </a:bodyPr>
                    <a:lstStyle/>
                    <a:p>
                      <a:pPr algn="l"/>
                      <a:r>
                        <a:rPr sz="1575">
                          <a:solidFill>
                            <a:srgbClr val="172B3A"/>
                          </a:solidFill>
                          <a:latin typeface="Arial"/>
                          <a:ea typeface="Arial"/>
                          <a:cs typeface="Arial"/>
                        </a:rPr>
                        <a:t>Passed</a:t>
                      </a:r>
                    </a:p>
                  </a:txBody>
                  <a:tcPr marL="91440" marR="91440" marT="45720" marB="45720" anchor="ctr">
                    <a:solidFill>
                      <a:srgbClr val="FFFFFF"/>
                    </a:solidFill>
                  </a:tcPr>
                </a:tc>
              </a:tr>
              <a:tr h="485775">
                <a:tc>
                  <a:txBody>
                    <a:bodyPr wrap="square" lIns="47625" tIns="47625" rIns="47625" bIns="47625">
                      <a:normAutofit/>
                    </a:bodyPr>
                    <a:lstStyle/>
                    <a:p>
                      <a:pPr algn="l"/>
                      <a:r>
                        <a:rPr sz="1575">
                          <a:solidFill>
                            <a:srgbClr val="172B3A"/>
                          </a:solidFill>
                          <a:latin typeface="Arial"/>
                          <a:ea typeface="Arial"/>
                          <a:cs typeface="Arial"/>
                        </a:rPr>
                        <a:t>Minimum temperature ≤ average ≤ maximum</a:t>
                      </a:r>
                    </a:p>
                  </a:txBody>
                  <a:tcPr marL="91440" marR="91440" marT="45720" marB="45720" anchor="ctr">
                    <a:solidFill>
                      <a:srgbClr val="EAF2F5"/>
                    </a:solidFill>
                  </a:tcPr>
                </a:tc>
                <a:tc>
                  <a:txBody>
                    <a:bodyPr wrap="square" lIns="47625" tIns="47625" rIns="47625" bIns="47625">
                      <a:normAutofit/>
                    </a:bodyPr>
                    <a:lstStyle/>
                    <a:p>
                      <a:pPr algn="l"/>
                      <a:r>
                        <a:rPr sz="1575">
                          <a:solidFill>
                            <a:srgbClr val="172B3A"/>
                          </a:solidFill>
                          <a:latin typeface="Arial"/>
                          <a:ea typeface="Arial"/>
                          <a:cs typeface="Arial"/>
                        </a:rPr>
                        <a:t>Passed</a:t>
                      </a:r>
                    </a:p>
                  </a:txBody>
                  <a:tcPr marL="91440" marR="91440" marT="45720" marB="45720" anchor="ctr">
                    <a:solidFill>
                      <a:srgbClr val="EAF2F5"/>
                    </a:solidFill>
                  </a:tcPr>
                </a:tc>
              </a:tr>
              <a:tr h="704850">
                <a:tc>
                  <a:txBody>
                    <a:bodyPr wrap="square" lIns="47625" tIns="47625" rIns="47625" bIns="47625">
                      <a:normAutofit/>
                    </a:bodyPr>
                    <a:lstStyle/>
                    <a:p>
                      <a:pPr algn="l"/>
                      <a:r>
                        <a:rPr sz="1575">
                          <a:solidFill>
                            <a:srgbClr val="172B3A"/>
                          </a:solidFill>
                          <a:latin typeface="Arial"/>
                          <a:ea typeface="Arial"/>
                          <a:cs typeface="Arial"/>
                        </a:rPr>
                        <a:t>Daily output schema has expected columns</a:t>
                      </a:r>
                    </a:p>
                  </a:txBody>
                  <a:tcPr marL="91440" marR="91440" marT="45720" marB="45720" anchor="ctr">
                    <a:solidFill>
                      <a:srgbClr val="FFFFFF"/>
                    </a:solidFill>
                  </a:tcPr>
                </a:tc>
                <a:tc>
                  <a:txBody>
                    <a:bodyPr wrap="square" lIns="47625" tIns="47625" rIns="47625" bIns="47625">
                      <a:normAutofit/>
                    </a:bodyPr>
                    <a:lstStyle/>
                    <a:p>
                      <a:pPr algn="l"/>
                      <a:r>
                        <a:rPr sz="1575">
                          <a:solidFill>
                            <a:srgbClr val="172B3A"/>
                          </a:solidFill>
                          <a:latin typeface="Arial"/>
                          <a:ea typeface="Arial"/>
                          <a:cs typeface="Arial"/>
                        </a:rPr>
                        <a:t>Passed with zero data rows</a:t>
                      </a:r>
                    </a:p>
                  </a:txBody>
                  <a:tcPr marL="91440" marR="91440" marT="45720" marB="45720" anchor="ctr">
                    <a:solidFill>
                      <a:srgbClr val="FFFFFF"/>
                    </a:solidFill>
                  </a:tcPr>
                </a:tc>
              </a:tr>
            </a:tbl>
          </a:graphicData>
        </a:graphic>
      </p:graphicFrame>
      <p:sp>
        <p:nvSpPr>
          <p:cNvPr id="7" name="validation-scope">
            <a:extLst xmlns:a="http://schemas.openxmlformats.org/drawingml/2006/main">
              <a:ext uri="{FF2B5EF4-FFF2-40B4-BE49-F238E27FC236}">
                <a16:creationId xmlns:a16="http://schemas.microsoft.com/office/drawing/2014/main" id="{11717CA6-9AEB-4DE0-A6F2-1B9C7BCA8C7D}"/>
              </a:ext>
            </a:extLst>
          </p:cNvPr>
          <p:cNvSpPr>
            <a:spLocks xmlns:a="http://schemas.openxmlformats.org/drawingml/2006/main" noGrp="1"/>
          </p:cNvSpPr>
          <p:nvPr/>
        </p:nvSpPr>
        <p:spPr>
          <a:xfrm xmlns:a="http://schemas.openxmlformats.org/drawingml/2006/main">
            <a:off x="781050" y="6029325"/>
            <a:ext cx="10477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345"/>
          </a:bodyPr>
          <a:lstStyle xmlns:a="http://schemas.openxmlformats.org/drawingml/2006/main">
            <a:defPPr algn="l">
              <a:defRPr sz="1425" b="1" i="0">
                <a:solidFill>
                  <a:srgbClr val="E97132"/>
                </a:solidFill>
                <a:latin typeface="Arial"/>
                <a:ea typeface="Arial"/>
                <a:cs typeface="Arial"/>
              </a:defRPr>
            </a:defPPr>
          </a:lstStyle>
          <a:p xmlns:a="http://schemas.openxmlformats.org/drawingml/2006/main">
            <a:pPr algn="l">
              <a:defRPr sz="1425" b="1" i="0">
                <a:solidFill>
                  <a:srgbClr val="E97132"/>
                </a:solidFill>
                <a:latin typeface="Arial"/>
                <a:ea typeface="Arial"/>
                <a:cs typeface="Arial"/>
              </a:defRPr>
            </a:pPr>
            <a:r>
              <a:rPr sz="1425" b="1" i="0">
                <a:solidFill>
                  <a:srgbClr val="E97132"/>
                </a:solidFill>
                <a:latin typeface="Arial"/>
                <a:ea typeface="Arial"/>
                <a:cs typeface="Arial"/>
              </a:rPr>
              <a:t>These checks cover structure and selected plausibility rules. Missing optional attributes remain documented as unavailable.</a:t>
            </a:r>
          </a:p>
        </p:txBody>
      </p:sp>
    </p:spTree>
    <p:extLst>
      <p:ext uri="{BB962C8B-B14F-4D97-AF65-F5344CB8AC3E}">
        <p14:creationId xmlns:p14="http://schemas.microsoft.com/office/powerpoint/2010/main" val="1292066591"/>
      </p:ext>
    </p:extLst>
  </p:cSld>
</p:sld>
</file>

<file path=ppt/slides/slide17.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13BE8484-CA75-43C6-8E71-C78EB083A25F}"/>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DATA VALIDATION</a:t>
            </a:r>
          </a:p>
        </p:txBody>
      </p:sp>
      <p:sp>
        <p:nvSpPr>
          <p:cNvPr id="2" name="slide-number">
            <a:extLst xmlns:a="http://schemas.openxmlformats.org/drawingml/2006/main">
              <a:ext uri="{FF2B5EF4-FFF2-40B4-BE49-F238E27FC236}">
                <a16:creationId xmlns:a16="http://schemas.microsoft.com/office/drawing/2014/main" id="{7F7840D2-924A-4BDE-A8CA-73F9792154B3}"/>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17</a:t>
            </a:r>
          </a:p>
        </p:txBody>
      </p:sp>
      <p:sp>
        <p:nvSpPr>
          <p:cNvPr id="3" name="slide-title">
            <a:extLst xmlns:a="http://schemas.openxmlformats.org/drawingml/2006/main">
              <a:ext uri="{FF2B5EF4-FFF2-40B4-BE49-F238E27FC236}">
                <a16:creationId xmlns:a16="http://schemas.microsoft.com/office/drawing/2014/main" id="{ED6527C4-36C7-49DE-A5AD-9867D6B1BFD4}"/>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The Resulting City-Month Climate Dataset</a:t>
            </a:r>
          </a:p>
        </p:txBody>
      </p:sp>
      <p:sp>
        <p:nvSpPr>
          <p:cNvPr id="4" name="header-rule">
            <a:extLst xmlns:a="http://schemas.openxmlformats.org/drawingml/2006/main">
              <a:ext uri="{FF2B5EF4-FFF2-40B4-BE49-F238E27FC236}">
                <a16:creationId xmlns:a16="http://schemas.microsoft.com/office/drawing/2014/main" id="{48EF44D3-2C97-4543-8601-381EA7FCD80D}"/>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26DBB2B5-1095-41ED-9CB5-9975AEEACFF5}"/>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populated output preserves monthly values, location metadata, point coverage, and source lineage.</a:t>
            </a:r>
          </a:p>
        </p:txBody>
      </p:sp>
      <p:sp>
        <p:nvSpPr>
          <p:cNvPr id="6" name="dataset-count">
            <a:extLst xmlns:a="http://schemas.openxmlformats.org/drawingml/2006/main">
              <a:ext uri="{FF2B5EF4-FFF2-40B4-BE49-F238E27FC236}">
                <a16:creationId xmlns:a16="http://schemas.microsoft.com/office/drawing/2014/main" id="{AD9A5D11-6492-42FC-BD17-5956AB37288A}"/>
              </a:ext>
            </a:extLst>
          </p:cNvPr>
          <p:cNvSpPr>
            <a:spLocks xmlns:a="http://schemas.openxmlformats.org/drawingml/2006/main" noGrp="1"/>
          </p:cNvSpPr>
          <p:nvPr/>
        </p:nvSpPr>
        <p:spPr>
          <a:xfrm xmlns:a="http://schemas.openxmlformats.org/drawingml/2006/main">
            <a:off x="723900" y="1762125"/>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i="0">
                <a:solidFill>
                  <a:srgbClr val="196B24"/>
                </a:solidFill>
                <a:latin typeface="Arial"/>
                <a:ea typeface="Arial"/>
                <a:cs typeface="Arial"/>
              </a:defRPr>
            </a:defPPr>
          </a:lstStyle>
          <a:p xmlns:a="http://schemas.openxmlformats.org/drawingml/2006/main">
            <a:pPr algn="l">
              <a:defRPr sz="3300" b="1" i="0">
                <a:solidFill>
                  <a:srgbClr val="196B24"/>
                </a:solidFill>
                <a:latin typeface="Arial"/>
                <a:ea typeface="Arial"/>
                <a:cs typeface="Arial"/>
              </a:defRPr>
            </a:pPr>
            <a:r>
              <a:rPr sz="3300" b="1" i="0">
                <a:solidFill>
                  <a:srgbClr val="196B24"/>
                </a:solidFill>
                <a:latin typeface="Arial"/>
                <a:ea typeface="Arial"/>
                <a:cs typeface="Arial"/>
              </a:rPr>
              <a:t>2,496 rows</a:t>
            </a:r>
          </a:p>
        </p:txBody>
      </p:sp>
      <p:sp>
        <p:nvSpPr>
          <p:cNvPr id="7" name="dataset-coverage">
            <a:extLst xmlns:a="http://schemas.openxmlformats.org/drawingml/2006/main">
              <a:ext uri="{FF2B5EF4-FFF2-40B4-BE49-F238E27FC236}">
                <a16:creationId xmlns:a16="http://schemas.microsoft.com/office/drawing/2014/main" id="{CC0BB1CE-8166-49E3-97EE-24EB73F1846A}"/>
              </a:ext>
            </a:extLst>
          </p:cNvPr>
          <p:cNvSpPr>
            <a:spLocks xmlns:a="http://schemas.openxmlformats.org/drawingml/2006/main" noGrp="1"/>
          </p:cNvSpPr>
          <p:nvPr/>
        </p:nvSpPr>
        <p:spPr>
          <a:xfrm xmlns:a="http://schemas.openxmlformats.org/drawingml/2006/main">
            <a:off x="4000500" y="1847850"/>
            <a:ext cx="704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156082"/>
                </a:solidFill>
                <a:latin typeface="Arial"/>
                <a:ea typeface="Arial"/>
                <a:cs typeface="Arial"/>
              </a:defRPr>
            </a:defPPr>
          </a:lstStyle>
          <a:p xmlns:a="http://schemas.openxmlformats.org/drawingml/2006/main">
            <a:pPr algn="l">
              <a:defRPr sz="1650" b="1" i="0">
                <a:solidFill>
                  <a:srgbClr val="156082"/>
                </a:solidFill>
                <a:latin typeface="Arial"/>
                <a:ea typeface="Arial"/>
                <a:cs typeface="Arial"/>
              </a:defRPr>
            </a:pPr>
            <a:r>
              <a:rPr sz="1650" b="1" i="0">
                <a:solidFill>
                  <a:srgbClr val="156082"/>
                </a:solidFill>
                <a:latin typeface="Arial"/>
                <a:ea typeface="Arial"/>
                <a:cs typeface="Arial"/>
              </a:rPr>
              <a:t>8 cities   /   312 months per city   /   Jan 2000 to Dec 2025</a:t>
            </a:r>
          </a:p>
        </p:txBody>
      </p:sp>
      <p:graphicFrame>
        <p:nvGraphicFramePr>
          <p:cNvPr id="8" name="">
            <a:extLst xmlns:a="http://schemas.openxmlformats.org/drawingml/2006/main">
              <a:ext uri="{FF2B5EF4-FFF2-40B4-BE49-F238E27FC236}">
                <a16:creationId xmlns:a16="http://schemas.microsoft.com/office/drawing/2014/main" id="{CC778EA8-B970-441B-8002-07BAA4E86A3E}"/>
              </a:ext>
            </a:extLst>
          </p:cNvPr>
          <p:cNvGraphicFramePr/>
          <p:nvPr/>
        </p:nvGraphicFramePr>
        <p:xfrm>
          <a:off xmlns:a="http://schemas.openxmlformats.org/drawingml/2006/main" x="723900" y="2476500"/>
          <a:ext xmlns:a="http://schemas.openxmlformats.org/drawingml/2006/main" cx="10572750" cy="3048000"/>
        </p:xfrm>
        <a:graphic xmlns:a="http://schemas.openxmlformats.org/drawingml/2006/main">
          <a:graphicData uri="http://schemas.openxmlformats.org/drawingml/2006/table">
            <a:tbl>
              <a:tblPr/>
              <a:tblGrid>
                <a:gridCol w="4286250"/>
                <a:gridCol w="6286500"/>
              </a:tblGrid>
              <a:tr h="381000">
                <a:tc>
                  <a:txBody>
                    <a:bodyPr wrap="square" lIns="47625" tIns="47625" rIns="47625" bIns="47625">
                      <a:normAutofit/>
                    </a:bodyPr>
                    <a:lstStyle/>
                    <a:p>
                      <a:pPr algn="l"/>
                      <a:r>
                        <a:rPr sz="1575" b="1">
                          <a:solidFill>
                            <a:srgbClr val="FFFFFF"/>
                          </a:solidFill>
                          <a:latin typeface="Arial"/>
                          <a:ea typeface="Arial"/>
                          <a:cs typeface="Arial"/>
                        </a:rPr>
                        <a:t>Field</a:t>
                      </a:r>
                    </a:p>
                  </a:txBody>
                  <a:tcPr marL="91440" marR="91440" marT="45720" marB="45720" anchor="ctr">
                    <a:solidFill>
                      <a:srgbClr val="0E2841"/>
                    </a:solidFill>
                  </a:tcPr>
                </a:tc>
                <a:tc>
                  <a:txBody>
                    <a:bodyPr wrap="square" lIns="47625" tIns="47625" rIns="47625" bIns="47625">
                      <a:normAutofit/>
                    </a:bodyPr>
                    <a:lstStyle/>
                    <a:p>
                      <a:pPr algn="l"/>
                      <a:r>
                        <a:rPr sz="1575" b="1">
                          <a:solidFill>
                            <a:srgbClr val="FFFFFF"/>
                          </a:solidFill>
                          <a:latin typeface="Arial"/>
                          <a:ea typeface="Arial"/>
                          <a:cs typeface="Arial"/>
                        </a:rPr>
                        <a:t>Example / meaning</a:t>
                      </a:r>
                    </a:p>
                  </a:txBody>
                  <a:tcPr marL="91440" marR="91440" marT="45720" marB="45720" anchor="ctr">
                    <a:solidFill>
                      <a:srgbClr val="0E2841"/>
                    </a:solidFill>
                  </a:tcPr>
                </a:tc>
              </a:tr>
              <a:tr h="381000">
                <a:tc>
                  <a:txBody>
                    <a:bodyPr wrap="square" lIns="47625" tIns="47625" rIns="47625" bIns="47625">
                      <a:normAutofit/>
                    </a:bodyPr>
                    <a:lstStyle/>
                    <a:p>
                      <a:pPr algn="l"/>
                      <a:r>
                        <a:rPr sz="1425">
                          <a:solidFill>
                            <a:srgbClr val="172B3A"/>
                          </a:solidFill>
                          <a:latin typeface="Arial"/>
                          <a:ea typeface="Arial"/>
                          <a:cs typeface="Arial"/>
                        </a:rPr>
                        <a:t>city, state, location_id</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Ahmedabad, Gujarat, IN-GJ-AMD</a:t>
                      </a:r>
                    </a:p>
                  </a:txBody>
                  <a:tcPr marL="91440" marR="91440" marT="45720" marB="45720" anchor="ctr">
                    <a:solidFill>
                      <a:srgbClr val="FFFFFF"/>
                    </a:solidFill>
                  </a:tcPr>
                </a:tc>
              </a:tr>
              <a:tr h="361950">
                <a:tc>
                  <a:txBody>
                    <a:bodyPr wrap="square" lIns="47625" tIns="47625" rIns="47625" bIns="47625">
                      <a:normAutofit/>
                    </a:bodyPr>
                    <a:lstStyle/>
                    <a:p>
                      <a:pPr algn="l"/>
                      <a:r>
                        <a:rPr sz="1425">
                          <a:solidFill>
                            <a:srgbClr val="172B3A"/>
                          </a:solidFill>
                          <a:latin typeface="Arial"/>
                          <a:ea typeface="Arial"/>
                          <a:cs typeface="Arial"/>
                        </a:rPr>
                        <a:t>date</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2000-01-01 (month key)</a:t>
                      </a:r>
                    </a:p>
                  </a:txBody>
                  <a:tcPr marL="91440" marR="91440" marT="45720" marB="45720" anchor="ctr">
                    <a:solidFill>
                      <a:srgbClr val="EAF2F5"/>
                    </a:solidFill>
                  </a:tcPr>
                </a:tc>
              </a:tr>
              <a:tr h="419100">
                <a:tc>
                  <a:txBody>
                    <a:bodyPr wrap="square" lIns="47625" tIns="47625" rIns="47625" bIns="47625">
                      <a:normAutofit/>
                    </a:bodyPr>
                    <a:lstStyle/>
                    <a:p>
                      <a:pPr algn="l"/>
                      <a:r>
                        <a:rPr sz="1425">
                          <a:solidFill>
                            <a:srgbClr val="172B3A"/>
                          </a:solidFill>
                          <a:latin typeface="Arial"/>
                          <a:ea typeface="Arial"/>
                          <a:cs typeface="Arial"/>
                        </a:rPr>
                        <a:t>latitude, longitude</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22.9546, 72.6484 (mean point coordinates)</a:t>
                      </a:r>
                    </a:p>
                  </a:txBody>
                  <a:tcPr marL="91440" marR="91440" marT="45720" marB="45720" anchor="ctr">
                    <a:solidFill>
                      <a:srgbClr val="FFFFFF"/>
                    </a:solidFill>
                  </a:tcPr>
                </a:tc>
              </a:tr>
              <a:tr h="361950">
                <a:tc>
                  <a:txBody>
                    <a:bodyPr wrap="square" lIns="47625" tIns="47625" rIns="47625" bIns="47625">
                      <a:normAutofit/>
                    </a:bodyPr>
                    <a:lstStyle/>
                    <a:p>
                      <a:pPr algn="l"/>
                      <a:r>
                        <a:rPr sz="1425">
                          <a:solidFill>
                            <a:srgbClr val="172B3A"/>
                          </a:solidFill>
                          <a:latin typeface="Arial"/>
                          <a:ea typeface="Arial"/>
                          <a:cs typeface="Arial"/>
                        </a:rPr>
                        <a:t>rainfall_mm</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0.00 mm/day for PRECTOTCORR</a:t>
                      </a:r>
                    </a:p>
                  </a:txBody>
                  <a:tcPr marL="91440" marR="91440" marT="45720" marB="45720" anchor="ctr">
                    <a:solidFill>
                      <a:srgbClr val="EAF2F5"/>
                    </a:solidFill>
                  </a:tcPr>
                </a:tc>
              </a:tr>
              <a:tr h="400050">
                <a:tc>
                  <a:txBody>
                    <a:bodyPr wrap="square" lIns="47625" tIns="47625" rIns="47625" bIns="47625">
                      <a:normAutofit/>
                    </a:bodyPr>
                    <a:lstStyle/>
                    <a:p>
                      <a:pPr algn="l"/>
                      <a:r>
                        <a:rPr sz="1425">
                          <a:solidFill>
                            <a:srgbClr val="172B3A"/>
                          </a:solidFill>
                          <a:latin typeface="Arial"/>
                          <a:ea typeface="Arial"/>
                          <a:cs typeface="Arial"/>
                        </a:rPr>
                        <a:t>avg_temp_c / max_temp_c / min_temp_c</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21.2389 / 34.03 / 6.0789 °C</a:t>
                      </a:r>
                    </a:p>
                  </a:txBody>
                  <a:tcPr marL="91440" marR="91440" marT="45720" marB="45720" anchor="ctr">
                    <a:solidFill>
                      <a:srgbClr val="FFFFFF"/>
                    </a:solidFill>
                  </a:tcPr>
                </a:tc>
              </a:tr>
              <a:tr h="381000">
                <a:tc>
                  <a:txBody>
                    <a:bodyPr wrap="square" lIns="47625" tIns="47625" rIns="47625" bIns="47625">
                      <a:normAutofit/>
                    </a:bodyPr>
                    <a:lstStyle/>
                    <a:p>
                      <a:pPr algn="l"/>
                      <a:r>
                        <a:rPr sz="1425">
                          <a:solidFill>
                            <a:srgbClr val="172B3A"/>
                          </a:solidFill>
                          <a:latin typeface="Arial"/>
                          <a:ea typeface="Arial"/>
                          <a:cs typeface="Arial"/>
                        </a:rPr>
                        <a:t>measurement_points_available / expected_points</a:t>
                      </a:r>
                    </a:p>
                  </a:txBody>
                  <a:tcPr marL="91440" marR="91440" marT="45720" marB="45720" anchor="ctr">
                    <a:solidFill>
                      <a:srgbClr val="EAF2F5"/>
                    </a:solidFill>
                  </a:tcPr>
                </a:tc>
                <a:tc>
                  <a:txBody>
                    <a:bodyPr wrap="square" lIns="47625" tIns="47625" rIns="47625" bIns="47625">
                      <a:normAutofit/>
                    </a:bodyPr>
                    <a:lstStyle/>
                    <a:p>
                      <a:pPr algn="l"/>
                      <a:r>
                        <a:rPr sz="1425">
                          <a:solidFill>
                            <a:srgbClr val="172B3A"/>
                          </a:solidFill>
                          <a:latin typeface="Arial"/>
                          <a:ea typeface="Arial"/>
                          <a:cs typeface="Arial"/>
                        </a:rPr>
                        <a:t>9 / 9</a:t>
                      </a:r>
                    </a:p>
                  </a:txBody>
                  <a:tcPr marL="91440" marR="91440" marT="45720" marB="45720" anchor="ctr">
                    <a:solidFill>
                      <a:srgbClr val="EAF2F5"/>
                    </a:solidFill>
                  </a:tcPr>
                </a:tc>
              </a:tr>
              <a:tr h="361950">
                <a:tc>
                  <a:txBody>
                    <a:bodyPr wrap="square" lIns="47625" tIns="47625" rIns="47625" bIns="47625">
                      <a:normAutofit/>
                    </a:bodyPr>
                    <a:lstStyle/>
                    <a:p>
                      <a:pPr algn="l"/>
                      <a:r>
                        <a:rPr sz="1425">
                          <a:solidFill>
                            <a:srgbClr val="172B3A"/>
                          </a:solidFill>
                          <a:latin typeface="Arial"/>
                          <a:ea typeface="Arial"/>
                          <a:cs typeface="Arial"/>
                        </a:rPr>
                        <a:t>source / data_quality_flag</a:t>
                      </a:r>
                    </a:p>
                  </a:txBody>
                  <a:tcPr marL="91440" marR="91440" marT="45720" marB="45720" anchor="ctr">
                    <a:solidFill>
                      <a:srgbClr val="FFFFFF"/>
                    </a:solidFill>
                  </a:tcPr>
                </a:tc>
                <a:tc>
                  <a:txBody>
                    <a:bodyPr wrap="square" lIns="47625" tIns="47625" rIns="47625" bIns="47625">
                      <a:normAutofit/>
                    </a:bodyPr>
                    <a:lstStyle/>
                    <a:p>
                      <a:pPr algn="l"/>
                      <a:r>
                        <a:rPr sz="1425">
                          <a:solidFill>
                            <a:srgbClr val="172B3A"/>
                          </a:solidFill>
                          <a:latin typeface="Arial"/>
                          <a:ea typeface="Arial"/>
                          <a:cs typeface="Arial"/>
                        </a:rPr>
                        <a:t>NASA/POWER monthly summary / monthly_aggregated</a:t>
                      </a:r>
                    </a:p>
                  </a:txBody>
                  <a:tcPr marL="91440" marR="91440" marT="45720" marB="45720" anchor="ctr">
                    <a:solidFill>
                      <a:srgbClr val="FFFFFF"/>
                    </a:solidFill>
                  </a:tcPr>
                </a:tc>
              </a:tr>
            </a:tbl>
          </a:graphicData>
        </a:graphic>
      </p:graphicFrame>
      <p:sp>
        <p:nvSpPr>
          <p:cNvPr id="9" name="dataset-missing-attributes">
            <a:extLst xmlns:a="http://schemas.openxmlformats.org/drawingml/2006/main">
              <a:ext uri="{FF2B5EF4-FFF2-40B4-BE49-F238E27FC236}">
                <a16:creationId xmlns:a16="http://schemas.microsoft.com/office/drawing/2014/main" id="{9068F3D7-85D2-4331-BF86-F096C5D2ACCB}"/>
              </a:ext>
            </a:extLst>
          </p:cNvPr>
          <p:cNvSpPr>
            <a:spLocks xmlns:a="http://schemas.openxmlformats.org/drawingml/2006/main" noGrp="1"/>
          </p:cNvSpPr>
          <p:nvPr/>
        </p:nvSpPr>
        <p:spPr>
          <a:xfrm xmlns:a="http://schemas.openxmlformats.org/drawingml/2006/main">
            <a:off x="723900" y="59436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E97132"/>
                </a:solidFill>
                <a:latin typeface="Arial"/>
                <a:ea typeface="Arial"/>
                <a:cs typeface="Arial"/>
              </a:defRPr>
            </a:defPPr>
          </a:lstStyle>
          <a:p xmlns:a="http://schemas.openxmlformats.org/drawingml/2006/main">
            <a:pPr algn="l">
              <a:defRPr sz="1425" b="1" i="0">
                <a:solidFill>
                  <a:srgbClr val="E97132"/>
                </a:solidFill>
                <a:latin typeface="Arial"/>
                <a:ea typeface="Arial"/>
                <a:cs typeface="Arial"/>
              </a:defRPr>
            </a:pPr>
            <a:r>
              <a:rPr sz="1425" b="1" i="0">
                <a:solidFill>
                  <a:srgbClr val="E97132"/>
                </a:solidFill>
                <a:latin typeface="Arial"/>
                <a:ea typeface="Arial"/>
                <a:cs typeface="Arial"/>
              </a:rPr>
              <a:t>District, relative humidity, AQI, PM2.5, and NDVI are null because these files do not supply them.</a:t>
            </a:r>
          </a:p>
        </p:txBody>
      </p:sp>
    </p:spTree>
    <p:extLst>
      <p:ext uri="{BB962C8B-B14F-4D97-AF65-F5344CB8AC3E}">
        <p14:creationId xmlns:p14="http://schemas.microsoft.com/office/powerpoint/2010/main" val="1551460419"/>
      </p:ext>
    </p:extLst>
  </p:cSld>
</p:sld>
</file>

<file path=ppt/slides/slide18.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421F5624-51B7-47C4-97CF-B284E01A6B58}"/>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B · PIPELINE EVALUATION</a:t>
            </a:r>
          </a:p>
        </p:txBody>
      </p:sp>
      <p:sp>
        <p:nvSpPr>
          <p:cNvPr id="2" name="slide-number">
            <a:extLst xmlns:a="http://schemas.openxmlformats.org/drawingml/2006/main">
              <a:ext uri="{FF2B5EF4-FFF2-40B4-BE49-F238E27FC236}">
                <a16:creationId xmlns:a16="http://schemas.microsoft.com/office/drawing/2014/main" id="{6E0F2236-6695-4AEE-A4F7-F432A6AB7023}"/>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18</a:t>
            </a:r>
          </a:p>
        </p:txBody>
      </p:sp>
      <p:sp>
        <p:nvSpPr>
          <p:cNvPr id="3" name="slide-title">
            <a:extLst xmlns:a="http://schemas.openxmlformats.org/drawingml/2006/main">
              <a:ext uri="{FF2B5EF4-FFF2-40B4-BE49-F238E27FC236}">
                <a16:creationId xmlns:a16="http://schemas.microsoft.com/office/drawing/2014/main" id="{96A43495-A25E-4B9E-8953-4F31E23A5056}"/>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Batch Evaluation and Checkpoint Progress</a:t>
            </a:r>
          </a:p>
        </p:txBody>
      </p:sp>
      <p:sp>
        <p:nvSpPr>
          <p:cNvPr id="4" name="header-rule">
            <a:extLst xmlns:a="http://schemas.openxmlformats.org/drawingml/2006/main">
              <a:ext uri="{FF2B5EF4-FFF2-40B4-BE49-F238E27FC236}">
                <a16:creationId xmlns:a16="http://schemas.microsoft.com/office/drawing/2014/main" id="{66EA8311-D4B4-4DD0-9CF5-13E1D2FA81FF}"/>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01D89B28-BEE0-4419-B616-DBDEAEDC8E63}"/>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The project output is documented. Batch assignments and the iteration history are not available in the repository.</a:t>
            </a:r>
          </a:p>
        </p:txBody>
      </p:sp>
      <p:graphicFrame>
        <p:nvGraphicFramePr>
          <p:cNvPr id="6" name="">
            <a:extLst xmlns:a="http://schemas.openxmlformats.org/drawingml/2006/main">
              <a:ext uri="{FF2B5EF4-FFF2-40B4-BE49-F238E27FC236}">
                <a16:creationId xmlns:a16="http://schemas.microsoft.com/office/drawing/2014/main" id="{D04FDE48-1716-4344-988D-05A7BB85E4E9}"/>
              </a:ext>
            </a:extLst>
          </p:cNvPr>
          <p:cNvGraphicFramePr/>
          <p:nvPr/>
        </p:nvGraphicFramePr>
        <p:xfrm>
          <a:off xmlns:a="http://schemas.openxmlformats.org/drawingml/2006/main" x="590550" y="1752600"/>
          <a:ext xmlns:a="http://schemas.openxmlformats.org/drawingml/2006/main" cx="11010900" cy="2647950"/>
        </p:xfrm>
        <a:graphic xmlns:a="http://schemas.openxmlformats.org/drawingml/2006/main">
          <a:graphicData uri="http://schemas.openxmlformats.org/drawingml/2006/table">
            <a:tbl>
              <a:tblPr/>
              <a:tblGrid>
                <a:gridCol w="952500"/>
                <a:gridCol w="2476500"/>
                <a:gridCol w="3714750"/>
                <a:gridCol w="3867150"/>
              </a:tblGrid>
              <a:tr h="476250">
                <a:tc>
                  <a:txBody>
                    <a:bodyPr wrap="square" lIns="47625" tIns="47625" rIns="47625" bIns="47625">
                      <a:normAutofit/>
                    </a:bodyPr>
                    <a:lstStyle/>
                    <a:p>
                      <a:pPr algn="l"/>
                      <a:r>
                        <a:rPr sz="1500" b="1">
                          <a:solidFill>
                            <a:srgbClr val="FFFFFF"/>
                          </a:solidFill>
                          <a:latin typeface="Arial"/>
                          <a:ea typeface="Arial"/>
                          <a:cs typeface="Arial"/>
                        </a:rPr>
                        <a:t>Batch</a:t>
                      </a:r>
                    </a:p>
                  </a:txBody>
                  <a:tcPr marL="91440" marR="91440" marT="45720" marB="45720" anchor="ctr">
                    <a:solidFill>
                      <a:srgbClr val="0E2841"/>
                    </a:solidFill>
                  </a:tcPr>
                </a:tc>
                <a:tc>
                  <a:txBody>
                    <a:bodyPr wrap="square" lIns="47625" tIns="47625" rIns="47625" bIns="47625">
                      <a:normAutofit/>
                    </a:bodyPr>
                    <a:lstStyle/>
                    <a:p>
                      <a:pPr algn="l"/>
                      <a:r>
                        <a:rPr sz="1500" b="1">
                          <a:solidFill>
                            <a:srgbClr val="FFFFFF"/>
                          </a:solidFill>
                          <a:latin typeface="Arial"/>
                          <a:ea typeface="Arial"/>
                          <a:cs typeface="Arial"/>
                        </a:rPr>
                        <a:t>Cities</a:t>
                      </a:r>
                    </a:p>
                  </a:txBody>
                  <a:tcPr marL="91440" marR="91440" marT="45720" marB="45720" anchor="ctr">
                    <a:solidFill>
                      <a:srgbClr val="0E2841"/>
                    </a:solidFill>
                  </a:tcPr>
                </a:tc>
                <a:tc>
                  <a:txBody>
                    <a:bodyPr wrap="square" lIns="47625" tIns="47625" rIns="47625" bIns="47625">
                      <a:normAutofit/>
                    </a:bodyPr>
                    <a:lstStyle/>
                    <a:p>
                      <a:pPr algn="l"/>
                      <a:r>
                        <a:rPr sz="1500" b="1">
                          <a:solidFill>
                            <a:srgbClr val="FFFFFF"/>
                          </a:solidFill>
                          <a:latin typeface="Arial"/>
                          <a:ea typeface="Arial"/>
                          <a:cs typeface="Arial"/>
                        </a:rPr>
                        <a:t>Verified status</a:t>
                      </a:r>
                    </a:p>
                  </a:txBody>
                  <a:tcPr marL="91440" marR="91440" marT="45720" marB="45720" anchor="ctr">
                    <a:solidFill>
                      <a:srgbClr val="0E2841"/>
                    </a:solidFill>
                  </a:tcPr>
                </a:tc>
                <a:tc>
                  <a:txBody>
                    <a:bodyPr wrap="square" lIns="47625" tIns="47625" rIns="47625" bIns="47625">
                      <a:normAutofit/>
                    </a:bodyPr>
                    <a:lstStyle/>
                    <a:p>
                      <a:pPr algn="l"/>
                      <a:r>
                        <a:rPr sz="1500" b="1">
                          <a:solidFill>
                            <a:srgbClr val="FFFFFF"/>
                          </a:solidFill>
                          <a:latin typeface="Arial"/>
                          <a:ea typeface="Arial"/>
                          <a:cs typeface="Arial"/>
                        </a:rPr>
                        <a:t>Remaining evidence</a:t>
                      </a:r>
                    </a:p>
                  </a:txBody>
                  <a:tcPr marL="91440" marR="91440" marT="45720" marB="45720" anchor="ctr">
                    <a:solidFill>
                      <a:srgbClr val="0E2841"/>
                    </a:solidFill>
                  </a:tcPr>
                </a:tc>
              </a:tr>
              <a:tr h="723900">
                <a:tc>
                  <a:txBody>
                    <a:bodyPr wrap="square" lIns="47625" tIns="47625" rIns="47625" bIns="47625">
                      <a:normAutofit/>
                    </a:bodyPr>
                    <a:lstStyle/>
                    <a:p>
                      <a:pPr algn="l"/>
                      <a:r>
                        <a:rPr sz="1500">
                          <a:solidFill>
                            <a:srgbClr val="172B3A"/>
                          </a:solidFill>
                          <a:latin typeface="Arial"/>
                          <a:ea typeface="Arial"/>
                          <a:cs typeface="Arial"/>
                        </a:rPr>
                        <a:t>1</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Not documented</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No separate batch result found</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Assignment, run log, issues</a:t>
                      </a:r>
                    </a:p>
                  </a:txBody>
                  <a:tcPr marL="91440" marR="91440" marT="45720" marB="45720" anchor="ctr">
                    <a:solidFill>
                      <a:srgbClr val="FFFFFF"/>
                    </a:solidFill>
                  </a:tcPr>
                </a:tc>
              </a:tr>
              <a:tr h="723900">
                <a:tc>
                  <a:txBody>
                    <a:bodyPr wrap="square" lIns="47625" tIns="47625" rIns="47625" bIns="47625">
                      <a:normAutofit/>
                    </a:bodyPr>
                    <a:lstStyle/>
                    <a:p>
                      <a:pPr algn="l"/>
                      <a:r>
                        <a:rPr sz="1500">
                          <a:solidFill>
                            <a:srgbClr val="172B3A"/>
                          </a:solidFill>
                          <a:latin typeface="Arial"/>
                          <a:ea typeface="Arial"/>
                          <a:cs typeface="Arial"/>
                        </a:rPr>
                        <a:t>2</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Not documented</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No pipeline revision log found</a:t>
                      </a:r>
                    </a:p>
                  </a:txBody>
                  <a:tcPr marL="91440" marR="91440" marT="45720" marB="45720" anchor="ctr">
                    <a:solidFill>
                      <a:srgbClr val="EAF2F5"/>
                    </a:solidFill>
                  </a:tcPr>
                </a:tc>
                <a:tc>
                  <a:txBody>
                    <a:bodyPr wrap="square" lIns="47625" tIns="47625" rIns="47625" bIns="47625">
                      <a:normAutofit/>
                    </a:bodyPr>
                    <a:lstStyle/>
                    <a:p>
                      <a:pPr algn="l"/>
                      <a:r>
                        <a:rPr sz="1500">
                          <a:solidFill>
                            <a:srgbClr val="172B3A"/>
                          </a:solidFill>
                          <a:latin typeface="Arial"/>
                          <a:ea typeface="Arial"/>
                          <a:cs typeface="Arial"/>
                        </a:rPr>
                        <a:t>Assignment, refinements, checks</a:t>
                      </a:r>
                    </a:p>
                  </a:txBody>
                  <a:tcPr marL="91440" marR="91440" marT="45720" marB="45720" anchor="ctr">
                    <a:solidFill>
                      <a:srgbClr val="EAF2F5"/>
                    </a:solidFill>
                  </a:tcPr>
                </a:tc>
              </a:tr>
              <a:tr h="723900">
                <a:tc>
                  <a:txBody>
                    <a:bodyPr wrap="square" lIns="47625" tIns="47625" rIns="47625" bIns="47625">
                      <a:normAutofit/>
                    </a:bodyPr>
                    <a:lstStyle/>
                    <a:p>
                      <a:pPr algn="l"/>
                      <a:r>
                        <a:rPr sz="1500">
                          <a:solidFill>
                            <a:srgbClr val="172B3A"/>
                          </a:solidFill>
                          <a:latin typeface="Arial"/>
                          <a:ea typeface="Arial"/>
                          <a:cs typeface="Arial"/>
                        </a:rPr>
                        <a:t>3</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Not documented</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No separate batch result found</a:t>
                      </a:r>
                    </a:p>
                  </a:txBody>
                  <a:tcPr marL="91440" marR="91440" marT="45720" marB="45720" anchor="ctr">
                    <a:solidFill>
                      <a:srgbClr val="FFFFFF"/>
                    </a:solidFill>
                  </a:tcPr>
                </a:tc>
                <a:tc>
                  <a:txBody>
                    <a:bodyPr wrap="square" lIns="47625" tIns="47625" rIns="47625" bIns="47625">
                      <a:normAutofit/>
                    </a:bodyPr>
                    <a:lstStyle/>
                    <a:p>
                      <a:pPr algn="l"/>
                      <a:r>
                        <a:rPr sz="1500">
                          <a:solidFill>
                            <a:srgbClr val="172B3A"/>
                          </a:solidFill>
                          <a:latin typeface="Arial"/>
                          <a:ea typeface="Arial"/>
                          <a:cs typeface="Arial"/>
                        </a:rPr>
                        <a:t>Assignment, run log, issues</a:t>
                      </a:r>
                    </a:p>
                  </a:txBody>
                  <a:tcPr marL="91440" marR="91440" marT="45720" marB="45720" anchor="ctr">
                    <a:solidFill>
                      <a:srgbClr val="FFFFFF"/>
                    </a:solidFill>
                  </a:tcPr>
                </a:tc>
              </a:tr>
            </a:tbl>
          </a:graphicData>
        </a:graphic>
      </p:graphicFrame>
      <p:sp>
        <p:nvSpPr>
          <p:cNvPr id="7" name="status-verified">
            <a:extLst xmlns:a="http://schemas.openxmlformats.org/drawingml/2006/main">
              <a:ext uri="{FF2B5EF4-FFF2-40B4-BE49-F238E27FC236}">
                <a16:creationId xmlns:a16="http://schemas.microsoft.com/office/drawing/2014/main" id="{E1DDF3D6-A6E9-4652-B2CB-BB441A8AE164}"/>
              </a:ext>
            </a:extLst>
          </p:cNvPr>
          <p:cNvSpPr>
            <a:spLocks xmlns:a="http://schemas.openxmlformats.org/drawingml/2006/main" noGrp="1"/>
          </p:cNvSpPr>
          <p:nvPr/>
        </p:nvSpPr>
        <p:spPr>
          <a:xfrm xmlns:a="http://schemas.openxmlformats.org/drawingml/2006/main">
            <a:off x="723900" y="47244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i="0">
                <a:solidFill>
                  <a:srgbClr val="196B24"/>
                </a:solidFill>
                <a:latin typeface="Arial"/>
                <a:ea typeface="Arial"/>
                <a:cs typeface="Arial"/>
              </a:defRPr>
            </a:defPPr>
          </a:lstStyle>
          <a:p xmlns:a="http://schemas.openxmlformats.org/drawingml/2006/main">
            <a:pPr algn="l">
              <a:defRPr sz="1425" b="1" i="0">
                <a:solidFill>
                  <a:srgbClr val="196B24"/>
                </a:solidFill>
                <a:latin typeface="Arial"/>
                <a:ea typeface="Arial"/>
                <a:cs typeface="Arial"/>
              </a:defRPr>
            </a:pPr>
            <a:r>
              <a:rPr sz="1425" b="1" i="0">
                <a:solidFill>
                  <a:srgbClr val="196B24"/>
                </a:solidFill>
                <a:latin typeface="Arial"/>
                <a:ea typeface="Arial"/>
                <a:cs typeface="Arial"/>
              </a:rPr>
              <a:t>What is verified</a:t>
            </a:r>
          </a:p>
        </p:txBody>
      </p:sp>
      <p:sp>
        <p:nvSpPr>
          <p:cNvPr id="8" name="status-verified-detail">
            <a:extLst xmlns:a="http://schemas.openxmlformats.org/drawingml/2006/main">
              <a:ext uri="{FF2B5EF4-FFF2-40B4-BE49-F238E27FC236}">
                <a16:creationId xmlns:a16="http://schemas.microsoft.com/office/drawing/2014/main" id="{E8241C17-CB4A-49C5-97E5-56E80A36FBA9}"/>
              </a:ext>
            </a:extLst>
          </p:cNvPr>
          <p:cNvSpPr>
            <a:spLocks xmlns:a="http://schemas.openxmlformats.org/drawingml/2006/main" noGrp="1"/>
          </p:cNvSpPr>
          <p:nvPr/>
        </p:nvSpPr>
        <p:spPr>
          <a:xfrm xmlns:a="http://schemas.openxmlformats.org/drawingml/2006/main">
            <a:off x="723900" y="5076825"/>
            <a:ext cx="10572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The current pipeline produced one consolidated result for all 8 cities: 89 files, 2,496 city-month rows, and 8 passing configured city-month checks.</a:t>
            </a:r>
          </a:p>
        </p:txBody>
      </p:sp>
      <p:sp>
        <p:nvSpPr>
          <p:cNvPr id="9" name="status-iteration-detail">
            <a:extLst xmlns:a="http://schemas.openxmlformats.org/drawingml/2006/main">
              <a:ext uri="{FF2B5EF4-FFF2-40B4-BE49-F238E27FC236}">
                <a16:creationId xmlns:a16="http://schemas.microsoft.com/office/drawing/2014/main" id="{FB93DBDA-7843-40E6-BFCC-3F829239ECFC}"/>
              </a:ext>
            </a:extLst>
          </p:cNvPr>
          <p:cNvSpPr>
            <a:spLocks xmlns:a="http://schemas.openxmlformats.org/drawingml/2006/main" noGrp="1"/>
          </p:cNvSpPr>
          <p:nvPr/>
        </p:nvSpPr>
        <p:spPr>
          <a:xfrm xmlns:a="http://schemas.openxmlformats.org/drawingml/2006/main">
            <a:off x="723900" y="5715000"/>
            <a:ext cx="10572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E97132"/>
                </a:solidFill>
                <a:latin typeface="Arial"/>
                <a:ea typeface="Arial"/>
                <a:cs typeface="Arial"/>
              </a:defRPr>
            </a:defPPr>
          </a:lstStyle>
          <a:p xmlns:a="http://schemas.openxmlformats.org/drawingml/2006/main">
            <a:pPr algn="l">
              <a:defRPr sz="1500" b="1" i="0">
                <a:solidFill>
                  <a:srgbClr val="E97132"/>
                </a:solidFill>
                <a:latin typeface="Arial"/>
                <a:ea typeface="Arial"/>
                <a:cs typeface="Arial"/>
              </a:defRPr>
            </a:pPr>
            <a:r>
              <a:rPr sz="1500" b="1" i="0">
                <a:solidFill>
                  <a:srgbClr val="E97132"/>
                </a:solidFill>
                <a:latin typeface="Arial"/>
                <a:ea typeface="Arial"/>
                <a:cs typeface="Arial"/>
              </a:rPr>
              <a:t>The supplied batch plan aims to detect issues early and refine the workflow before later groups. The repository does not demonstrate a batch-by-batch improvement yet.</a:t>
            </a:r>
          </a:p>
        </p:txBody>
      </p:sp>
    </p:spTree>
    <p:extLst>
      <p:ext uri="{BB962C8B-B14F-4D97-AF65-F5344CB8AC3E}">
        <p14:creationId xmlns:p14="http://schemas.microsoft.com/office/powerpoint/2010/main" val="1281597369"/>
      </p:ext>
    </p:extLst>
  </p:cSld>
</p:sld>
</file>

<file path=ppt/slides/slide19.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AEAB7979-5583-4E28-B411-A6AA00AA0A2C}"/>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C · FUTURE WORK</a:t>
            </a:r>
          </a:p>
        </p:txBody>
      </p:sp>
      <p:sp>
        <p:nvSpPr>
          <p:cNvPr id="2" name="slide-number">
            <a:extLst xmlns:a="http://schemas.openxmlformats.org/drawingml/2006/main">
              <a:ext uri="{FF2B5EF4-FFF2-40B4-BE49-F238E27FC236}">
                <a16:creationId xmlns:a16="http://schemas.microsoft.com/office/drawing/2014/main" id="{EC7FCB45-2B84-4103-8D10-51B535C55FCC}"/>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19</a:t>
            </a:r>
          </a:p>
        </p:txBody>
      </p:sp>
      <p:sp>
        <p:nvSpPr>
          <p:cNvPr id="3" name="slide-title">
            <a:extLst xmlns:a="http://schemas.openxmlformats.org/drawingml/2006/main">
              <a:ext uri="{FF2B5EF4-FFF2-40B4-BE49-F238E27FC236}">
                <a16:creationId xmlns:a16="http://schemas.microsoft.com/office/drawing/2014/main" id="{D29A28A9-91A4-4F0C-8E31-45D17E0AF99E}"/>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Next Phase: Disaster and Socioeconomic Data</a:t>
            </a:r>
          </a:p>
        </p:txBody>
      </p:sp>
      <p:sp>
        <p:nvSpPr>
          <p:cNvPr id="4" name="header-rule">
            <a:extLst xmlns:a="http://schemas.openxmlformats.org/drawingml/2006/main">
              <a:ext uri="{FF2B5EF4-FFF2-40B4-BE49-F238E27FC236}">
                <a16:creationId xmlns:a16="http://schemas.microsoft.com/office/drawing/2014/main" id="{DF35690A-0BFF-404B-BC65-408B292DD066}"/>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1CECF103-B6C4-4403-9218-74D0BD23B0AB}"/>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Both workstreams are planned. Neither data source is included in the current climate repository outputs.</a:t>
            </a:r>
          </a:p>
        </p:txBody>
      </p:sp>
      <p:sp>
        <p:nvSpPr>
          <p:cNvPr id="6" name="disaster-heading">
            <a:extLst xmlns:a="http://schemas.openxmlformats.org/drawingml/2006/main">
              <a:ext uri="{FF2B5EF4-FFF2-40B4-BE49-F238E27FC236}">
                <a16:creationId xmlns:a16="http://schemas.microsoft.com/office/drawing/2014/main" id="{83E24A77-ECB6-48A0-9F36-C23C24606EC4}"/>
              </a:ext>
            </a:extLst>
          </p:cNvPr>
          <p:cNvSpPr>
            <a:spLocks xmlns:a="http://schemas.openxmlformats.org/drawingml/2006/main" noGrp="1"/>
          </p:cNvSpPr>
          <p:nvPr/>
        </p:nvSpPr>
        <p:spPr>
          <a:xfrm xmlns:a="http://schemas.openxmlformats.org/drawingml/2006/main">
            <a:off x="685800" y="18478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i="0">
                <a:solidFill>
                  <a:srgbClr val="0E2841"/>
                </a:solidFill>
                <a:latin typeface="Arial"/>
                <a:ea typeface="Arial"/>
                <a:cs typeface="Arial"/>
              </a:defRPr>
            </a:defPPr>
          </a:lstStyle>
          <a:p xmlns:a="http://schemas.openxmlformats.org/drawingml/2006/main">
            <a:pPr algn="l">
              <a:defRPr sz="2325" b="1" i="0">
                <a:solidFill>
                  <a:srgbClr val="0E2841"/>
                </a:solidFill>
                <a:latin typeface="Arial"/>
                <a:ea typeface="Arial"/>
                <a:cs typeface="Arial"/>
              </a:defRPr>
            </a:pPr>
            <a:r>
              <a:rPr sz="2325" b="1" i="0">
                <a:solidFill>
                  <a:srgbClr val="0E2841"/>
                </a:solidFill>
                <a:latin typeface="Arial"/>
                <a:ea typeface="Arial"/>
                <a:cs typeface="Arial"/>
              </a:rPr>
              <a:t>Historical disaster data</a:t>
            </a:r>
          </a:p>
        </p:txBody>
      </p:sp>
      <p:sp>
        <p:nvSpPr>
          <p:cNvPr id="7" name="disaster-period">
            <a:extLst xmlns:a="http://schemas.openxmlformats.org/drawingml/2006/main">
              <a:ext uri="{FF2B5EF4-FFF2-40B4-BE49-F238E27FC236}">
                <a16:creationId xmlns:a16="http://schemas.microsoft.com/office/drawing/2014/main" id="{3E699192-41D0-4B5F-9E6C-8E3EB9469184}"/>
              </a:ext>
            </a:extLst>
          </p:cNvPr>
          <p:cNvSpPr>
            <a:spLocks xmlns:a="http://schemas.openxmlformats.org/drawingml/2006/main" noGrp="1"/>
          </p:cNvSpPr>
          <p:nvPr/>
        </p:nvSpPr>
        <p:spPr>
          <a:xfrm xmlns:a="http://schemas.openxmlformats.org/drawingml/2006/main">
            <a:off x="685800" y="2371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E97132"/>
                </a:solidFill>
                <a:latin typeface="Arial"/>
                <a:ea typeface="Arial"/>
                <a:cs typeface="Arial"/>
              </a:defRPr>
            </a:defPPr>
          </a:lstStyle>
          <a:p xmlns:a="http://schemas.openxmlformats.org/drawingml/2006/main">
            <a:pPr algn="l">
              <a:defRPr sz="1650" b="1" i="0">
                <a:solidFill>
                  <a:srgbClr val="E97132"/>
                </a:solidFill>
                <a:latin typeface="Arial"/>
                <a:ea typeface="Arial"/>
                <a:cs typeface="Arial"/>
              </a:defRPr>
            </a:pPr>
            <a:r>
              <a:rPr sz="1650" b="1" i="0">
                <a:solidFill>
                  <a:srgbClr val="E97132"/>
                </a:solidFill>
                <a:latin typeface="Arial"/>
                <a:ea typeface="Arial"/>
                <a:cs typeface="Arial"/>
              </a:rPr>
              <a:t>Target period: 2000 to 2025</a:t>
            </a:r>
          </a:p>
        </p:txBody>
      </p:sp>
      <p:sp>
        <p:nvSpPr>
          <p:cNvPr id="8" name="editable-bullet-list">
            <a:extLst xmlns:a="http://schemas.openxmlformats.org/drawingml/2006/main">
              <a:ext uri="{FF2B5EF4-FFF2-40B4-BE49-F238E27FC236}">
                <a16:creationId xmlns:a16="http://schemas.microsoft.com/office/drawing/2014/main" id="{97F1F9BD-CEFE-447E-87A5-863DB8328FE2}"/>
              </a:ext>
            </a:extLst>
          </p:cNvPr>
          <p:cNvSpPr>
            <a:spLocks xmlns:a="http://schemas.openxmlformats.org/drawingml/2006/main" noGrp="1"/>
          </p:cNvSpPr>
          <p:nvPr/>
        </p:nvSpPr>
        <p:spPr>
          <a:xfrm xmlns:a="http://schemas.openxmlformats.org/drawingml/2006/main">
            <a:off x="685800" y="2819400"/>
            <a:ext cx="4953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defPPr>
              <a:defRPr sz="1575">
                <a:solidFill>
                  <a:srgbClr val="172B3A"/>
                </a:solidFill>
                <a:latin typeface="Arial"/>
                <a:ea typeface="Arial"/>
                <a:cs typeface="Arial"/>
              </a:defRPr>
            </a:defPPr>
          </a:lstStyle>
          <a:p xmlns:a="http://schemas.openxmlformats.org/drawingml/2006/main">
            <a:pPr marL="241300" indent="-127000">
              <a:lnSpc>
                <a:spcPct val="108000"/>
              </a:lnSpc>
              <a:spcAft>
                <a:spcPts val="800"/>
              </a:spcAft>
              <a:buNone/>
              <a:defRPr sz="1575">
                <a:solidFill>
                  <a:srgbClr val="172B3A"/>
                </a:solidFill>
                <a:latin typeface="Arial"/>
                <a:ea typeface="Arial"/>
                <a:cs typeface="Arial"/>
              </a:defRPr>
            </a:pPr>
            <a:r>
              <a:rPr sz="1575">
                <a:solidFill>
                  <a:srgbClr val="172B3A"/>
                </a:solidFill>
                <a:latin typeface="Arial"/>
                <a:ea typeface="Arial"/>
                <a:cs typeface="Arial"/>
              </a:rPr>
              <a:t>Identify reliable event sources and their coverage.</a:t>
            </a:r>
          </a:p>
          <a:p xmlns:a="http://schemas.openxmlformats.org/drawingml/2006/main">
            <a:pPr marL="241300" indent="-127000">
              <a:lnSpc>
                <a:spcPct val="108000"/>
              </a:lnSpc>
              <a:spcAft>
                <a:spcPts val="800"/>
              </a:spcAft>
              <a:buNone/>
              <a:defRPr sz="1575">
                <a:solidFill>
                  <a:srgbClr val="172B3A"/>
                </a:solidFill>
                <a:latin typeface="Arial"/>
                <a:ea typeface="Arial"/>
                <a:cs typeface="Arial"/>
              </a:defRPr>
            </a:pPr>
            <a:r>
              <a:rPr sz="1575">
                <a:solidFill>
                  <a:srgbClr val="172B3A"/>
                </a:solidFill>
                <a:latin typeface="Arial"/>
                <a:ea typeface="Arial"/>
                <a:cs typeface="Arial"/>
              </a:rPr>
              <a:t>Collect available event dates, type, location, and impacts.</a:t>
            </a:r>
          </a:p>
          <a:p xmlns:a="http://schemas.openxmlformats.org/drawingml/2006/main">
            <a:pPr marL="241300" indent="-127000">
              <a:lnSpc>
                <a:spcPct val="108000"/>
              </a:lnSpc>
              <a:spcAft>
                <a:spcPts val="800"/>
              </a:spcAft>
              <a:buNone/>
              <a:defRPr sz="1575">
                <a:solidFill>
                  <a:srgbClr val="172B3A"/>
                </a:solidFill>
                <a:latin typeface="Arial"/>
                <a:ea typeface="Arial"/>
                <a:cs typeface="Arial"/>
              </a:defRPr>
            </a:pPr>
            <a:r>
              <a:rPr sz="1575">
                <a:solidFill>
                  <a:srgbClr val="172B3A"/>
                </a:solidFill>
                <a:latin typeface="Arial"/>
                <a:ea typeface="Arial"/>
                <a:cs typeface="Arial"/>
              </a:rPr>
              <a:t>Standardize place names and dates before linking to climate months.</a:t>
            </a:r>
          </a:p>
          <a:p xmlns:a="http://schemas.openxmlformats.org/drawingml/2006/main">
            <a:pPr marL="241300" indent="-127000">
              <a:lnSpc>
                <a:spcPct val="108000"/>
              </a:lnSpc>
              <a:spcAft>
                <a:spcPts val="800"/>
              </a:spcAft>
              <a:buNone/>
              <a:defRPr sz="1575">
                <a:solidFill>
                  <a:srgbClr val="172B3A"/>
                </a:solidFill>
                <a:latin typeface="Arial"/>
                <a:ea typeface="Arial"/>
                <a:cs typeface="Arial"/>
              </a:defRPr>
            </a:pPr>
            <a:r>
              <a:rPr sz="1575">
                <a:solidFill>
                  <a:srgbClr val="172B3A"/>
                </a:solidFill>
                <a:latin typeface="Arial"/>
                <a:ea typeface="Arial"/>
                <a:cs typeface="Arial"/>
              </a:rPr>
              <a:t>Document incomplete or inconsistent reporting.</a:t>
            </a:r>
          </a:p>
        </p:txBody>
      </p:sp>
      <p:sp>
        <p:nvSpPr>
          <p:cNvPr id="9" name="future-divider">
            <a:extLst xmlns:a="http://schemas.openxmlformats.org/drawingml/2006/main">
              <a:ext uri="{FF2B5EF4-FFF2-40B4-BE49-F238E27FC236}">
                <a16:creationId xmlns:a16="http://schemas.microsoft.com/office/drawing/2014/main" id="{163BF4F3-6DA5-427B-AF05-D3F5B4BE8A25}"/>
              </a:ext>
            </a:extLst>
          </p:cNvPr>
          <p:cNvSpPr>
            <a:spLocks xmlns:a="http://schemas.openxmlformats.org/drawingml/2006/main" noGrp="1"/>
          </p:cNvSpPr>
          <p:nvPr/>
        </p:nvSpPr>
        <p:spPr>
          <a:xfrm xmlns:a="http://schemas.openxmlformats.org/drawingml/2006/main">
            <a:off x="5962650" y="1828800"/>
            <a:ext cx="0" cy="388620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10" name="socio-heading">
            <a:extLst xmlns:a="http://schemas.openxmlformats.org/drawingml/2006/main">
              <a:ext uri="{FF2B5EF4-FFF2-40B4-BE49-F238E27FC236}">
                <a16:creationId xmlns:a16="http://schemas.microsoft.com/office/drawing/2014/main" id="{4E078BEB-E3C6-4DF8-AE0A-66DAA0B173E1}"/>
              </a:ext>
            </a:extLst>
          </p:cNvPr>
          <p:cNvSpPr>
            <a:spLocks xmlns:a="http://schemas.openxmlformats.org/drawingml/2006/main" noGrp="1"/>
          </p:cNvSpPr>
          <p:nvPr/>
        </p:nvSpPr>
        <p:spPr>
          <a:xfrm xmlns:a="http://schemas.openxmlformats.org/drawingml/2006/main">
            <a:off x="6419850" y="184785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i="0">
                <a:solidFill>
                  <a:srgbClr val="0E2841"/>
                </a:solidFill>
                <a:latin typeface="Arial"/>
                <a:ea typeface="Arial"/>
                <a:cs typeface="Arial"/>
              </a:defRPr>
            </a:defPPr>
          </a:lstStyle>
          <a:p xmlns:a="http://schemas.openxmlformats.org/drawingml/2006/main">
            <a:pPr algn="l">
              <a:defRPr sz="2325" b="1" i="0">
                <a:solidFill>
                  <a:srgbClr val="0E2841"/>
                </a:solidFill>
                <a:latin typeface="Arial"/>
                <a:ea typeface="Arial"/>
                <a:cs typeface="Arial"/>
              </a:defRPr>
            </a:pPr>
            <a:r>
              <a:rPr sz="2325" b="1" i="0">
                <a:solidFill>
                  <a:srgbClr val="0E2841"/>
                </a:solidFill>
                <a:latin typeface="Arial"/>
                <a:ea typeface="Arial"/>
                <a:cs typeface="Arial"/>
              </a:rPr>
              <a:t>Socioeconomic indicators</a:t>
            </a:r>
          </a:p>
        </p:txBody>
      </p:sp>
      <p:sp>
        <p:nvSpPr>
          <p:cNvPr id="11" name="socio-period">
            <a:extLst xmlns:a="http://schemas.openxmlformats.org/drawingml/2006/main">
              <a:ext uri="{FF2B5EF4-FFF2-40B4-BE49-F238E27FC236}">
                <a16:creationId xmlns:a16="http://schemas.microsoft.com/office/drawing/2014/main" id="{16B053AE-E59A-4DAE-BC5B-B50E6432E0A8}"/>
              </a:ext>
            </a:extLst>
          </p:cNvPr>
          <p:cNvSpPr>
            <a:spLocks xmlns:a="http://schemas.openxmlformats.org/drawingml/2006/main" noGrp="1"/>
          </p:cNvSpPr>
          <p:nvPr/>
        </p:nvSpPr>
        <p:spPr>
          <a:xfrm xmlns:a="http://schemas.openxmlformats.org/drawingml/2006/main">
            <a:off x="6419850" y="237172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i="0">
                <a:solidFill>
                  <a:srgbClr val="E97132"/>
                </a:solidFill>
                <a:latin typeface="Arial"/>
                <a:ea typeface="Arial"/>
                <a:cs typeface="Arial"/>
              </a:defRPr>
            </a:defPPr>
          </a:lstStyle>
          <a:p xmlns:a="http://schemas.openxmlformats.org/drawingml/2006/main">
            <a:pPr algn="l">
              <a:defRPr sz="1650" b="1" i="0">
                <a:solidFill>
                  <a:srgbClr val="E97132"/>
                </a:solidFill>
                <a:latin typeface="Arial"/>
                <a:ea typeface="Arial"/>
                <a:cs typeface="Arial"/>
              </a:defRPr>
            </a:pPr>
            <a:r>
              <a:rPr sz="1650" b="1" i="0">
                <a:solidFill>
                  <a:srgbClr val="E97132"/>
                </a:solidFill>
                <a:latin typeface="Arial"/>
                <a:ea typeface="Arial"/>
                <a:cs typeface="Arial"/>
              </a:rPr>
              <a:t>Coverage depends on source availability</a:t>
            </a:r>
          </a:p>
        </p:txBody>
      </p:sp>
      <p:sp>
        <p:nvSpPr>
          <p:cNvPr id="12" name="editable-bullet-list">
            <a:extLst xmlns:a="http://schemas.openxmlformats.org/drawingml/2006/main">
              <a:ext uri="{FF2B5EF4-FFF2-40B4-BE49-F238E27FC236}">
                <a16:creationId xmlns:a16="http://schemas.microsoft.com/office/drawing/2014/main" id="{0E32B966-24D4-454D-8AC4-6C23638FFDFC}"/>
              </a:ext>
            </a:extLst>
          </p:cNvPr>
          <p:cNvSpPr>
            <a:spLocks xmlns:a="http://schemas.openxmlformats.org/drawingml/2006/main" noGrp="1"/>
          </p:cNvSpPr>
          <p:nvPr/>
        </p:nvSpPr>
        <p:spPr>
          <a:xfrm xmlns:a="http://schemas.openxmlformats.org/drawingml/2006/main">
            <a:off x="6419850" y="2819400"/>
            <a:ext cx="5048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86346"/>
          </a:bodyPr>
          <a:lstStyle xmlns:a="http://schemas.openxmlformats.org/drawingml/2006/main">
            <a:defPPr>
              <a:defRPr sz="1575">
                <a:solidFill>
                  <a:srgbClr val="172B3A"/>
                </a:solidFill>
                <a:latin typeface="Arial"/>
                <a:ea typeface="Arial"/>
                <a:cs typeface="Arial"/>
              </a:defRPr>
            </a:defPPr>
          </a:lstStyle>
          <a:p xmlns:a="http://schemas.openxmlformats.org/drawingml/2006/main">
            <a:pPr marL="241300" indent="-127000">
              <a:lnSpc>
                <a:spcPct val="108000"/>
              </a:lnSpc>
              <a:spcAft>
                <a:spcPts val="800"/>
              </a:spcAft>
              <a:buNone/>
              <a:defRPr sz="1575">
                <a:solidFill>
                  <a:srgbClr val="172B3A"/>
                </a:solidFill>
                <a:latin typeface="Arial"/>
                <a:ea typeface="Arial"/>
                <a:cs typeface="Arial"/>
              </a:defRPr>
            </a:pPr>
            <a:r>
              <a:rPr sz="1575">
                <a:solidFill>
                  <a:srgbClr val="172B3A"/>
                </a:solidFill>
                <a:latin typeface="Arial"/>
                <a:ea typeface="Arial"/>
                <a:cs typeface="Arial"/>
              </a:rPr>
              <a:t>Assess population, income, poverty, employment, and education measures.</a:t>
            </a:r>
          </a:p>
          <a:p xmlns:a="http://schemas.openxmlformats.org/drawingml/2006/main">
            <a:pPr marL="241300" indent="-127000">
              <a:lnSpc>
                <a:spcPct val="108000"/>
              </a:lnSpc>
              <a:spcAft>
                <a:spcPts val="800"/>
              </a:spcAft>
              <a:buNone/>
              <a:defRPr sz="1575">
                <a:solidFill>
                  <a:srgbClr val="172B3A"/>
                </a:solidFill>
                <a:latin typeface="Arial"/>
                <a:ea typeface="Arial"/>
                <a:cs typeface="Arial"/>
              </a:defRPr>
            </a:pPr>
            <a:r>
              <a:rPr sz="1575">
                <a:solidFill>
                  <a:srgbClr val="172B3A"/>
                </a:solidFill>
                <a:latin typeface="Arial"/>
                <a:ea typeface="Arial"/>
                <a:cs typeface="Arial"/>
              </a:rPr>
              <a:t>Review housing, water, sanitation, and healthcare access indicators.</a:t>
            </a:r>
          </a:p>
          <a:p xmlns:a="http://schemas.openxmlformats.org/drawingml/2006/main">
            <a:pPr marL="241300" indent="-127000">
              <a:lnSpc>
                <a:spcPct val="108000"/>
              </a:lnSpc>
              <a:spcAft>
                <a:spcPts val="800"/>
              </a:spcAft>
              <a:buNone/>
              <a:defRPr sz="1575">
                <a:solidFill>
                  <a:srgbClr val="172B3A"/>
                </a:solidFill>
                <a:latin typeface="Arial"/>
                <a:ea typeface="Arial"/>
                <a:cs typeface="Arial"/>
              </a:defRPr>
            </a:pPr>
            <a:r>
              <a:rPr sz="1575">
                <a:solidFill>
                  <a:srgbClr val="172B3A"/>
                </a:solidFill>
                <a:latin typeface="Arial"/>
                <a:ea typeface="Arial"/>
                <a:cs typeface="Arial"/>
              </a:rPr>
              <a:t>Choose measures only when geography and time coverage fit the selected cities.</a:t>
            </a:r>
          </a:p>
          <a:p xmlns:a="http://schemas.openxmlformats.org/drawingml/2006/main">
            <a:pPr marL="241300" indent="-127000">
              <a:lnSpc>
                <a:spcPct val="108000"/>
              </a:lnSpc>
              <a:spcAft>
                <a:spcPts val="800"/>
              </a:spcAft>
              <a:buNone/>
              <a:defRPr sz="1575">
                <a:solidFill>
                  <a:srgbClr val="172B3A"/>
                </a:solidFill>
                <a:latin typeface="Arial"/>
                <a:ea typeface="Arial"/>
                <a:cs typeface="Arial"/>
              </a:defRPr>
            </a:pPr>
            <a:r>
              <a:rPr sz="1575">
                <a:solidFill>
                  <a:srgbClr val="172B3A"/>
                </a:solidFill>
                <a:latin typeface="Arial"/>
                <a:ea typeface="Arial"/>
                <a:cs typeface="Arial"/>
              </a:rPr>
              <a:t>Keep source and missingness limitations attached to each indicator.</a:t>
            </a:r>
          </a:p>
        </p:txBody>
      </p:sp>
      <p:sp>
        <p:nvSpPr>
          <p:cNvPr id="13" name="future-linkage">
            <a:extLst xmlns:a="http://schemas.openxmlformats.org/drawingml/2006/main">
              <a:ext uri="{FF2B5EF4-FFF2-40B4-BE49-F238E27FC236}">
                <a16:creationId xmlns:a16="http://schemas.microsoft.com/office/drawing/2014/main" id="{8E2B651F-A7C6-432D-B88F-8A82DAECD6FD}"/>
              </a:ext>
            </a:extLst>
          </p:cNvPr>
          <p:cNvSpPr>
            <a:spLocks xmlns:a="http://schemas.openxmlformats.org/drawingml/2006/main" noGrp="1"/>
          </p:cNvSpPr>
          <p:nvPr/>
        </p:nvSpPr>
        <p:spPr>
          <a:xfrm xmlns:a="http://schemas.openxmlformats.org/drawingml/2006/main">
            <a:off x="685800" y="583882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i="0">
                <a:solidFill>
                  <a:srgbClr val="196B24"/>
                </a:solidFill>
                <a:latin typeface="Arial"/>
                <a:ea typeface="Arial"/>
                <a:cs typeface="Arial"/>
              </a:defRPr>
            </a:defPPr>
          </a:lstStyle>
          <a:p xmlns:a="http://schemas.openxmlformats.org/drawingml/2006/main">
            <a:pPr algn="l">
              <a:defRPr sz="1500" b="1" i="0">
                <a:solidFill>
                  <a:srgbClr val="196B24"/>
                </a:solidFill>
                <a:latin typeface="Arial"/>
                <a:ea typeface="Arial"/>
                <a:cs typeface="Arial"/>
              </a:defRPr>
            </a:pPr>
            <a:r>
              <a:rPr sz="1500" b="1" i="0">
                <a:solidFill>
                  <a:srgbClr val="196B24"/>
                </a:solidFill>
                <a:latin typeface="Arial"/>
                <a:ea typeface="Arial"/>
                <a:cs typeface="Arial"/>
              </a:rPr>
              <a:t>These datasets are future work. No disaster or socioeconomic records are presented as already collected.</a:t>
            </a:r>
          </a:p>
        </p:txBody>
      </p:sp>
    </p:spTree>
    <p:extLst>
      <p:ext uri="{BB962C8B-B14F-4D97-AF65-F5344CB8AC3E}">
        <p14:creationId xmlns:p14="http://schemas.microsoft.com/office/powerpoint/2010/main" val="1697454057"/>
      </p:ext>
    </p:extLst>
  </p:cSld>
</p:sld>
</file>

<file path=ppt/slides/slide20.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24" name="section-label">
            <a:extLst xmlns:a="http://schemas.openxmlformats.org/drawingml/2006/main">
              <a:ext uri="{FF2B5EF4-FFF2-40B4-BE49-F238E27FC236}">
                <a16:creationId xmlns:a16="http://schemas.microsoft.com/office/drawing/2014/main" id="{CAFFEE31-2A7E-4E76-96E1-6FA9A0BDAF85}"/>
              </a:ext>
            </a:extLst>
          </p:cNvPr>
          <p:cNvSpPr>
            <a:spLocks xmlns:a="http://schemas.openxmlformats.org/drawingml/2006/main" noGrp="1"/>
          </p:cNvSpPr>
          <p:nvPr/>
        </p:nvSpPr>
        <p:spPr>
          <a:xfrm xmlns:a="http://schemas.openxmlformats.org/drawingml/2006/main">
            <a:off x="571500" y="2286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i="0">
                <a:solidFill>
                  <a:srgbClr val="156082"/>
                </a:solidFill>
                <a:latin typeface="Arial"/>
                <a:ea typeface="Arial"/>
                <a:cs typeface="Arial"/>
              </a:defRPr>
            </a:defPPr>
          </a:lstStyle>
          <a:p xmlns:a="http://schemas.openxmlformats.org/drawingml/2006/main">
            <a:pPr algn="l">
              <a:defRPr sz="1200" b="1" i="0">
                <a:solidFill>
                  <a:srgbClr val="156082"/>
                </a:solidFill>
                <a:latin typeface="Arial"/>
                <a:ea typeface="Arial"/>
                <a:cs typeface="Arial"/>
              </a:defRPr>
            </a:pPr>
            <a:r>
              <a:rPr sz="1200" b="1" i="0">
                <a:solidFill>
                  <a:srgbClr val="156082"/>
                </a:solidFill>
                <a:latin typeface="Arial"/>
                <a:ea typeface="Arial"/>
                <a:cs typeface="Arial"/>
              </a:rPr>
              <a:t>SECTION C · CONCLUSION</a:t>
            </a:r>
          </a:p>
        </p:txBody>
      </p:sp>
      <p:sp>
        <p:nvSpPr>
          <p:cNvPr id="2" name="slide-number">
            <a:extLst xmlns:a="http://schemas.openxmlformats.org/drawingml/2006/main">
              <a:ext uri="{FF2B5EF4-FFF2-40B4-BE49-F238E27FC236}">
                <a16:creationId xmlns:a16="http://schemas.microsoft.com/office/drawing/2014/main" id="{FE67852D-5580-4702-B80E-260777AE42B6}"/>
              </a:ext>
            </a:extLst>
          </p:cNvPr>
          <p:cNvSpPr>
            <a:spLocks xmlns:a="http://schemas.openxmlformats.org/drawingml/2006/main" noGrp="1"/>
          </p:cNvSpPr>
          <p:nvPr/>
        </p:nvSpPr>
        <p:spPr>
          <a:xfrm xmlns:a="http://schemas.openxmlformats.org/drawingml/2006/main">
            <a:off x="11144250" y="219075"/>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200" b="1" i="0">
                <a:solidFill>
                  <a:srgbClr val="52636D"/>
                </a:solidFill>
                <a:latin typeface="Arial"/>
                <a:ea typeface="Arial"/>
                <a:cs typeface="Arial"/>
              </a:defRPr>
            </a:defPPr>
          </a:lstStyle>
          <a:p xmlns:a="http://schemas.openxmlformats.org/drawingml/2006/main">
            <a:pPr algn="r">
              <a:defRPr sz="1200" b="1" i="0">
                <a:solidFill>
                  <a:srgbClr val="52636D"/>
                </a:solidFill>
                <a:latin typeface="Arial"/>
                <a:ea typeface="Arial"/>
                <a:cs typeface="Arial"/>
              </a:defRPr>
            </a:pPr>
            <a:r>
              <a:rPr sz="1200" b="1" i="0">
                <a:solidFill>
                  <a:srgbClr val="52636D"/>
                </a:solidFill>
                <a:latin typeface="Arial"/>
                <a:ea typeface="Arial"/>
                <a:cs typeface="Arial"/>
              </a:rPr>
              <a:t>20</a:t>
            </a:r>
          </a:p>
        </p:txBody>
      </p:sp>
      <p:sp>
        <p:nvSpPr>
          <p:cNvPr id="3" name="slide-title">
            <a:extLst xmlns:a="http://schemas.openxmlformats.org/drawingml/2006/main">
              <a:ext uri="{FF2B5EF4-FFF2-40B4-BE49-F238E27FC236}">
                <a16:creationId xmlns:a16="http://schemas.microsoft.com/office/drawing/2014/main" id="{FA8AAF15-05BE-43B5-B4A3-356DC5C01D7D}"/>
              </a:ext>
            </a:extLst>
          </p:cNvPr>
          <p:cNvSpPr>
            <a:spLocks xmlns:a="http://schemas.openxmlformats.org/drawingml/2006/main" noGrp="1"/>
          </p:cNvSpPr>
          <p:nvPr/>
        </p:nvSpPr>
        <p:spPr>
          <a:xfrm xmlns:a="http://schemas.openxmlformats.org/drawingml/2006/main">
            <a:off x="571500" y="53340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225" b="1" i="0">
                <a:solidFill>
                  <a:srgbClr val="0E2841"/>
                </a:solidFill>
                <a:latin typeface="Arial"/>
                <a:ea typeface="Arial"/>
                <a:cs typeface="Arial"/>
              </a:defRPr>
            </a:defPPr>
          </a:lstStyle>
          <a:p xmlns:a="http://schemas.openxmlformats.org/drawingml/2006/main">
            <a:pPr algn="l">
              <a:defRPr sz="3225" b="1" i="0">
                <a:solidFill>
                  <a:srgbClr val="0E2841"/>
                </a:solidFill>
                <a:latin typeface="Arial"/>
                <a:ea typeface="Arial"/>
                <a:cs typeface="Arial"/>
              </a:defRPr>
            </a:pPr>
            <a:r>
              <a:rPr sz="3225" b="1" i="0">
                <a:solidFill>
                  <a:srgbClr val="0E2841"/>
                </a:solidFill>
                <a:latin typeface="Arial"/>
                <a:ea typeface="Arial"/>
                <a:cs typeface="Arial"/>
              </a:rPr>
              <a:t>Checkpoint Summary and Integrated Dataset Roadmap</a:t>
            </a:r>
          </a:p>
        </p:txBody>
      </p:sp>
      <p:sp>
        <p:nvSpPr>
          <p:cNvPr id="4" name="header-rule">
            <a:extLst xmlns:a="http://schemas.openxmlformats.org/drawingml/2006/main">
              <a:ext uri="{FF2B5EF4-FFF2-40B4-BE49-F238E27FC236}">
                <a16:creationId xmlns:a16="http://schemas.microsoft.com/office/drawing/2014/main" id="{E51E4771-1238-4692-A94E-15D27AB14E7A}"/>
              </a:ext>
            </a:extLst>
          </p:cNvPr>
          <p:cNvSpPr>
            <a:spLocks xmlns:a="http://schemas.openxmlformats.org/drawingml/2006/main" noGrp="1"/>
          </p:cNvSpPr>
          <p:nvPr/>
        </p:nvSpPr>
        <p:spPr>
          <a:xfrm xmlns:a="http://schemas.openxmlformats.org/drawingml/2006/main">
            <a:off x="571500" y="1181100"/>
            <a:ext cx="11049000" cy="0"/>
          </a:xfrm>
          <a:prstGeom xmlns:a="http://schemas.openxmlformats.org/drawingml/2006/main" prst="line">
            <a:avLst/>
          </a:prstGeom>
          <a:noFill xmlns:a="http://schemas.openxmlformats.org/drawingml/2006/main"/>
          <a:ln xmlns:a="http://schemas.openxmlformats.org/drawingml/2006/main" w="14288">
            <a:solidFill>
              <a:srgbClr val="CCD6DA"/>
            </a:solidFill>
            <a:prstDash val="solid"/>
          </a:ln>
        </p:spPr>
      </p:sp>
      <p:sp>
        <p:nvSpPr>
          <p:cNvPr id="5" name="slide-subtitle">
            <a:extLst xmlns:a="http://schemas.openxmlformats.org/drawingml/2006/main">
              <a:ext uri="{FF2B5EF4-FFF2-40B4-BE49-F238E27FC236}">
                <a16:creationId xmlns:a16="http://schemas.microsoft.com/office/drawing/2014/main" id="{8E413E9E-7338-4A65-BF4A-916686C1AE53}"/>
              </a:ext>
            </a:extLst>
          </p:cNvPr>
          <p:cNvSpPr>
            <a:spLocks xmlns:a="http://schemas.openxmlformats.org/drawingml/2006/main" noGrp="1"/>
          </p:cNvSpPr>
          <p:nvPr/>
        </p:nvSpPr>
        <p:spPr>
          <a:xfrm xmlns:a="http://schemas.openxmlformats.org/drawingml/2006/main">
            <a:off x="571500" y="1257300"/>
            <a:ext cx="1104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i="0">
                <a:solidFill>
                  <a:srgbClr val="52636D"/>
                </a:solidFill>
                <a:latin typeface="Arial"/>
                <a:ea typeface="Arial"/>
                <a:cs typeface="Arial"/>
              </a:defRPr>
            </a:defPPr>
          </a:lstStyle>
          <a:p xmlns:a="http://schemas.openxmlformats.org/drawingml/2006/main">
            <a:pPr algn="l">
              <a:defRPr sz="1575" b="0" i="0">
                <a:solidFill>
                  <a:srgbClr val="52636D"/>
                </a:solidFill>
                <a:latin typeface="Arial"/>
                <a:ea typeface="Arial"/>
                <a:cs typeface="Arial"/>
              </a:defRPr>
            </a:pPr>
            <a:r>
              <a:rPr sz="1575" b="0" i="0">
                <a:solidFill>
                  <a:srgbClr val="52636D"/>
                </a:solidFill>
                <a:latin typeface="Arial"/>
                <a:ea typeface="Arial"/>
                <a:cs typeface="Arial"/>
              </a:rPr>
              <a:t>This checkpoint prepares a traceable monthly climate dataset and identifies what must happen before broader integration.</a:t>
            </a:r>
          </a:p>
        </p:txBody>
      </p:sp>
      <p:sp>
        <p:nvSpPr>
          <p:cNvPr id="6" name="roadmap-0-title">
            <a:extLst xmlns:a="http://schemas.openxmlformats.org/drawingml/2006/main">
              <a:ext uri="{FF2B5EF4-FFF2-40B4-BE49-F238E27FC236}">
                <a16:creationId xmlns:a16="http://schemas.microsoft.com/office/drawing/2014/main" id="{E277A227-91F4-43B7-9A43-29FA4E8CC6BA}"/>
              </a:ext>
            </a:extLst>
          </p:cNvPr>
          <p:cNvSpPr>
            <a:spLocks xmlns:a="http://schemas.openxmlformats.org/drawingml/2006/main" noGrp="1"/>
          </p:cNvSpPr>
          <p:nvPr/>
        </p:nvSpPr>
        <p:spPr>
          <a:xfrm xmlns:a="http://schemas.openxmlformats.org/drawingml/2006/main">
            <a:off x="685800" y="18764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i="0">
                <a:solidFill>
                  <a:srgbClr val="156082"/>
                </a:solidFill>
                <a:latin typeface="Arial"/>
                <a:ea typeface="Arial"/>
                <a:cs typeface="Arial"/>
              </a:defRPr>
            </a:defPPr>
          </a:lstStyle>
          <a:p xmlns:a="http://schemas.openxmlformats.org/drawingml/2006/main">
            <a:pPr algn="l">
              <a:defRPr sz="2325" b="1" i="0">
                <a:solidFill>
                  <a:srgbClr val="156082"/>
                </a:solidFill>
                <a:latin typeface="Arial"/>
                <a:ea typeface="Arial"/>
                <a:cs typeface="Arial"/>
              </a:defRPr>
            </a:pPr>
            <a:r>
              <a:rPr sz="2325" b="1" i="0">
                <a:solidFill>
                  <a:srgbClr val="156082"/>
                </a:solidFill>
                <a:latin typeface="Arial"/>
                <a:ea typeface="Arial"/>
                <a:cs typeface="Arial"/>
              </a:rPr>
              <a:t>Climate</a:t>
            </a:r>
          </a:p>
        </p:txBody>
      </p:sp>
      <p:sp>
        <p:nvSpPr>
          <p:cNvPr id="7" name="roadmap-0-stage">
            <a:extLst xmlns:a="http://schemas.openxmlformats.org/drawingml/2006/main">
              <a:ext uri="{FF2B5EF4-FFF2-40B4-BE49-F238E27FC236}">
                <a16:creationId xmlns:a16="http://schemas.microsoft.com/office/drawing/2014/main" id="{5134631C-5D12-4A9D-B9AE-CD0A15D9222D}"/>
              </a:ext>
            </a:extLst>
          </p:cNvPr>
          <p:cNvSpPr>
            <a:spLocks xmlns:a="http://schemas.openxmlformats.org/drawingml/2006/main" noGrp="1"/>
          </p:cNvSpPr>
          <p:nvPr/>
        </p:nvSpPr>
        <p:spPr>
          <a:xfrm xmlns:a="http://schemas.openxmlformats.org/drawingml/2006/main">
            <a:off x="685800" y="23241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52636D"/>
                </a:solidFill>
                <a:latin typeface="Arial"/>
                <a:ea typeface="Arial"/>
                <a:cs typeface="Arial"/>
              </a:defRPr>
            </a:defPPr>
          </a:lstStyle>
          <a:p xmlns:a="http://schemas.openxmlformats.org/drawingml/2006/main">
            <a:pPr algn="l">
              <a:defRPr sz="1350" b="1" i="0">
                <a:solidFill>
                  <a:srgbClr val="52636D"/>
                </a:solidFill>
                <a:latin typeface="Arial"/>
                <a:ea typeface="Arial"/>
                <a:cs typeface="Arial"/>
              </a:defRPr>
            </a:pPr>
            <a:r>
              <a:rPr sz="1350" b="1" i="0">
                <a:solidFill>
                  <a:srgbClr val="52636D"/>
                </a:solidFill>
                <a:latin typeface="Arial"/>
                <a:ea typeface="Arial"/>
                <a:cs typeface="Arial"/>
              </a:rPr>
              <a:t>Current source</a:t>
            </a:r>
          </a:p>
        </p:txBody>
      </p:sp>
      <p:sp>
        <p:nvSpPr>
          <p:cNvPr id="8" name="roadmap-0-detail">
            <a:extLst xmlns:a="http://schemas.openxmlformats.org/drawingml/2006/main">
              <a:ext uri="{FF2B5EF4-FFF2-40B4-BE49-F238E27FC236}">
                <a16:creationId xmlns:a16="http://schemas.microsoft.com/office/drawing/2014/main" id="{3F6CB12D-400F-4557-B41E-2B58ABFF7C46}"/>
              </a:ext>
            </a:extLst>
          </p:cNvPr>
          <p:cNvSpPr>
            <a:spLocks xmlns:a="http://schemas.openxmlformats.org/drawingml/2006/main" noGrp="1"/>
          </p:cNvSpPr>
          <p:nvPr/>
        </p:nvSpPr>
        <p:spPr>
          <a:xfrm xmlns:a="http://schemas.openxmlformats.org/drawingml/2006/main">
            <a:off x="685800" y="271462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8 cities with local files</a:t>
            </a:r>
          </a:p>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2,496 city-month rows</a:t>
            </a:r>
          </a:p>
        </p:txBody>
      </p:sp>
      <p:sp>
        <p:nvSpPr>
          <p:cNvPr id="9" name="roadmap-link-0">
            <a:extLst xmlns:a="http://schemas.openxmlformats.org/drawingml/2006/main">
              <a:ext uri="{FF2B5EF4-FFF2-40B4-BE49-F238E27FC236}">
                <a16:creationId xmlns:a16="http://schemas.microsoft.com/office/drawing/2014/main" id="{FC2804DA-E88E-4EE0-89C3-70902A7A5D9A}"/>
              </a:ext>
            </a:extLst>
          </p:cNvPr>
          <p:cNvSpPr>
            <a:spLocks xmlns:a="http://schemas.openxmlformats.org/drawingml/2006/main" noGrp="1"/>
          </p:cNvSpPr>
          <p:nvPr/>
        </p:nvSpPr>
        <p:spPr>
          <a:xfrm xmlns:a="http://schemas.openxmlformats.org/drawingml/2006/main">
            <a:off x="3895725" y="2562225"/>
            <a:ext cx="409575" cy="0"/>
          </a:xfrm>
          <a:prstGeom xmlns:a="http://schemas.openxmlformats.org/drawingml/2006/main" prst="line">
            <a:avLst/>
          </a:prstGeom>
          <a:noFill xmlns:a="http://schemas.openxmlformats.org/drawingml/2006/main"/>
          <a:ln xmlns:a="http://schemas.openxmlformats.org/drawingml/2006/main" w="19050">
            <a:solidFill>
              <a:srgbClr val="CCD6DA"/>
            </a:solidFill>
            <a:prstDash val="solid"/>
          </a:ln>
        </p:spPr>
      </p:sp>
      <p:sp>
        <p:nvSpPr>
          <p:cNvPr id="10" name="roadmap-1-title">
            <a:extLst xmlns:a="http://schemas.openxmlformats.org/drawingml/2006/main">
              <a:ext uri="{FF2B5EF4-FFF2-40B4-BE49-F238E27FC236}">
                <a16:creationId xmlns:a16="http://schemas.microsoft.com/office/drawing/2014/main" id="{7CE6C424-6BE0-404F-8C8B-366D1BA7DF78}"/>
              </a:ext>
            </a:extLst>
          </p:cNvPr>
          <p:cNvSpPr>
            <a:spLocks xmlns:a="http://schemas.openxmlformats.org/drawingml/2006/main" noGrp="1"/>
          </p:cNvSpPr>
          <p:nvPr/>
        </p:nvSpPr>
        <p:spPr>
          <a:xfrm xmlns:a="http://schemas.openxmlformats.org/drawingml/2006/main">
            <a:off x="4419600" y="18764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i="0">
                <a:solidFill>
                  <a:srgbClr val="E97132"/>
                </a:solidFill>
                <a:latin typeface="Arial"/>
                <a:ea typeface="Arial"/>
                <a:cs typeface="Arial"/>
              </a:defRPr>
            </a:defPPr>
          </a:lstStyle>
          <a:p xmlns:a="http://schemas.openxmlformats.org/drawingml/2006/main">
            <a:pPr algn="l">
              <a:defRPr sz="2325" b="1" i="0">
                <a:solidFill>
                  <a:srgbClr val="E97132"/>
                </a:solidFill>
                <a:latin typeface="Arial"/>
                <a:ea typeface="Arial"/>
                <a:cs typeface="Arial"/>
              </a:defRPr>
            </a:pPr>
            <a:r>
              <a:rPr sz="2325" b="1" i="0">
                <a:solidFill>
                  <a:srgbClr val="E97132"/>
                </a:solidFill>
                <a:latin typeface="Arial"/>
                <a:ea typeface="Arial"/>
                <a:cs typeface="Arial"/>
              </a:rPr>
              <a:t>Disasters</a:t>
            </a:r>
          </a:p>
        </p:txBody>
      </p:sp>
      <p:sp>
        <p:nvSpPr>
          <p:cNvPr id="11" name="roadmap-1-stage">
            <a:extLst xmlns:a="http://schemas.openxmlformats.org/drawingml/2006/main">
              <a:ext uri="{FF2B5EF4-FFF2-40B4-BE49-F238E27FC236}">
                <a16:creationId xmlns:a16="http://schemas.microsoft.com/office/drawing/2014/main" id="{5A1C31C5-E410-47C6-A5A2-0101C9244F14}"/>
              </a:ext>
            </a:extLst>
          </p:cNvPr>
          <p:cNvSpPr>
            <a:spLocks xmlns:a="http://schemas.openxmlformats.org/drawingml/2006/main" noGrp="1"/>
          </p:cNvSpPr>
          <p:nvPr/>
        </p:nvSpPr>
        <p:spPr>
          <a:xfrm xmlns:a="http://schemas.openxmlformats.org/drawingml/2006/main">
            <a:off x="4419600" y="23241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52636D"/>
                </a:solidFill>
                <a:latin typeface="Arial"/>
                <a:ea typeface="Arial"/>
                <a:cs typeface="Arial"/>
              </a:defRPr>
            </a:defPPr>
          </a:lstStyle>
          <a:p xmlns:a="http://schemas.openxmlformats.org/drawingml/2006/main">
            <a:pPr algn="l">
              <a:defRPr sz="1350" b="1" i="0">
                <a:solidFill>
                  <a:srgbClr val="52636D"/>
                </a:solidFill>
                <a:latin typeface="Arial"/>
                <a:ea typeface="Arial"/>
                <a:cs typeface="Arial"/>
              </a:defRPr>
            </a:pPr>
            <a:r>
              <a:rPr sz="1350" b="1" i="0">
                <a:solidFill>
                  <a:srgbClr val="52636D"/>
                </a:solidFill>
                <a:latin typeface="Arial"/>
                <a:ea typeface="Arial"/>
                <a:cs typeface="Arial"/>
              </a:rPr>
              <a:t>Future collection</a:t>
            </a:r>
          </a:p>
        </p:txBody>
      </p:sp>
      <p:sp>
        <p:nvSpPr>
          <p:cNvPr id="12" name="roadmap-1-detail">
            <a:extLst xmlns:a="http://schemas.openxmlformats.org/drawingml/2006/main">
              <a:ext uri="{FF2B5EF4-FFF2-40B4-BE49-F238E27FC236}">
                <a16:creationId xmlns:a16="http://schemas.microsoft.com/office/drawing/2014/main" id="{9909BB7D-A32C-4711-9937-7013D2732BFE}"/>
              </a:ext>
            </a:extLst>
          </p:cNvPr>
          <p:cNvSpPr>
            <a:spLocks xmlns:a="http://schemas.openxmlformats.org/drawingml/2006/main" noGrp="1"/>
          </p:cNvSpPr>
          <p:nvPr/>
        </p:nvSpPr>
        <p:spPr>
          <a:xfrm xmlns:a="http://schemas.openxmlformats.org/drawingml/2006/main">
            <a:off x="4419600" y="271462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Historical events</a:t>
            </a:r>
          </a:p>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2000 to 2025</a:t>
            </a:r>
          </a:p>
        </p:txBody>
      </p:sp>
      <p:sp>
        <p:nvSpPr>
          <p:cNvPr id="13" name="roadmap-link-1">
            <a:extLst xmlns:a="http://schemas.openxmlformats.org/drawingml/2006/main">
              <a:ext uri="{FF2B5EF4-FFF2-40B4-BE49-F238E27FC236}">
                <a16:creationId xmlns:a16="http://schemas.microsoft.com/office/drawing/2014/main" id="{79F8A895-FA3E-4B2C-BE7A-FD9B97E57D30}"/>
              </a:ext>
            </a:extLst>
          </p:cNvPr>
          <p:cNvSpPr>
            <a:spLocks xmlns:a="http://schemas.openxmlformats.org/drawingml/2006/main" noGrp="1"/>
          </p:cNvSpPr>
          <p:nvPr/>
        </p:nvSpPr>
        <p:spPr>
          <a:xfrm xmlns:a="http://schemas.openxmlformats.org/drawingml/2006/main">
            <a:off x="7629525" y="2562225"/>
            <a:ext cx="409575" cy="0"/>
          </a:xfrm>
          <a:prstGeom xmlns:a="http://schemas.openxmlformats.org/drawingml/2006/main" prst="line">
            <a:avLst/>
          </a:prstGeom>
          <a:noFill xmlns:a="http://schemas.openxmlformats.org/drawingml/2006/main"/>
          <a:ln xmlns:a="http://schemas.openxmlformats.org/drawingml/2006/main" w="19050">
            <a:solidFill>
              <a:srgbClr val="CCD6DA"/>
            </a:solidFill>
            <a:prstDash val="solid"/>
          </a:ln>
        </p:spPr>
      </p:sp>
      <p:sp>
        <p:nvSpPr>
          <p:cNvPr id="14" name="roadmap-2-title">
            <a:extLst xmlns:a="http://schemas.openxmlformats.org/drawingml/2006/main">
              <a:ext uri="{FF2B5EF4-FFF2-40B4-BE49-F238E27FC236}">
                <a16:creationId xmlns:a16="http://schemas.microsoft.com/office/drawing/2014/main" id="{86B41DA0-0CC0-40A1-B456-7E06277A8B6F}"/>
              </a:ext>
            </a:extLst>
          </p:cNvPr>
          <p:cNvSpPr>
            <a:spLocks xmlns:a="http://schemas.openxmlformats.org/drawingml/2006/main" noGrp="1"/>
          </p:cNvSpPr>
          <p:nvPr/>
        </p:nvSpPr>
        <p:spPr>
          <a:xfrm xmlns:a="http://schemas.openxmlformats.org/drawingml/2006/main">
            <a:off x="8153400" y="1876425"/>
            <a:ext cx="3143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i="0">
                <a:solidFill>
                  <a:srgbClr val="196B24"/>
                </a:solidFill>
                <a:latin typeface="Arial"/>
                <a:ea typeface="Arial"/>
                <a:cs typeface="Arial"/>
              </a:defRPr>
            </a:defPPr>
          </a:lstStyle>
          <a:p xmlns:a="http://schemas.openxmlformats.org/drawingml/2006/main">
            <a:pPr algn="l">
              <a:defRPr sz="2325" b="1" i="0">
                <a:solidFill>
                  <a:srgbClr val="196B24"/>
                </a:solidFill>
                <a:latin typeface="Arial"/>
                <a:ea typeface="Arial"/>
                <a:cs typeface="Arial"/>
              </a:defRPr>
            </a:pPr>
            <a:r>
              <a:rPr sz="2325" b="1" i="0">
                <a:solidFill>
                  <a:srgbClr val="196B24"/>
                </a:solidFill>
                <a:latin typeface="Arial"/>
                <a:ea typeface="Arial"/>
                <a:cs typeface="Arial"/>
              </a:rPr>
              <a:t>Socioeconomics</a:t>
            </a:r>
          </a:p>
        </p:txBody>
      </p:sp>
      <p:sp>
        <p:nvSpPr>
          <p:cNvPr id="15" name="roadmap-2-stage">
            <a:extLst xmlns:a="http://schemas.openxmlformats.org/drawingml/2006/main">
              <a:ext uri="{FF2B5EF4-FFF2-40B4-BE49-F238E27FC236}">
                <a16:creationId xmlns:a16="http://schemas.microsoft.com/office/drawing/2014/main" id="{57A5DB32-DC71-4922-8920-5DB1C5557EA3}"/>
              </a:ext>
            </a:extLst>
          </p:cNvPr>
          <p:cNvSpPr>
            <a:spLocks xmlns:a="http://schemas.openxmlformats.org/drawingml/2006/main" noGrp="1"/>
          </p:cNvSpPr>
          <p:nvPr/>
        </p:nvSpPr>
        <p:spPr>
          <a:xfrm xmlns:a="http://schemas.openxmlformats.org/drawingml/2006/main">
            <a:off x="8153400" y="23241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i="0">
                <a:solidFill>
                  <a:srgbClr val="52636D"/>
                </a:solidFill>
                <a:latin typeface="Arial"/>
                <a:ea typeface="Arial"/>
                <a:cs typeface="Arial"/>
              </a:defRPr>
            </a:defPPr>
          </a:lstStyle>
          <a:p xmlns:a="http://schemas.openxmlformats.org/drawingml/2006/main">
            <a:pPr algn="l">
              <a:defRPr sz="1350" b="1" i="0">
                <a:solidFill>
                  <a:srgbClr val="52636D"/>
                </a:solidFill>
                <a:latin typeface="Arial"/>
                <a:ea typeface="Arial"/>
                <a:cs typeface="Arial"/>
              </a:defRPr>
            </a:pPr>
            <a:r>
              <a:rPr sz="1350" b="1" i="0">
                <a:solidFill>
                  <a:srgbClr val="52636D"/>
                </a:solidFill>
                <a:latin typeface="Arial"/>
                <a:ea typeface="Arial"/>
                <a:cs typeface="Arial"/>
              </a:rPr>
              <a:t>Future collection</a:t>
            </a:r>
          </a:p>
        </p:txBody>
      </p:sp>
      <p:sp>
        <p:nvSpPr>
          <p:cNvPr id="16" name="roadmap-2-detail">
            <a:extLst xmlns:a="http://schemas.openxmlformats.org/drawingml/2006/main">
              <a:ext uri="{FF2B5EF4-FFF2-40B4-BE49-F238E27FC236}">
                <a16:creationId xmlns:a16="http://schemas.microsoft.com/office/drawing/2014/main" id="{10B7C4B3-D0E3-428E-8142-8110DFC154E0}"/>
              </a:ext>
            </a:extLst>
          </p:cNvPr>
          <p:cNvSpPr>
            <a:spLocks xmlns:a="http://schemas.openxmlformats.org/drawingml/2006/main" noGrp="1"/>
          </p:cNvSpPr>
          <p:nvPr/>
        </p:nvSpPr>
        <p:spPr>
          <a:xfrm xmlns:a="http://schemas.openxmlformats.org/drawingml/2006/main">
            <a:off x="8153400" y="2714625"/>
            <a:ext cx="3143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0" i="0">
                <a:solidFill>
                  <a:srgbClr val="172B3A"/>
                </a:solidFill>
                <a:latin typeface="Arial"/>
                <a:ea typeface="Arial"/>
                <a:cs typeface="Arial"/>
              </a:defRPr>
            </a:defPPr>
          </a:lstStyle>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City-level indicators</a:t>
            </a:r>
          </a:p>
          <a:p xmlns:a="http://schemas.openxmlformats.org/drawingml/2006/main">
            <a:pPr algn="l">
              <a:defRPr sz="1650" b="0" i="0">
                <a:solidFill>
                  <a:srgbClr val="172B3A"/>
                </a:solidFill>
                <a:latin typeface="Arial"/>
                <a:ea typeface="Arial"/>
                <a:cs typeface="Arial"/>
              </a:defRPr>
            </a:pPr>
            <a:r>
              <a:rPr sz="1650" b="0" i="0">
                <a:solidFill>
                  <a:srgbClr val="172B3A"/>
                </a:solidFill>
                <a:latin typeface="Arial"/>
                <a:ea typeface="Arial"/>
                <a:cs typeface="Arial"/>
              </a:rPr>
              <a:t>source coverage pending</a:t>
            </a:r>
          </a:p>
        </p:txBody>
      </p:sp>
      <p:sp>
        <p:nvSpPr>
          <p:cNvPr id="17" name="roadmap-join-1">
            <a:extLst xmlns:a="http://schemas.openxmlformats.org/drawingml/2006/main">
              <a:ext uri="{FF2B5EF4-FFF2-40B4-BE49-F238E27FC236}">
                <a16:creationId xmlns:a16="http://schemas.microsoft.com/office/drawing/2014/main" id="{697128D8-A87C-48F5-9D13-82E882940B60}"/>
              </a:ext>
            </a:extLst>
          </p:cNvPr>
          <p:cNvSpPr>
            <a:spLocks xmlns:a="http://schemas.openxmlformats.org/drawingml/2006/main" noGrp="1"/>
          </p:cNvSpPr>
          <p:nvPr/>
        </p:nvSpPr>
        <p:spPr>
          <a:xfrm xmlns:a="http://schemas.openxmlformats.org/drawingml/2006/main">
            <a:off x="2324100" y="3667125"/>
            <a:ext cx="7315200" cy="0"/>
          </a:xfrm>
          <a:prstGeom xmlns:a="http://schemas.openxmlformats.org/drawingml/2006/main" prst="line">
            <a:avLst/>
          </a:prstGeom>
          <a:noFill xmlns:a="http://schemas.openxmlformats.org/drawingml/2006/main"/>
          <a:ln xmlns:a="http://schemas.openxmlformats.org/drawingml/2006/main" w="23813">
            <a:solidFill>
              <a:srgbClr val="156082"/>
            </a:solidFill>
            <a:prstDash val="solid"/>
          </a:ln>
        </p:spPr>
      </p:sp>
      <p:sp>
        <p:nvSpPr>
          <p:cNvPr id="18" name="roadmap-join-2">
            <a:extLst xmlns:a="http://schemas.openxmlformats.org/drawingml/2006/main">
              <a:ext uri="{FF2B5EF4-FFF2-40B4-BE49-F238E27FC236}">
                <a16:creationId xmlns:a16="http://schemas.microsoft.com/office/drawing/2014/main" id="{6743F727-B06E-41C0-9212-F54D6482FD5D}"/>
              </a:ext>
            </a:extLst>
          </p:cNvPr>
          <p:cNvSpPr>
            <a:spLocks xmlns:a="http://schemas.openxmlformats.org/drawingml/2006/main" noGrp="1"/>
          </p:cNvSpPr>
          <p:nvPr/>
        </p:nvSpPr>
        <p:spPr>
          <a:xfrm xmlns:a="http://schemas.openxmlformats.org/drawingml/2006/main">
            <a:off x="2324100" y="3400425"/>
            <a:ext cx="0" cy="266700"/>
          </a:xfrm>
          <a:prstGeom xmlns:a="http://schemas.openxmlformats.org/drawingml/2006/main" prst="line">
            <a:avLst/>
          </a:prstGeom>
          <a:noFill xmlns:a="http://schemas.openxmlformats.org/drawingml/2006/main"/>
          <a:ln xmlns:a="http://schemas.openxmlformats.org/drawingml/2006/main" w="23813">
            <a:solidFill>
              <a:srgbClr val="156082"/>
            </a:solidFill>
            <a:prstDash val="solid"/>
          </a:ln>
        </p:spPr>
      </p:sp>
      <p:sp>
        <p:nvSpPr>
          <p:cNvPr id="19" name="roadmap-join-3">
            <a:extLst xmlns:a="http://schemas.openxmlformats.org/drawingml/2006/main">
              <a:ext uri="{FF2B5EF4-FFF2-40B4-BE49-F238E27FC236}">
                <a16:creationId xmlns:a16="http://schemas.microsoft.com/office/drawing/2014/main" id="{E16FDA00-0716-44AD-9666-D9EC727A672D}"/>
              </a:ext>
            </a:extLst>
          </p:cNvPr>
          <p:cNvSpPr>
            <a:spLocks xmlns:a="http://schemas.openxmlformats.org/drawingml/2006/main" noGrp="1"/>
          </p:cNvSpPr>
          <p:nvPr/>
        </p:nvSpPr>
        <p:spPr>
          <a:xfrm xmlns:a="http://schemas.openxmlformats.org/drawingml/2006/main">
            <a:off x="6057900" y="3400425"/>
            <a:ext cx="0" cy="266700"/>
          </a:xfrm>
          <a:prstGeom xmlns:a="http://schemas.openxmlformats.org/drawingml/2006/main" prst="line">
            <a:avLst/>
          </a:prstGeom>
          <a:noFill xmlns:a="http://schemas.openxmlformats.org/drawingml/2006/main"/>
          <a:ln xmlns:a="http://schemas.openxmlformats.org/drawingml/2006/main" w="23813">
            <a:solidFill>
              <a:srgbClr val="E97132"/>
            </a:solidFill>
            <a:prstDash val="solid"/>
          </a:ln>
        </p:spPr>
      </p:sp>
      <p:sp>
        <p:nvSpPr>
          <p:cNvPr id="20" name="roadmap-join-4">
            <a:extLst xmlns:a="http://schemas.openxmlformats.org/drawingml/2006/main">
              <a:ext uri="{FF2B5EF4-FFF2-40B4-BE49-F238E27FC236}">
                <a16:creationId xmlns:a16="http://schemas.microsoft.com/office/drawing/2014/main" id="{EDB71F04-4A96-4CDD-A53A-73D4EFF5E02D}"/>
              </a:ext>
            </a:extLst>
          </p:cNvPr>
          <p:cNvSpPr>
            <a:spLocks xmlns:a="http://schemas.openxmlformats.org/drawingml/2006/main" noGrp="1"/>
          </p:cNvSpPr>
          <p:nvPr/>
        </p:nvSpPr>
        <p:spPr>
          <a:xfrm xmlns:a="http://schemas.openxmlformats.org/drawingml/2006/main">
            <a:off x="9791700" y="3400425"/>
            <a:ext cx="0" cy="266700"/>
          </a:xfrm>
          <a:prstGeom xmlns:a="http://schemas.openxmlformats.org/drawingml/2006/main" prst="line">
            <a:avLst/>
          </a:prstGeom>
          <a:noFill xmlns:a="http://schemas.openxmlformats.org/drawingml/2006/main"/>
          <a:ln xmlns:a="http://schemas.openxmlformats.org/drawingml/2006/main" w="23813">
            <a:solidFill>
              <a:srgbClr val="196B24"/>
            </a:solidFill>
            <a:prstDash val="solid"/>
          </a:ln>
        </p:spPr>
      </p:sp>
      <p:sp>
        <p:nvSpPr>
          <p:cNvPr id="21" name="integrated-label">
            <a:extLst xmlns:a="http://schemas.openxmlformats.org/drawingml/2006/main">
              <a:ext uri="{FF2B5EF4-FFF2-40B4-BE49-F238E27FC236}">
                <a16:creationId xmlns:a16="http://schemas.microsoft.com/office/drawing/2014/main" id="{8E4CCE6D-82E5-4867-AF4B-99E90C7D48FB}"/>
              </a:ext>
            </a:extLst>
          </p:cNvPr>
          <p:cNvSpPr>
            <a:spLocks xmlns:a="http://schemas.openxmlformats.org/drawingml/2006/main" noGrp="1"/>
          </p:cNvSpPr>
          <p:nvPr/>
        </p:nvSpPr>
        <p:spPr>
          <a:xfrm xmlns:a="http://schemas.openxmlformats.org/drawingml/2006/main">
            <a:off x="3086100" y="3914775"/>
            <a:ext cx="600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400" b="1" i="0">
                <a:solidFill>
                  <a:srgbClr val="0E2841"/>
                </a:solidFill>
                <a:latin typeface="Arial"/>
                <a:ea typeface="Arial"/>
                <a:cs typeface="Arial"/>
              </a:defRPr>
            </a:defPPr>
          </a:lstStyle>
          <a:p xmlns:a="http://schemas.openxmlformats.org/drawingml/2006/main">
            <a:pPr algn="ctr">
              <a:defRPr sz="2400" b="1" i="0">
                <a:solidFill>
                  <a:srgbClr val="0E2841"/>
                </a:solidFill>
                <a:latin typeface="Arial"/>
                <a:ea typeface="Arial"/>
                <a:cs typeface="Arial"/>
              </a:defRPr>
            </a:pPr>
            <a:r>
              <a:rPr sz="2400" b="1" i="0">
                <a:solidFill>
                  <a:srgbClr val="0E2841"/>
                </a:solidFill>
                <a:latin typeface="Arial"/>
                <a:ea typeface="Arial"/>
                <a:cs typeface="Arial"/>
              </a:rPr>
              <a:t>Integrated analytical dataset</a:t>
            </a:r>
          </a:p>
        </p:txBody>
      </p:sp>
      <p:sp>
        <p:nvSpPr>
          <p:cNvPr id="22" name="integration-conditions">
            <a:extLst xmlns:a="http://schemas.openxmlformats.org/drawingml/2006/main">
              <a:ext uri="{FF2B5EF4-FFF2-40B4-BE49-F238E27FC236}">
                <a16:creationId xmlns:a16="http://schemas.microsoft.com/office/drawing/2014/main" id="{D96844C0-E113-4050-91AB-A908FB99FBE0}"/>
              </a:ext>
            </a:extLst>
          </p:cNvPr>
          <p:cNvSpPr>
            <a:spLocks xmlns:a="http://schemas.openxmlformats.org/drawingml/2006/main" noGrp="1"/>
          </p:cNvSpPr>
          <p:nvPr/>
        </p:nvSpPr>
        <p:spPr>
          <a:xfrm xmlns:a="http://schemas.openxmlformats.org/drawingml/2006/main">
            <a:off x="971550" y="4591050"/>
            <a:ext cx="10239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0" i="0">
                <a:solidFill>
                  <a:srgbClr val="172B3A"/>
                </a:solidFill>
                <a:latin typeface="Arial"/>
                <a:ea typeface="Arial"/>
                <a:cs typeface="Arial"/>
              </a:defRPr>
            </a:defPPr>
          </a:lstStyle>
          <a:p xmlns:a="http://schemas.openxmlformats.org/drawingml/2006/main">
            <a:pPr algn="ctr">
              <a:defRPr sz="1650" b="0" i="0">
                <a:solidFill>
                  <a:srgbClr val="172B3A"/>
                </a:solidFill>
                <a:latin typeface="Arial"/>
                <a:ea typeface="Arial"/>
                <a:cs typeface="Arial"/>
              </a:defRPr>
            </a:pPr>
            <a:r>
              <a:rPr sz="1650" b="0" i="0">
                <a:solidFill>
                  <a:srgbClr val="172B3A"/>
                </a:solidFill>
                <a:latin typeface="Arial"/>
                <a:ea typeface="Arial"/>
                <a:cs typeface="Arial"/>
              </a:rPr>
              <a:t>Join on consistent geography and suitable time periods. Standardize fields, cite sources, retain missingness, and validate the combined structure.</a:t>
            </a:r>
          </a:p>
        </p:txBody>
      </p:sp>
      <p:sp>
        <p:nvSpPr>
          <p:cNvPr id="23" name="closing-message">
            <a:extLst xmlns:a="http://schemas.openxmlformats.org/drawingml/2006/main">
              <a:ext uri="{FF2B5EF4-FFF2-40B4-BE49-F238E27FC236}">
                <a16:creationId xmlns:a16="http://schemas.microsoft.com/office/drawing/2014/main" id="{E1C51863-11A0-4341-805B-D530C9F43533}"/>
              </a:ext>
            </a:extLst>
          </p:cNvPr>
          <p:cNvSpPr>
            <a:spLocks xmlns:a="http://schemas.openxmlformats.org/drawingml/2006/main" noGrp="1"/>
          </p:cNvSpPr>
          <p:nvPr/>
        </p:nvSpPr>
        <p:spPr>
          <a:xfrm xmlns:a="http://schemas.openxmlformats.org/drawingml/2006/main">
            <a:off x="971550" y="5610225"/>
            <a:ext cx="1023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i="0">
                <a:solidFill>
                  <a:srgbClr val="196B24"/>
                </a:solidFill>
                <a:latin typeface="Arial"/>
                <a:ea typeface="Arial"/>
                <a:cs typeface="Arial"/>
              </a:defRPr>
            </a:defPPr>
          </a:lstStyle>
          <a:p xmlns:a="http://schemas.openxmlformats.org/drawingml/2006/main">
            <a:pPr algn="ctr">
              <a:defRPr sz="1650" b="1" i="0">
                <a:solidFill>
                  <a:srgbClr val="196B24"/>
                </a:solidFill>
                <a:latin typeface="Arial"/>
                <a:ea typeface="Arial"/>
                <a:cs typeface="Arial"/>
              </a:defRPr>
            </a:pPr>
            <a:r>
              <a:rPr sz="1650" b="1" i="0">
                <a:solidFill>
                  <a:srgbClr val="196B24"/>
                </a:solidFill>
                <a:latin typeface="Arial"/>
                <a:ea typeface="Arial"/>
                <a:cs typeface="Arial"/>
              </a:rPr>
              <a:t>Current result: documented city-month climate output. Next: verify collection scope, record batch evidence, then add external datasets.</a:t>
            </a:r>
          </a:p>
        </p:txBody>
      </p:sp>
    </p:spTree>
    <p:extLst>
      <p:ext uri="{BB962C8B-B14F-4D97-AF65-F5344CB8AC3E}">
        <p14:creationId xmlns:p14="http://schemas.microsoft.com/office/powerpoint/2010/main" val="1423707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2026-10-11T10:01:57.3980000Z</dcterms:created>
  <dcterms:modified xsi:type="dcterms:W3CDTF">2026-10-11T10:01:57.3980000Z</dcterms:modified>
</coreProperties>
</file>